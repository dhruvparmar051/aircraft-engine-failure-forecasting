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8288000" cy="10287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1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914400" y="138112"/>
            <a:ext cx="16459200" cy="2262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914400" y="2400300"/>
            <a:ext cx="16459200" cy="788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01"/>
          <p:cNvSpPr txBox="1"/>
          <p:nvPr>
            <p:ph type="sldNum" sz="quarter" idx="2"/>
          </p:nvPr>
        </p:nvSpPr>
        <p:spPr>
          <a:xfrm>
            <a:off x="8839200" y="9260681"/>
            <a:ext cx="4267200" cy="547688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2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12573000" y="0"/>
            <a:ext cx="5715000" cy="10287000"/>
          </a:xfrm>
          <a:prstGeom prst="rect">
            <a:avLst/>
          </a:prstGeom>
          <a:solidFill>
            <a:srgbClr val="1F5FA6">
              <a:alpha val="2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Shape 1"/>
          <p:cNvSpPr/>
          <p:nvPr/>
        </p:nvSpPr>
        <p:spPr>
          <a:xfrm>
            <a:off x="13525500" y="3143250"/>
            <a:ext cx="4000500" cy="4000500"/>
          </a:xfrm>
          <a:prstGeom prst="ellipse">
            <a:avLst/>
          </a:prstGeom>
          <a:ln w="19050">
            <a:solidFill>
              <a:srgbClr val="F0A500">
                <a:alpha val="30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" name="Shape 2"/>
          <p:cNvSpPr/>
          <p:nvPr/>
        </p:nvSpPr>
        <p:spPr>
          <a:xfrm>
            <a:off x="14097000" y="3714750"/>
            <a:ext cx="2857500" cy="2857500"/>
          </a:xfrm>
          <a:prstGeom prst="ellipse">
            <a:avLst/>
          </a:prstGeom>
          <a:ln w="19050">
            <a:solidFill>
              <a:srgbClr val="3A87CB">
                <a:alpha val="40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" name="Text 3"/>
          <p:cNvSpPr txBox="1"/>
          <p:nvPr/>
        </p:nvSpPr>
        <p:spPr>
          <a:xfrm>
            <a:off x="1143000" y="2583656"/>
            <a:ext cx="10791825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291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NASA CMAPSS · IT 402 APPLIED FORECASTING METHODS</a:t>
            </a:r>
          </a:p>
        </p:txBody>
      </p:sp>
      <p:sp>
        <p:nvSpPr>
          <p:cNvPr id="24" name="Shape 4"/>
          <p:cNvSpPr/>
          <p:nvPr/>
        </p:nvSpPr>
        <p:spPr>
          <a:xfrm>
            <a:off x="1143000" y="3155156"/>
            <a:ext cx="762000" cy="47626"/>
          </a:xfrm>
          <a:prstGeom prst="rect">
            <a:avLst/>
          </a:prstGeom>
          <a:solidFill>
            <a:srgbClr val="F0A5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" name="Text 5"/>
          <p:cNvSpPr txBox="1"/>
          <p:nvPr/>
        </p:nvSpPr>
        <p:spPr>
          <a:xfrm>
            <a:off x="1143000" y="3507580"/>
            <a:ext cx="10791825" cy="163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768095">
              <a:lnSpc>
                <a:spcPct val="104999"/>
              </a:lnSpc>
              <a:defRPr b="1" sz="50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Aircraft Engine Failure Forecasting</a:t>
            </a:r>
          </a:p>
        </p:txBody>
      </p:sp>
      <p:sp>
        <p:nvSpPr>
          <p:cNvPr id="26" name="Shape 6"/>
          <p:cNvSpPr/>
          <p:nvPr/>
        </p:nvSpPr>
        <p:spPr>
          <a:xfrm>
            <a:off x="1143000" y="5412580"/>
            <a:ext cx="762000" cy="47626"/>
          </a:xfrm>
          <a:prstGeom prst="rect">
            <a:avLst/>
          </a:prstGeom>
          <a:solidFill>
            <a:srgbClr val="F0A5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" name="Text 7"/>
          <p:cNvSpPr txBox="1"/>
          <p:nvPr/>
        </p:nvSpPr>
        <p:spPr>
          <a:xfrm>
            <a:off x="1143000" y="5765005"/>
            <a:ext cx="10791825" cy="384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defRPr sz="2200">
                <a:solidFill>
                  <a:srgbClr val="FFFFFF">
                    <a:alpha val="50000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Deep Learning &amp; Classical Time Series on FD004</a:t>
            </a:r>
          </a:p>
        </p:txBody>
      </p:sp>
      <p:sp>
        <p:nvSpPr>
          <p:cNvPr id="28" name="Shape 8"/>
          <p:cNvSpPr/>
          <p:nvPr/>
        </p:nvSpPr>
        <p:spPr>
          <a:xfrm>
            <a:off x="1143000" y="6674643"/>
            <a:ext cx="2292028" cy="381001"/>
          </a:xfrm>
          <a:prstGeom prst="roundRect">
            <a:avLst>
              <a:gd name="adj" fmla="val 50000"/>
            </a:avLst>
          </a:prstGeom>
          <a:solidFill>
            <a:srgbClr val="1F5FA6">
              <a:alpha val="12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Text 9"/>
          <p:cNvSpPr txBox="1"/>
          <p:nvPr/>
        </p:nvSpPr>
        <p:spPr>
          <a:xfrm>
            <a:off x="1333500" y="6731793"/>
            <a:ext cx="198722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z="1746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FD004 DATASET</a:t>
            </a:r>
          </a:p>
        </p:txBody>
      </p:sp>
      <p:sp>
        <p:nvSpPr>
          <p:cNvPr id="30" name="Shape 10"/>
          <p:cNvSpPr/>
          <p:nvPr/>
        </p:nvSpPr>
        <p:spPr>
          <a:xfrm>
            <a:off x="3701727" y="6674643"/>
            <a:ext cx="3163268" cy="381001"/>
          </a:xfrm>
          <a:prstGeom prst="roundRect">
            <a:avLst>
              <a:gd name="adj" fmla="val 50000"/>
            </a:avLst>
          </a:prstGeom>
          <a:solidFill>
            <a:srgbClr val="F0A500">
              <a:alpha val="12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" name="Text 11"/>
          <p:cNvSpPr txBox="1"/>
          <p:nvPr/>
        </p:nvSpPr>
        <p:spPr>
          <a:xfrm>
            <a:off x="3892227" y="6731793"/>
            <a:ext cx="287716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z="1746">
                <a:solidFill>
                  <a:srgbClr val="F0A50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248 TRAINING ENGINES</a:t>
            </a:r>
          </a:p>
        </p:txBody>
      </p:sp>
      <p:sp>
        <p:nvSpPr>
          <p:cNvPr id="32" name="Shape 12"/>
          <p:cNvSpPr/>
          <p:nvPr/>
        </p:nvSpPr>
        <p:spPr>
          <a:xfrm>
            <a:off x="1143000" y="7322343"/>
            <a:ext cx="6086550" cy="381001"/>
          </a:xfrm>
          <a:prstGeom prst="roundRect">
            <a:avLst>
              <a:gd name="adj" fmla="val 50000"/>
            </a:avLst>
          </a:prstGeom>
          <a:solidFill>
            <a:srgbClr val="1F5FA6">
              <a:alpha val="12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3" name="Text 13"/>
          <p:cNvSpPr txBox="1"/>
          <p:nvPr/>
        </p:nvSpPr>
        <p:spPr>
          <a:xfrm>
            <a:off x="1333500" y="7379493"/>
            <a:ext cx="588814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z="1746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AR · ARMA · ARIMA · LSTM · GRU · TRANSFORMER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CONTEXT</a:t>
            </a:r>
          </a:p>
        </p:txBody>
      </p:sp>
      <p:sp>
        <p:nvSpPr>
          <p:cNvPr id="37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The High Cost of Engine Failures</a:t>
            </a:r>
          </a:p>
        </p:txBody>
      </p:sp>
      <p:sp>
        <p:nvSpPr>
          <p:cNvPr id="39" name="Shape 4"/>
          <p:cNvSpPr/>
          <p:nvPr/>
        </p:nvSpPr>
        <p:spPr>
          <a:xfrm>
            <a:off x="1143000" y="2478359"/>
            <a:ext cx="5079951" cy="2581276"/>
          </a:xfrm>
          <a:prstGeom prst="roundRect">
            <a:avLst>
              <a:gd name="adj" fmla="val 590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" name="Text 5"/>
          <p:cNvSpPr txBox="1"/>
          <p:nvPr/>
        </p:nvSpPr>
        <p:spPr>
          <a:xfrm>
            <a:off x="1469041" y="2868884"/>
            <a:ext cx="4427867" cy="1085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758951">
              <a:defRPr b="1" sz="6806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$500K+</a:t>
            </a:r>
          </a:p>
        </p:txBody>
      </p:sp>
      <p:sp>
        <p:nvSpPr>
          <p:cNvPr id="41" name="Text 6"/>
          <p:cNvSpPr txBox="1"/>
          <p:nvPr/>
        </p:nvSpPr>
        <p:spPr>
          <a:xfrm>
            <a:off x="1469041" y="3992834"/>
            <a:ext cx="4427867" cy="714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defRPr sz="2200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Cost of a single unplanned engine removal</a:t>
            </a:r>
          </a:p>
        </p:txBody>
      </p:sp>
      <p:sp>
        <p:nvSpPr>
          <p:cNvPr id="42" name="Shape 7"/>
          <p:cNvSpPr/>
          <p:nvPr/>
        </p:nvSpPr>
        <p:spPr>
          <a:xfrm>
            <a:off x="6603949" y="2478359"/>
            <a:ext cx="5080026" cy="2581276"/>
          </a:xfrm>
          <a:prstGeom prst="roundRect">
            <a:avLst>
              <a:gd name="adj" fmla="val 590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3" name="Text 8"/>
          <p:cNvSpPr txBox="1"/>
          <p:nvPr/>
        </p:nvSpPr>
        <p:spPr>
          <a:xfrm>
            <a:off x="6929990" y="2868884"/>
            <a:ext cx="4427946" cy="1085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758951">
              <a:defRPr b="1" sz="6806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72%</a:t>
            </a:r>
          </a:p>
        </p:txBody>
      </p:sp>
      <p:sp>
        <p:nvSpPr>
          <p:cNvPr id="44" name="Text 9"/>
          <p:cNvSpPr txBox="1"/>
          <p:nvPr/>
        </p:nvSpPr>
        <p:spPr>
          <a:xfrm>
            <a:off x="6929990" y="3992834"/>
            <a:ext cx="4427946" cy="714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defRPr sz="2200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Of aviation accidents involve mechanical failure</a:t>
            </a:r>
          </a:p>
        </p:txBody>
      </p:sp>
      <p:sp>
        <p:nvSpPr>
          <p:cNvPr id="45" name="Shape 10"/>
          <p:cNvSpPr/>
          <p:nvPr/>
        </p:nvSpPr>
        <p:spPr>
          <a:xfrm>
            <a:off x="12064975" y="2478359"/>
            <a:ext cx="5079951" cy="2581276"/>
          </a:xfrm>
          <a:prstGeom prst="roundRect">
            <a:avLst>
              <a:gd name="adj" fmla="val 590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6" name="Text 11"/>
          <p:cNvSpPr txBox="1"/>
          <p:nvPr/>
        </p:nvSpPr>
        <p:spPr>
          <a:xfrm>
            <a:off x="12391017" y="2868884"/>
            <a:ext cx="4427868" cy="1085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758951">
              <a:defRPr b="1" sz="6806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40%</a:t>
            </a:r>
          </a:p>
        </p:txBody>
      </p:sp>
      <p:sp>
        <p:nvSpPr>
          <p:cNvPr id="47" name="Text 12"/>
          <p:cNvSpPr txBox="1"/>
          <p:nvPr/>
        </p:nvSpPr>
        <p:spPr>
          <a:xfrm>
            <a:off x="12391017" y="3992834"/>
            <a:ext cx="4427868" cy="714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defRPr sz="2200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Of maintenance costs are unplanned &amp; reactive</a:t>
            </a:r>
          </a:p>
        </p:txBody>
      </p:sp>
      <p:sp>
        <p:nvSpPr>
          <p:cNvPr id="48" name="Shape 13"/>
          <p:cNvSpPr/>
          <p:nvPr/>
        </p:nvSpPr>
        <p:spPr>
          <a:xfrm>
            <a:off x="1143000" y="5478734"/>
            <a:ext cx="16002000" cy="1257301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" name="Shape 14"/>
          <p:cNvSpPr/>
          <p:nvPr/>
        </p:nvSpPr>
        <p:spPr>
          <a:xfrm>
            <a:off x="1143000" y="5478734"/>
            <a:ext cx="57150" cy="1257301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0" name="Text 15"/>
          <p:cNvSpPr txBox="1"/>
          <p:nvPr/>
        </p:nvSpPr>
        <p:spPr>
          <a:xfrm>
            <a:off x="1504950" y="5707334"/>
            <a:ext cx="15815311" cy="8477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68680">
              <a:lnSpc>
                <a:spcPct val="150000"/>
              </a:lnSpc>
              <a:defRPr sz="199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Unplanned engine failures ground aircraft, disrupt schedules, and endanger lives. Predictive maintenance can shift the industry from </a:t>
            </a:r>
            <a:r>
              <a:rPr b="1"/>
              <a:t>reactive repair </a:t>
            </a:r>
            <a:r>
              <a:t>to </a:t>
            </a:r>
            <a:r>
              <a:rPr b="1"/>
              <a:t>proactive prevention</a:t>
            </a:r>
            <a:r>
              <a:t>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3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MOTIVATION</a:t>
            </a:r>
          </a:p>
        </p:txBody>
      </p:sp>
      <p:sp>
        <p:nvSpPr>
          <p:cNvPr id="54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Why Predictive Maintenance</a:t>
            </a:r>
          </a:p>
        </p:txBody>
      </p:sp>
      <p:sp>
        <p:nvSpPr>
          <p:cNvPr id="56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Avoid catastrophic failure </a:t>
            </a:r>
            <a:r>
              <a:rPr b="0">
                <a:solidFill>
                  <a:srgbClr val="1C3150"/>
                </a:solidFill>
              </a:rPr>
              <a:t>— act before the engine reaches its end of life</a:t>
            </a:r>
          </a:p>
        </p:txBody>
      </p:sp>
      <p:sp>
        <p:nvSpPr>
          <p:cNvPr id="57" name="Text 5"/>
          <p:cNvSpPr txBox="1"/>
          <p:nvPr/>
        </p:nvSpPr>
        <p:spPr>
          <a:xfrm>
            <a:off x="1562100" y="354129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Optimise maintenance windows </a:t>
            </a:r>
            <a:r>
              <a:rPr b="0">
                <a:solidFill>
                  <a:srgbClr val="1C3150"/>
                </a:solidFill>
              </a:rPr>
              <a:t>— schedule downtime without over-servicing</a:t>
            </a:r>
          </a:p>
        </p:txBody>
      </p:sp>
      <p:sp>
        <p:nvSpPr>
          <p:cNvPr id="58" name="Text 6"/>
          <p:cNvSpPr txBox="1"/>
          <p:nvPr/>
        </p:nvSpPr>
        <p:spPr>
          <a:xfrm>
            <a:off x="1562100" y="460422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Reduce fleet-wide cost </a:t>
            </a:r>
            <a:r>
              <a:rPr b="0">
                <a:solidFill>
                  <a:srgbClr val="1C3150"/>
                </a:solidFill>
              </a:rPr>
              <a:t>— target only engines that actually need attention</a:t>
            </a:r>
          </a:p>
        </p:txBody>
      </p:sp>
      <p:sp>
        <p:nvSpPr>
          <p:cNvPr id="59" name="Text 7"/>
          <p:cNvSpPr txBox="1"/>
          <p:nvPr/>
        </p:nvSpPr>
        <p:spPr>
          <a:xfrm>
            <a:off x="1562100" y="566715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Extend engine lifespan </a:t>
            </a:r>
            <a:r>
              <a:rPr b="0">
                <a:solidFill>
                  <a:srgbClr val="1C3150"/>
                </a:solidFill>
              </a:rPr>
              <a:t>— data-driven decisions replace fixed intervals</a:t>
            </a:r>
          </a:p>
        </p:txBody>
      </p:sp>
      <p:sp>
        <p:nvSpPr>
          <p:cNvPr id="60" name="Shape 8"/>
          <p:cNvSpPr/>
          <p:nvPr/>
        </p:nvSpPr>
        <p:spPr>
          <a:xfrm>
            <a:off x="9391650" y="2478359"/>
            <a:ext cx="7753350" cy="2105026"/>
          </a:xfrm>
          <a:prstGeom prst="roundRect">
            <a:avLst>
              <a:gd name="adj" fmla="val 7240"/>
            </a:avLst>
          </a:prstGeom>
          <a:solidFill>
            <a:srgbClr val="12294A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1" name="Text 9"/>
          <p:cNvSpPr txBox="1"/>
          <p:nvPr/>
        </p:nvSpPr>
        <p:spPr>
          <a:xfrm>
            <a:off x="9782175" y="2868884"/>
            <a:ext cx="718146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F0A50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Traditional Approach</a:t>
            </a:r>
          </a:p>
        </p:txBody>
      </p:sp>
      <p:sp>
        <p:nvSpPr>
          <p:cNvPr id="62" name="Text 10"/>
          <p:cNvSpPr txBox="1"/>
          <p:nvPr/>
        </p:nvSpPr>
        <p:spPr>
          <a:xfrm>
            <a:off x="9782175" y="3421334"/>
            <a:ext cx="7181468" cy="8159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0000"/>
              </a:lnSpc>
              <a:defRPr sz="2000">
                <a:solidFill>
                  <a:srgbClr val="FFFFFF">
                    <a:alpha val="70000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Fixed-interval servicing — often too early (wasted cost) or too late (failure risk)</a:t>
            </a:r>
          </a:p>
        </p:txBody>
      </p:sp>
      <p:sp>
        <p:nvSpPr>
          <p:cNvPr id="63" name="Shape 11"/>
          <p:cNvSpPr/>
          <p:nvPr/>
        </p:nvSpPr>
        <p:spPr>
          <a:xfrm>
            <a:off x="9391650" y="4850084"/>
            <a:ext cx="7753350" cy="2124076"/>
          </a:xfrm>
          <a:prstGeom prst="roundRect">
            <a:avLst>
              <a:gd name="adj" fmla="val 7175"/>
            </a:avLst>
          </a:prstGeom>
          <a:solidFill>
            <a:srgbClr val="FFFFFF"/>
          </a:solidFill>
          <a:ln w="19050">
            <a:solidFill>
              <a:srgbClr val="1F5FA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4" name="Text 12"/>
          <p:cNvSpPr txBox="1"/>
          <p:nvPr/>
        </p:nvSpPr>
        <p:spPr>
          <a:xfrm>
            <a:off x="9791700" y="5250134"/>
            <a:ext cx="7161849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Predictive Approach</a:t>
            </a:r>
          </a:p>
        </p:txBody>
      </p:sp>
      <p:sp>
        <p:nvSpPr>
          <p:cNvPr id="65" name="Text 13"/>
          <p:cNvSpPr txBox="1"/>
          <p:nvPr/>
        </p:nvSpPr>
        <p:spPr>
          <a:xfrm>
            <a:off x="9791700" y="5802584"/>
            <a:ext cx="7161849" cy="8159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0000"/>
              </a:lnSpc>
              <a:defRPr sz="2000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Forecast Remaining Useful Life (RUL) from sensor data — act precisely when needed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INDUSTRY CONTEXT</a:t>
            </a:r>
          </a:p>
        </p:txBody>
      </p:sp>
      <p:sp>
        <p:nvSpPr>
          <p:cNvPr id="69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0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Aviation Industry Context</a:t>
            </a:r>
          </a:p>
        </p:txBody>
      </p:sp>
      <p:sp>
        <p:nvSpPr>
          <p:cNvPr id="71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Commercial aviation operates </a:t>
            </a:r>
            <a:r>
              <a:rPr b="1">
                <a:solidFill>
                  <a:srgbClr val="12294A"/>
                </a:solidFill>
              </a:rPr>
              <a:t>tens of thousands </a:t>
            </a:r>
            <a:r>
              <a:t>of engine cycles per day globally</a:t>
            </a:r>
          </a:p>
        </p:txBody>
      </p:sp>
      <p:sp>
        <p:nvSpPr>
          <p:cNvPr id="72" name="Text 5"/>
          <p:cNvSpPr txBox="1"/>
          <p:nvPr/>
        </p:nvSpPr>
        <p:spPr>
          <a:xfrm>
            <a:off x="1562100" y="354129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Engines are monitored by hundreds of sensors capturing temperature, pressure, speed</a:t>
            </a:r>
          </a:p>
        </p:txBody>
      </p:sp>
      <p:sp>
        <p:nvSpPr>
          <p:cNvPr id="73" name="Text 6"/>
          <p:cNvSpPr txBox="1"/>
          <p:nvPr/>
        </p:nvSpPr>
        <p:spPr>
          <a:xfrm>
            <a:off x="1562100" y="460422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Regulatory bodies (FAA, EASA) mandate maintenance at fixed intervals — not based on actual condition</a:t>
            </a:r>
          </a:p>
        </p:txBody>
      </p:sp>
      <p:sp>
        <p:nvSpPr>
          <p:cNvPr id="74" name="Text 7"/>
          <p:cNvSpPr txBox="1"/>
          <p:nvPr/>
        </p:nvSpPr>
        <p:spPr>
          <a:xfrm>
            <a:off x="1562100" y="566715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Health-management systems generate vast real-time data — largely underutilised</a:t>
            </a:r>
          </a:p>
        </p:txBody>
      </p:sp>
      <p:sp>
        <p:nvSpPr>
          <p:cNvPr id="75" name="Text 8"/>
          <p:cNvSpPr txBox="1"/>
          <p:nvPr/>
        </p:nvSpPr>
        <p:spPr>
          <a:xfrm>
            <a:off x="1562100" y="673008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NASA's CMAPSS benchmark simulates real turbofan degradation under varied conditions</a:t>
            </a:r>
          </a:p>
        </p:txBody>
      </p:sp>
      <p:sp>
        <p:nvSpPr>
          <p:cNvPr id="76" name="Shape 9"/>
          <p:cNvSpPr/>
          <p:nvPr/>
        </p:nvSpPr>
        <p:spPr>
          <a:xfrm>
            <a:off x="9391650" y="2478359"/>
            <a:ext cx="7753350" cy="5105103"/>
          </a:xfrm>
          <a:prstGeom prst="roundRect">
            <a:avLst>
              <a:gd name="adj" fmla="val 2985"/>
            </a:avLst>
          </a:prstGeom>
          <a:solidFill>
            <a:srgbClr val="12294A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7" name="Text 10"/>
          <p:cNvSpPr txBox="1"/>
          <p:nvPr/>
        </p:nvSpPr>
        <p:spPr>
          <a:xfrm>
            <a:off x="12808297" y="3773611"/>
            <a:ext cx="920056" cy="1047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defRPr sz="67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✈</a:t>
            </a:r>
          </a:p>
        </p:txBody>
      </p:sp>
      <p:sp>
        <p:nvSpPr>
          <p:cNvPr id="78" name="Text 11"/>
          <p:cNvSpPr txBox="1"/>
          <p:nvPr/>
        </p:nvSpPr>
        <p:spPr>
          <a:xfrm>
            <a:off x="11915743" y="4973761"/>
            <a:ext cx="2705163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77823">
              <a:defRPr b="1" sz="24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Turbofan Engines</a:t>
            </a:r>
          </a:p>
        </p:txBody>
      </p:sp>
      <p:sp>
        <p:nvSpPr>
          <p:cNvPr id="79" name="Text 12"/>
          <p:cNvSpPr txBox="1"/>
          <p:nvPr/>
        </p:nvSpPr>
        <p:spPr>
          <a:xfrm>
            <a:off x="11225542" y="5545261"/>
            <a:ext cx="4085565" cy="78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lnSpc>
                <a:spcPct val="150000"/>
              </a:lnSpc>
              <a:defRPr sz="1900">
                <a:solidFill>
                  <a:srgbClr val="FFFFFF">
                    <a:alpha val="64999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High-bypass turbofan engines power ~90% of all commercial aircraft today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2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PROJECT OVERVIEW</a:t>
            </a:r>
          </a:p>
        </p:txBody>
      </p:sp>
      <p:sp>
        <p:nvSpPr>
          <p:cNvPr id="83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4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Project Overview</a:t>
            </a:r>
          </a:p>
        </p:txBody>
      </p:sp>
      <p:sp>
        <p:nvSpPr>
          <p:cNvPr id="85" name="Shape 4"/>
          <p:cNvSpPr/>
          <p:nvPr/>
        </p:nvSpPr>
        <p:spPr>
          <a:xfrm>
            <a:off x="1143000" y="2478359"/>
            <a:ext cx="16002000" cy="895351"/>
          </a:xfrm>
          <a:prstGeom prst="roundRect">
            <a:avLst>
              <a:gd name="adj" fmla="val 1489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6" name="Shape 5"/>
          <p:cNvSpPr/>
          <p:nvPr/>
        </p:nvSpPr>
        <p:spPr>
          <a:xfrm>
            <a:off x="1419225" y="2678384"/>
            <a:ext cx="495300" cy="495301"/>
          </a:xfrm>
          <a:prstGeom prst="ellipse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7" name="Text 6"/>
          <p:cNvSpPr txBox="1"/>
          <p:nvPr/>
        </p:nvSpPr>
        <p:spPr>
          <a:xfrm>
            <a:off x="1381125" y="2678384"/>
            <a:ext cx="5715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defRPr b="1" sz="19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88" name="Text 7"/>
          <p:cNvSpPr txBox="1"/>
          <p:nvPr/>
        </p:nvSpPr>
        <p:spPr>
          <a:xfrm>
            <a:off x="2143124" y="2780778"/>
            <a:ext cx="10739784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905255">
              <a:defRPr b="1" sz="1881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Load &amp; combine </a:t>
            </a:r>
            <a:r>
              <a:rPr b="0"/>
              <a:t>all 4 NASA CMAPSS subsets (FD001–FD004) with globally-unique engine IDs</a:t>
            </a:r>
          </a:p>
        </p:txBody>
      </p:sp>
      <p:sp>
        <p:nvSpPr>
          <p:cNvPr id="89" name="Text 8"/>
          <p:cNvSpPr txBox="1"/>
          <p:nvPr/>
        </p:nvSpPr>
        <p:spPr>
          <a:xfrm>
            <a:off x="902970" y="3468959"/>
            <a:ext cx="16482061" cy="333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defRPr sz="1900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90" name="Shape 9"/>
          <p:cNvSpPr/>
          <p:nvPr/>
        </p:nvSpPr>
        <p:spPr>
          <a:xfrm>
            <a:off x="1143000" y="3854722"/>
            <a:ext cx="16002000" cy="895351"/>
          </a:xfrm>
          <a:prstGeom prst="roundRect">
            <a:avLst>
              <a:gd name="adj" fmla="val 1489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Shape 10"/>
          <p:cNvSpPr/>
          <p:nvPr/>
        </p:nvSpPr>
        <p:spPr>
          <a:xfrm>
            <a:off x="1419225" y="4054747"/>
            <a:ext cx="495300" cy="495301"/>
          </a:xfrm>
          <a:prstGeom prst="ellipse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2" name="Text 11"/>
          <p:cNvSpPr txBox="1"/>
          <p:nvPr/>
        </p:nvSpPr>
        <p:spPr>
          <a:xfrm>
            <a:off x="1381125" y="4054747"/>
            <a:ext cx="5715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defRPr b="1" sz="19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93" name="Text 12"/>
          <p:cNvSpPr txBox="1"/>
          <p:nvPr/>
        </p:nvSpPr>
        <p:spPr>
          <a:xfrm>
            <a:off x="2143124" y="4157141"/>
            <a:ext cx="9969104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905255">
              <a:defRPr b="1" sz="1881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Compute &amp; cap </a:t>
            </a:r>
            <a:r>
              <a:rPr b="0"/>
              <a:t>Remaining Useful Life (RUL at 125 cycles), drop sensor leakage columns</a:t>
            </a:r>
          </a:p>
        </p:txBody>
      </p:sp>
      <p:sp>
        <p:nvSpPr>
          <p:cNvPr id="94" name="Text 13"/>
          <p:cNvSpPr txBox="1"/>
          <p:nvPr/>
        </p:nvSpPr>
        <p:spPr>
          <a:xfrm>
            <a:off x="902970" y="4845322"/>
            <a:ext cx="16482061" cy="333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defRPr sz="1900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95" name="Shape 14"/>
          <p:cNvSpPr/>
          <p:nvPr/>
        </p:nvSpPr>
        <p:spPr>
          <a:xfrm>
            <a:off x="1143000" y="5231084"/>
            <a:ext cx="16002000" cy="981076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6" name="Shape 15"/>
          <p:cNvSpPr/>
          <p:nvPr/>
        </p:nvSpPr>
        <p:spPr>
          <a:xfrm>
            <a:off x="1419225" y="5473972"/>
            <a:ext cx="495300" cy="495301"/>
          </a:xfrm>
          <a:prstGeom prst="ellipse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7" name="Text 16"/>
          <p:cNvSpPr txBox="1"/>
          <p:nvPr/>
        </p:nvSpPr>
        <p:spPr>
          <a:xfrm>
            <a:off x="1381125" y="5473972"/>
            <a:ext cx="5715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defRPr b="1" sz="19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98" name="Text 17"/>
          <p:cNvSpPr txBox="1"/>
          <p:nvPr/>
        </p:nvSpPr>
        <p:spPr>
          <a:xfrm>
            <a:off x="2143125" y="5431109"/>
            <a:ext cx="15167420" cy="619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defRPr b="1" sz="19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EDA + Preprocess </a:t>
            </a:r>
            <a:r>
              <a:rPr b="0"/>
              <a:t>— drop zero-variance sensors, cluster operating conditions (KMeans k=6), per-cluster StandardScaler, rolling features</a:t>
            </a:r>
          </a:p>
        </p:txBody>
      </p:sp>
      <p:sp>
        <p:nvSpPr>
          <p:cNvPr id="99" name="Text 18"/>
          <p:cNvSpPr txBox="1"/>
          <p:nvPr/>
        </p:nvSpPr>
        <p:spPr>
          <a:xfrm>
            <a:off x="902970" y="6307409"/>
            <a:ext cx="16482061" cy="333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defRPr sz="1900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100" name="Shape 19"/>
          <p:cNvSpPr/>
          <p:nvPr/>
        </p:nvSpPr>
        <p:spPr>
          <a:xfrm>
            <a:off x="1143000" y="6693172"/>
            <a:ext cx="16002000" cy="895351"/>
          </a:xfrm>
          <a:prstGeom prst="roundRect">
            <a:avLst>
              <a:gd name="adj" fmla="val 1489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1" name="Shape 20"/>
          <p:cNvSpPr/>
          <p:nvPr/>
        </p:nvSpPr>
        <p:spPr>
          <a:xfrm>
            <a:off x="1419225" y="6893197"/>
            <a:ext cx="495300" cy="495301"/>
          </a:xfrm>
          <a:prstGeom prst="ellipse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2" name="Text 21"/>
          <p:cNvSpPr txBox="1"/>
          <p:nvPr/>
        </p:nvSpPr>
        <p:spPr>
          <a:xfrm>
            <a:off x="1381125" y="6893197"/>
            <a:ext cx="5715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defRPr b="1" sz="19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03" name="Text 22"/>
          <p:cNvSpPr txBox="1"/>
          <p:nvPr/>
        </p:nvSpPr>
        <p:spPr>
          <a:xfrm>
            <a:off x="2143124" y="6995592"/>
            <a:ext cx="15051379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905255">
              <a:defRPr b="1" sz="1881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Build Health Index </a:t>
            </a:r>
            <a:r>
              <a:rPr b="0"/>
              <a:t>via PCA · Train </a:t>
            </a:r>
            <a:r>
              <a:t>classical models </a:t>
            </a:r>
            <a:r>
              <a:rPr b="0"/>
              <a:t>(AR, ARMA, ARIMA) · Train </a:t>
            </a:r>
            <a:r>
              <a:t>deep learning models </a:t>
            </a:r>
            <a:r>
              <a:rPr b="0"/>
              <a:t>(RNN, LSTM, GRU, Transformer)</a:t>
            </a:r>
          </a:p>
        </p:txBody>
      </p:sp>
      <p:sp>
        <p:nvSpPr>
          <p:cNvPr id="104" name="Text 23"/>
          <p:cNvSpPr txBox="1"/>
          <p:nvPr/>
        </p:nvSpPr>
        <p:spPr>
          <a:xfrm>
            <a:off x="902970" y="7683772"/>
            <a:ext cx="16482061" cy="333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defRPr sz="1900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105" name="Shape 24"/>
          <p:cNvSpPr/>
          <p:nvPr/>
        </p:nvSpPr>
        <p:spPr>
          <a:xfrm>
            <a:off x="1143000" y="8069535"/>
            <a:ext cx="16002000" cy="895351"/>
          </a:xfrm>
          <a:prstGeom prst="roundRect">
            <a:avLst>
              <a:gd name="adj" fmla="val 1489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6" name="Shape 25"/>
          <p:cNvSpPr/>
          <p:nvPr/>
        </p:nvSpPr>
        <p:spPr>
          <a:xfrm>
            <a:off x="1419225" y="8269560"/>
            <a:ext cx="495300" cy="495301"/>
          </a:xfrm>
          <a:prstGeom prst="ellipse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Text 26"/>
          <p:cNvSpPr txBox="1"/>
          <p:nvPr/>
        </p:nvSpPr>
        <p:spPr>
          <a:xfrm>
            <a:off x="1381125" y="8269560"/>
            <a:ext cx="5715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defRPr b="1" sz="19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08" name="Text 27"/>
          <p:cNvSpPr txBox="1"/>
          <p:nvPr/>
        </p:nvSpPr>
        <p:spPr>
          <a:xfrm>
            <a:off x="2143124" y="8371954"/>
            <a:ext cx="788094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905255">
              <a:defRPr b="1" sz="1881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Evaluate </a:t>
            </a:r>
            <a:r>
              <a:rPr b="0"/>
              <a:t>with RMSE, NASA asymmetric score, R² · Compare all models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1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DATASET</a:t>
            </a:r>
          </a:p>
        </p:txBody>
      </p:sp>
      <p:sp>
        <p:nvSpPr>
          <p:cNvPr id="112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3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NASA CMAPSS Dataset</a:t>
            </a:r>
          </a:p>
        </p:txBody>
      </p:sp>
      <p:sp>
        <p:nvSpPr>
          <p:cNvPr id="114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C-MAPSS </a:t>
            </a:r>
            <a:r>
              <a:rPr b="0">
                <a:solidFill>
                  <a:srgbClr val="1C3150"/>
                </a:solidFill>
              </a:rPr>
              <a:t>: Commercial Modular Aero-Propulsion System Simulation</a:t>
            </a:r>
          </a:p>
        </p:txBody>
      </p:sp>
      <p:sp>
        <p:nvSpPr>
          <p:cNvPr id="115" name="Text 5"/>
          <p:cNvSpPr txBox="1"/>
          <p:nvPr/>
        </p:nvSpPr>
        <p:spPr>
          <a:xfrm>
            <a:off x="1562100" y="354129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Simulates realistic turbofan engine degradation over hundreds of flight cycles</a:t>
            </a:r>
          </a:p>
        </p:txBody>
      </p:sp>
      <p:sp>
        <p:nvSpPr>
          <p:cNvPr id="116" name="Text 6"/>
          <p:cNvSpPr txBox="1"/>
          <p:nvPr/>
        </p:nvSpPr>
        <p:spPr>
          <a:xfrm>
            <a:off x="1562100" y="460422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4 subsets (FD001–FD004) with varying operating conditions and fault modes</a:t>
            </a:r>
          </a:p>
        </p:txBody>
      </p:sp>
      <p:sp>
        <p:nvSpPr>
          <p:cNvPr id="117" name="Text 7"/>
          <p:cNvSpPr txBox="1"/>
          <p:nvPr/>
        </p:nvSpPr>
        <p:spPr>
          <a:xfrm>
            <a:off x="1562100" y="566715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Each engine is run to failure — true RUL known from training data</a:t>
            </a:r>
          </a:p>
        </p:txBody>
      </p:sp>
      <p:sp>
        <p:nvSpPr>
          <p:cNvPr id="118" name="Text 8"/>
          <p:cNvSpPr txBox="1"/>
          <p:nvPr/>
        </p:nvSpPr>
        <p:spPr>
          <a:xfrm>
            <a:off x="1562100" y="673008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This project focuses on </a:t>
            </a:r>
            <a:r>
              <a:rPr b="1">
                <a:solidFill>
                  <a:srgbClr val="12294A"/>
                </a:solidFill>
              </a:rPr>
              <a:t>FD004 </a:t>
            </a:r>
            <a:r>
              <a:t>— the most complex subset</a:t>
            </a:r>
          </a:p>
        </p:txBody>
      </p:sp>
      <p:sp>
        <p:nvSpPr>
          <p:cNvPr id="119" name="Shape 9"/>
          <p:cNvSpPr/>
          <p:nvPr/>
        </p:nvSpPr>
        <p:spPr>
          <a:xfrm>
            <a:off x="9391650" y="2478359"/>
            <a:ext cx="1348161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0" name="Text 10"/>
          <p:cNvSpPr txBox="1"/>
          <p:nvPr/>
        </p:nvSpPr>
        <p:spPr>
          <a:xfrm>
            <a:off x="9601200" y="2630759"/>
            <a:ext cx="1005259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Subset</a:t>
            </a:r>
          </a:p>
        </p:txBody>
      </p:sp>
      <p:sp>
        <p:nvSpPr>
          <p:cNvPr id="121" name="Shape 11"/>
          <p:cNvSpPr/>
          <p:nvPr/>
        </p:nvSpPr>
        <p:spPr>
          <a:xfrm>
            <a:off x="10739810" y="2478359"/>
            <a:ext cx="2264495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2" name="Text 12"/>
          <p:cNvSpPr txBox="1"/>
          <p:nvPr/>
        </p:nvSpPr>
        <p:spPr>
          <a:xfrm>
            <a:off x="10949360" y="2630759"/>
            <a:ext cx="1921595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Op Conditions</a:t>
            </a:r>
          </a:p>
        </p:txBody>
      </p:sp>
      <p:sp>
        <p:nvSpPr>
          <p:cNvPr id="123" name="Shape 13"/>
          <p:cNvSpPr/>
          <p:nvPr/>
        </p:nvSpPr>
        <p:spPr>
          <a:xfrm>
            <a:off x="13004303" y="2478359"/>
            <a:ext cx="1997423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4" name="Text 14"/>
          <p:cNvSpPr txBox="1"/>
          <p:nvPr/>
        </p:nvSpPr>
        <p:spPr>
          <a:xfrm>
            <a:off x="13213853" y="2630759"/>
            <a:ext cx="1654523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Fault Modes</a:t>
            </a:r>
          </a:p>
        </p:txBody>
      </p:sp>
      <p:sp>
        <p:nvSpPr>
          <p:cNvPr id="125" name="Shape 15"/>
          <p:cNvSpPr/>
          <p:nvPr/>
        </p:nvSpPr>
        <p:spPr>
          <a:xfrm>
            <a:off x="15001726" y="2478359"/>
            <a:ext cx="2143275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6" name="Text 16"/>
          <p:cNvSpPr txBox="1"/>
          <p:nvPr/>
        </p:nvSpPr>
        <p:spPr>
          <a:xfrm>
            <a:off x="15211276" y="2630759"/>
            <a:ext cx="1800375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Train Engines</a:t>
            </a:r>
          </a:p>
        </p:txBody>
      </p:sp>
      <p:sp>
        <p:nvSpPr>
          <p:cNvPr id="127" name="Shape 17"/>
          <p:cNvSpPr/>
          <p:nvPr/>
        </p:nvSpPr>
        <p:spPr>
          <a:xfrm>
            <a:off x="9391650" y="3634060"/>
            <a:ext cx="1348161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8" name="Text 18"/>
          <p:cNvSpPr txBox="1"/>
          <p:nvPr/>
        </p:nvSpPr>
        <p:spPr>
          <a:xfrm>
            <a:off x="9601200" y="3216548"/>
            <a:ext cx="1005259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FD001</a:t>
            </a:r>
          </a:p>
        </p:txBody>
      </p:sp>
      <p:sp>
        <p:nvSpPr>
          <p:cNvPr id="129" name="Shape 19"/>
          <p:cNvSpPr/>
          <p:nvPr/>
        </p:nvSpPr>
        <p:spPr>
          <a:xfrm>
            <a:off x="10739810" y="3634060"/>
            <a:ext cx="226449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0" name="Text 20"/>
          <p:cNvSpPr txBox="1"/>
          <p:nvPr/>
        </p:nvSpPr>
        <p:spPr>
          <a:xfrm>
            <a:off x="10949360" y="3216548"/>
            <a:ext cx="1921595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31" name="Shape 21"/>
          <p:cNvSpPr/>
          <p:nvPr/>
        </p:nvSpPr>
        <p:spPr>
          <a:xfrm>
            <a:off x="13004303" y="3634060"/>
            <a:ext cx="1997423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2" name="Text 22"/>
          <p:cNvSpPr txBox="1"/>
          <p:nvPr/>
        </p:nvSpPr>
        <p:spPr>
          <a:xfrm>
            <a:off x="13213853" y="3216548"/>
            <a:ext cx="1654523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33" name="Shape 23"/>
          <p:cNvSpPr/>
          <p:nvPr/>
        </p:nvSpPr>
        <p:spPr>
          <a:xfrm>
            <a:off x="15001726" y="3634060"/>
            <a:ext cx="214327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4" name="Text 24"/>
          <p:cNvSpPr txBox="1"/>
          <p:nvPr/>
        </p:nvSpPr>
        <p:spPr>
          <a:xfrm>
            <a:off x="15211276" y="3216548"/>
            <a:ext cx="1800375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100</a:t>
            </a:r>
          </a:p>
        </p:txBody>
      </p:sp>
      <p:sp>
        <p:nvSpPr>
          <p:cNvPr id="135" name="Shape 25"/>
          <p:cNvSpPr/>
          <p:nvPr/>
        </p:nvSpPr>
        <p:spPr>
          <a:xfrm>
            <a:off x="9391650" y="3645172"/>
            <a:ext cx="1348161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6" name="Shape 26"/>
          <p:cNvSpPr/>
          <p:nvPr/>
        </p:nvSpPr>
        <p:spPr>
          <a:xfrm>
            <a:off x="9391650" y="4200797"/>
            <a:ext cx="1348161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7" name="Text 27"/>
          <p:cNvSpPr txBox="1"/>
          <p:nvPr/>
        </p:nvSpPr>
        <p:spPr>
          <a:xfrm>
            <a:off x="9601200" y="3778522"/>
            <a:ext cx="1005259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FD002</a:t>
            </a:r>
          </a:p>
        </p:txBody>
      </p:sp>
      <p:sp>
        <p:nvSpPr>
          <p:cNvPr id="138" name="Shape 28"/>
          <p:cNvSpPr/>
          <p:nvPr/>
        </p:nvSpPr>
        <p:spPr>
          <a:xfrm>
            <a:off x="10739810" y="3645172"/>
            <a:ext cx="2264495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9" name="Shape 29"/>
          <p:cNvSpPr/>
          <p:nvPr/>
        </p:nvSpPr>
        <p:spPr>
          <a:xfrm>
            <a:off x="10739810" y="4200797"/>
            <a:ext cx="226449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0" name="Text 30"/>
          <p:cNvSpPr txBox="1"/>
          <p:nvPr/>
        </p:nvSpPr>
        <p:spPr>
          <a:xfrm>
            <a:off x="10949360" y="3778522"/>
            <a:ext cx="1921595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41" name="Shape 31"/>
          <p:cNvSpPr/>
          <p:nvPr/>
        </p:nvSpPr>
        <p:spPr>
          <a:xfrm>
            <a:off x="13004303" y="3645172"/>
            <a:ext cx="1997423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2" name="Shape 32"/>
          <p:cNvSpPr/>
          <p:nvPr/>
        </p:nvSpPr>
        <p:spPr>
          <a:xfrm>
            <a:off x="13004303" y="4200797"/>
            <a:ext cx="1997423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3" name="Text 33"/>
          <p:cNvSpPr txBox="1"/>
          <p:nvPr/>
        </p:nvSpPr>
        <p:spPr>
          <a:xfrm>
            <a:off x="13213853" y="3778522"/>
            <a:ext cx="1654523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44" name="Shape 34"/>
          <p:cNvSpPr/>
          <p:nvPr/>
        </p:nvSpPr>
        <p:spPr>
          <a:xfrm>
            <a:off x="15001726" y="3645172"/>
            <a:ext cx="2143275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5" name="Shape 35"/>
          <p:cNvSpPr/>
          <p:nvPr/>
        </p:nvSpPr>
        <p:spPr>
          <a:xfrm>
            <a:off x="15001726" y="4200797"/>
            <a:ext cx="214327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6" name="Text 36"/>
          <p:cNvSpPr txBox="1"/>
          <p:nvPr/>
        </p:nvSpPr>
        <p:spPr>
          <a:xfrm>
            <a:off x="15211276" y="3778522"/>
            <a:ext cx="1800375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260</a:t>
            </a:r>
          </a:p>
        </p:txBody>
      </p:sp>
      <p:sp>
        <p:nvSpPr>
          <p:cNvPr id="147" name="Shape 37"/>
          <p:cNvSpPr/>
          <p:nvPr/>
        </p:nvSpPr>
        <p:spPr>
          <a:xfrm>
            <a:off x="9391650" y="4767535"/>
            <a:ext cx="1348161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8" name="Text 38"/>
          <p:cNvSpPr txBox="1"/>
          <p:nvPr/>
        </p:nvSpPr>
        <p:spPr>
          <a:xfrm>
            <a:off x="9601200" y="4345259"/>
            <a:ext cx="1005259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FD003</a:t>
            </a:r>
          </a:p>
        </p:txBody>
      </p:sp>
      <p:sp>
        <p:nvSpPr>
          <p:cNvPr id="149" name="Shape 39"/>
          <p:cNvSpPr/>
          <p:nvPr/>
        </p:nvSpPr>
        <p:spPr>
          <a:xfrm>
            <a:off x="10739810" y="4767535"/>
            <a:ext cx="226449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0" name="Text 40"/>
          <p:cNvSpPr txBox="1"/>
          <p:nvPr/>
        </p:nvSpPr>
        <p:spPr>
          <a:xfrm>
            <a:off x="10949360" y="4345259"/>
            <a:ext cx="1921595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51" name="Shape 41"/>
          <p:cNvSpPr/>
          <p:nvPr/>
        </p:nvSpPr>
        <p:spPr>
          <a:xfrm>
            <a:off x="13004303" y="4767535"/>
            <a:ext cx="1997423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2" name="Text 42"/>
          <p:cNvSpPr txBox="1"/>
          <p:nvPr/>
        </p:nvSpPr>
        <p:spPr>
          <a:xfrm>
            <a:off x="13213853" y="4345259"/>
            <a:ext cx="1654523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53" name="Shape 43"/>
          <p:cNvSpPr/>
          <p:nvPr/>
        </p:nvSpPr>
        <p:spPr>
          <a:xfrm>
            <a:off x="15001726" y="4767535"/>
            <a:ext cx="214327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4" name="Text 44"/>
          <p:cNvSpPr txBox="1"/>
          <p:nvPr/>
        </p:nvSpPr>
        <p:spPr>
          <a:xfrm>
            <a:off x="15211276" y="4345259"/>
            <a:ext cx="1800375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100</a:t>
            </a:r>
          </a:p>
        </p:txBody>
      </p:sp>
      <p:sp>
        <p:nvSpPr>
          <p:cNvPr id="155" name="Shape 45"/>
          <p:cNvSpPr/>
          <p:nvPr/>
        </p:nvSpPr>
        <p:spPr>
          <a:xfrm>
            <a:off x="9391650" y="4778647"/>
            <a:ext cx="1348161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6" name="Shape 46"/>
          <p:cNvSpPr/>
          <p:nvPr/>
        </p:nvSpPr>
        <p:spPr>
          <a:xfrm>
            <a:off x="9391650" y="5334272"/>
            <a:ext cx="1348161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7" name="Text 47"/>
          <p:cNvSpPr txBox="1"/>
          <p:nvPr/>
        </p:nvSpPr>
        <p:spPr>
          <a:xfrm>
            <a:off x="9601200" y="4911997"/>
            <a:ext cx="1005259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b="1"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FD004</a:t>
            </a:r>
          </a:p>
        </p:txBody>
      </p:sp>
      <p:sp>
        <p:nvSpPr>
          <p:cNvPr id="158" name="Shape 48"/>
          <p:cNvSpPr/>
          <p:nvPr/>
        </p:nvSpPr>
        <p:spPr>
          <a:xfrm>
            <a:off x="10739810" y="4778647"/>
            <a:ext cx="2264495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9" name="Shape 49"/>
          <p:cNvSpPr/>
          <p:nvPr/>
        </p:nvSpPr>
        <p:spPr>
          <a:xfrm>
            <a:off x="10739810" y="5334272"/>
            <a:ext cx="226449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0" name="Text 50"/>
          <p:cNvSpPr txBox="1"/>
          <p:nvPr/>
        </p:nvSpPr>
        <p:spPr>
          <a:xfrm>
            <a:off x="10949360" y="4911997"/>
            <a:ext cx="1921595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b="1"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61" name="Shape 51"/>
          <p:cNvSpPr/>
          <p:nvPr/>
        </p:nvSpPr>
        <p:spPr>
          <a:xfrm>
            <a:off x="13004303" y="4778647"/>
            <a:ext cx="1997423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2" name="Shape 52"/>
          <p:cNvSpPr/>
          <p:nvPr/>
        </p:nvSpPr>
        <p:spPr>
          <a:xfrm>
            <a:off x="13004303" y="5334272"/>
            <a:ext cx="1997423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3" name="Text 53"/>
          <p:cNvSpPr txBox="1"/>
          <p:nvPr/>
        </p:nvSpPr>
        <p:spPr>
          <a:xfrm>
            <a:off x="13213853" y="4911997"/>
            <a:ext cx="1654523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b="1"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64" name="Shape 54"/>
          <p:cNvSpPr/>
          <p:nvPr/>
        </p:nvSpPr>
        <p:spPr>
          <a:xfrm>
            <a:off x="15001726" y="4778647"/>
            <a:ext cx="2143275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5" name="Shape 55"/>
          <p:cNvSpPr/>
          <p:nvPr/>
        </p:nvSpPr>
        <p:spPr>
          <a:xfrm>
            <a:off x="15001726" y="5334272"/>
            <a:ext cx="214327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6" name="Text 56"/>
          <p:cNvSpPr txBox="1"/>
          <p:nvPr/>
        </p:nvSpPr>
        <p:spPr>
          <a:xfrm>
            <a:off x="15211276" y="4911997"/>
            <a:ext cx="1800375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b="1"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248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9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DATASET</a:t>
            </a:r>
          </a:p>
        </p:txBody>
      </p:sp>
      <p:sp>
        <p:nvSpPr>
          <p:cNvPr id="170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1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FD004: The Hardest Dataset</a:t>
            </a:r>
          </a:p>
        </p:txBody>
      </p:sp>
      <p:sp>
        <p:nvSpPr>
          <p:cNvPr id="172" name="Shape 4"/>
          <p:cNvSpPr/>
          <p:nvPr/>
        </p:nvSpPr>
        <p:spPr>
          <a:xfrm>
            <a:off x="1143000" y="2478359"/>
            <a:ext cx="5079951" cy="1876426"/>
          </a:xfrm>
          <a:prstGeom prst="roundRect">
            <a:avLst>
              <a:gd name="adj" fmla="val 8122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3" name="Text 5"/>
          <p:cNvSpPr txBox="1"/>
          <p:nvPr/>
        </p:nvSpPr>
        <p:spPr>
          <a:xfrm>
            <a:off x="1469041" y="2868884"/>
            <a:ext cx="4427867" cy="8429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z="5238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248</a:t>
            </a:r>
          </a:p>
        </p:txBody>
      </p:sp>
      <p:sp>
        <p:nvSpPr>
          <p:cNvPr id="174" name="Text 6"/>
          <p:cNvSpPr txBox="1"/>
          <p:nvPr/>
        </p:nvSpPr>
        <p:spPr>
          <a:xfrm>
            <a:off x="1469041" y="3673747"/>
            <a:ext cx="44278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905255">
              <a:defRPr sz="1881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Training engines</a:t>
            </a:r>
          </a:p>
        </p:txBody>
      </p:sp>
      <p:sp>
        <p:nvSpPr>
          <p:cNvPr id="175" name="Shape 7"/>
          <p:cNvSpPr/>
          <p:nvPr/>
        </p:nvSpPr>
        <p:spPr>
          <a:xfrm>
            <a:off x="6603949" y="2478359"/>
            <a:ext cx="5080026" cy="1876426"/>
          </a:xfrm>
          <a:prstGeom prst="roundRect">
            <a:avLst>
              <a:gd name="adj" fmla="val 8122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6" name="Text 8"/>
          <p:cNvSpPr txBox="1"/>
          <p:nvPr/>
        </p:nvSpPr>
        <p:spPr>
          <a:xfrm>
            <a:off x="6929990" y="2868884"/>
            <a:ext cx="4427946" cy="8429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z="5238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249</a:t>
            </a:r>
          </a:p>
        </p:txBody>
      </p:sp>
      <p:sp>
        <p:nvSpPr>
          <p:cNvPr id="177" name="Text 9"/>
          <p:cNvSpPr txBox="1"/>
          <p:nvPr/>
        </p:nvSpPr>
        <p:spPr>
          <a:xfrm>
            <a:off x="6929990" y="3673747"/>
            <a:ext cx="4427946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905255">
              <a:defRPr sz="1881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Test engines</a:t>
            </a:r>
          </a:p>
        </p:txBody>
      </p:sp>
      <p:sp>
        <p:nvSpPr>
          <p:cNvPr id="178" name="Shape 10"/>
          <p:cNvSpPr/>
          <p:nvPr/>
        </p:nvSpPr>
        <p:spPr>
          <a:xfrm>
            <a:off x="12064975" y="2478359"/>
            <a:ext cx="5079951" cy="1876426"/>
          </a:xfrm>
          <a:prstGeom prst="roundRect">
            <a:avLst>
              <a:gd name="adj" fmla="val 8122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" name="Text 11"/>
          <p:cNvSpPr txBox="1"/>
          <p:nvPr/>
        </p:nvSpPr>
        <p:spPr>
          <a:xfrm>
            <a:off x="12391017" y="2868884"/>
            <a:ext cx="4427868" cy="8429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z="5238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61,249</a:t>
            </a:r>
          </a:p>
        </p:txBody>
      </p:sp>
      <p:sp>
        <p:nvSpPr>
          <p:cNvPr id="180" name="Text 12"/>
          <p:cNvSpPr txBox="1"/>
          <p:nvPr/>
        </p:nvSpPr>
        <p:spPr>
          <a:xfrm>
            <a:off x="12391017" y="3673747"/>
            <a:ext cx="442786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905255">
              <a:defRPr sz="1881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Total training rows</a:t>
            </a:r>
          </a:p>
        </p:txBody>
      </p:sp>
      <p:sp>
        <p:nvSpPr>
          <p:cNvPr id="181" name="Shape 13"/>
          <p:cNvSpPr/>
          <p:nvPr/>
        </p:nvSpPr>
        <p:spPr>
          <a:xfrm>
            <a:off x="1143000" y="4735784"/>
            <a:ext cx="7753350" cy="2490790"/>
          </a:xfrm>
          <a:prstGeom prst="roundRect">
            <a:avLst>
              <a:gd name="adj" fmla="val 611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2" name="Shape 14"/>
          <p:cNvSpPr/>
          <p:nvPr/>
        </p:nvSpPr>
        <p:spPr>
          <a:xfrm>
            <a:off x="1143000" y="7215460"/>
            <a:ext cx="775335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3" name="Shape 15"/>
          <p:cNvSpPr/>
          <p:nvPr/>
        </p:nvSpPr>
        <p:spPr>
          <a:xfrm>
            <a:off x="1143000" y="4734197"/>
            <a:ext cx="775335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4" name="Shape 16"/>
          <p:cNvSpPr/>
          <p:nvPr/>
        </p:nvSpPr>
        <p:spPr>
          <a:xfrm>
            <a:off x="1143000" y="4735784"/>
            <a:ext cx="57150" cy="249079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5" name="Shape 17"/>
          <p:cNvSpPr/>
          <p:nvPr/>
        </p:nvSpPr>
        <p:spPr>
          <a:xfrm>
            <a:off x="8885237" y="4735784"/>
            <a:ext cx="12701" cy="2490790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6" name="Text 18"/>
          <p:cNvSpPr txBox="1"/>
          <p:nvPr/>
        </p:nvSpPr>
        <p:spPr>
          <a:xfrm>
            <a:off x="1581150" y="5126309"/>
            <a:ext cx="7132416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Challenge 1: Six Operating Conditions</a:t>
            </a:r>
          </a:p>
        </p:txBody>
      </p:sp>
      <p:sp>
        <p:nvSpPr>
          <p:cNvPr id="187" name="Text 19"/>
          <p:cNvSpPr txBox="1"/>
          <p:nvPr/>
        </p:nvSpPr>
        <p:spPr>
          <a:xfrm>
            <a:off x="1581150" y="5678759"/>
            <a:ext cx="7132416" cy="119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50000"/>
              </a:lnSpc>
              <a:defRPr sz="1879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Engine flies at varying altitudes, speeds, and throttle settings. Sensor s3 (HPC temperature) reads 1590°R at sea level, 1420°R at altitude — same health state, different conditions.</a:t>
            </a:r>
          </a:p>
        </p:txBody>
      </p:sp>
      <p:sp>
        <p:nvSpPr>
          <p:cNvPr id="188" name="Shape 20"/>
          <p:cNvSpPr/>
          <p:nvPr/>
        </p:nvSpPr>
        <p:spPr>
          <a:xfrm>
            <a:off x="9391650" y="4735784"/>
            <a:ext cx="7753350" cy="2490790"/>
          </a:xfrm>
          <a:prstGeom prst="roundRect">
            <a:avLst>
              <a:gd name="adj" fmla="val 611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9" name="Shape 21"/>
          <p:cNvSpPr/>
          <p:nvPr/>
        </p:nvSpPr>
        <p:spPr>
          <a:xfrm>
            <a:off x="9391650" y="7215460"/>
            <a:ext cx="775335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0" name="Shape 22"/>
          <p:cNvSpPr/>
          <p:nvPr/>
        </p:nvSpPr>
        <p:spPr>
          <a:xfrm>
            <a:off x="9391650" y="4734197"/>
            <a:ext cx="775335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1" name="Shape 23"/>
          <p:cNvSpPr/>
          <p:nvPr/>
        </p:nvSpPr>
        <p:spPr>
          <a:xfrm>
            <a:off x="9391650" y="4735784"/>
            <a:ext cx="57150" cy="2490790"/>
          </a:xfrm>
          <a:prstGeom prst="rect">
            <a:avLst/>
          </a:prstGeom>
          <a:solidFill>
            <a:srgbClr val="F0A5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2" name="Shape 24"/>
          <p:cNvSpPr/>
          <p:nvPr/>
        </p:nvSpPr>
        <p:spPr>
          <a:xfrm>
            <a:off x="17133887" y="4735784"/>
            <a:ext cx="12701" cy="2490790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3" name="Text 25"/>
          <p:cNvSpPr txBox="1"/>
          <p:nvPr/>
        </p:nvSpPr>
        <p:spPr>
          <a:xfrm>
            <a:off x="9829800" y="5126309"/>
            <a:ext cx="7132416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Challenge 2: Two Failure Modes</a:t>
            </a:r>
          </a:p>
        </p:txBody>
      </p:sp>
      <p:sp>
        <p:nvSpPr>
          <p:cNvPr id="194" name="Text 26"/>
          <p:cNvSpPr txBox="1"/>
          <p:nvPr/>
        </p:nvSpPr>
        <p:spPr>
          <a:xfrm>
            <a:off x="9829800" y="5678759"/>
            <a:ext cx="7132416" cy="119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50000"/>
              </a:lnSpc>
              <a:defRPr sz="1879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HPC blade erosion (temperatures rise, pressure drops) OR fan degradation (vibration increases, efficiency drops). One model must learn both signatures simultaneously.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7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DATASET</a:t>
            </a:r>
          </a:p>
        </p:txBody>
      </p:sp>
      <p:sp>
        <p:nvSpPr>
          <p:cNvPr id="198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9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Dataset Structure</a:t>
            </a:r>
          </a:p>
        </p:txBody>
      </p:sp>
      <p:sp>
        <p:nvSpPr>
          <p:cNvPr id="200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26 columns </a:t>
            </a:r>
            <a:r>
              <a:rPr b="0">
                <a:solidFill>
                  <a:srgbClr val="1C3150"/>
                </a:solidFill>
              </a:rPr>
              <a:t>per row: 3 operational settings + 21 sensor measurements + engine ID + cycle</a:t>
            </a:r>
          </a:p>
        </p:txBody>
      </p:sp>
      <p:sp>
        <p:nvSpPr>
          <p:cNvPr id="201" name="Text 5"/>
          <p:cNvSpPr txBox="1"/>
          <p:nvPr/>
        </p:nvSpPr>
        <p:spPr>
          <a:xfrm>
            <a:off x="1562100" y="3541290"/>
            <a:ext cx="75668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sz="24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Each row = one </a:t>
            </a:r>
            <a:r>
              <a:rPr b="1">
                <a:solidFill>
                  <a:srgbClr val="12294A"/>
                </a:solidFill>
              </a:rPr>
              <a:t>flight cycle </a:t>
            </a:r>
            <a:r>
              <a:t>for one engine</a:t>
            </a:r>
          </a:p>
        </p:txBody>
      </p:sp>
      <p:sp>
        <p:nvSpPr>
          <p:cNvPr id="202" name="Text 6"/>
          <p:cNvSpPr txBox="1"/>
          <p:nvPr/>
        </p:nvSpPr>
        <p:spPr>
          <a:xfrm>
            <a:off x="1562100" y="4177531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Engines run from cycle 1 until failure (training) or truncation (test)</a:t>
            </a:r>
          </a:p>
        </p:txBody>
      </p:sp>
      <p:sp>
        <p:nvSpPr>
          <p:cNvPr id="203" name="Text 7"/>
          <p:cNvSpPr txBox="1"/>
          <p:nvPr/>
        </p:nvSpPr>
        <p:spPr>
          <a:xfrm>
            <a:off x="1562100" y="5240461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Test set is truncated — RUL must be </a:t>
            </a:r>
            <a:r>
              <a:rPr i="1"/>
              <a:t>predicted </a:t>
            </a:r>
            <a:r>
              <a:t>, not observed</a:t>
            </a:r>
          </a:p>
        </p:txBody>
      </p:sp>
      <p:sp>
        <p:nvSpPr>
          <p:cNvPr id="204" name="Text 8"/>
          <p:cNvSpPr txBox="1"/>
          <p:nvPr/>
        </p:nvSpPr>
        <p:spPr>
          <a:xfrm>
            <a:off x="1562100" y="6303391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RUL capped at </a:t>
            </a:r>
            <a:r>
              <a:rPr b="1">
                <a:solidFill>
                  <a:srgbClr val="12294A"/>
                </a:solidFill>
              </a:rPr>
              <a:t>125 cycles </a:t>
            </a:r>
            <a:r>
              <a:t>— prevents dominance of long early-life phases</a:t>
            </a:r>
          </a:p>
        </p:txBody>
      </p:sp>
      <p:sp>
        <p:nvSpPr>
          <p:cNvPr id="205" name="Shape 9"/>
          <p:cNvSpPr/>
          <p:nvPr/>
        </p:nvSpPr>
        <p:spPr>
          <a:xfrm>
            <a:off x="9391650" y="2478359"/>
            <a:ext cx="2429248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6" name="Text 10"/>
          <p:cNvSpPr txBox="1"/>
          <p:nvPr/>
        </p:nvSpPr>
        <p:spPr>
          <a:xfrm>
            <a:off x="9601200" y="2630759"/>
            <a:ext cx="2086348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Column Group</a:t>
            </a:r>
          </a:p>
        </p:txBody>
      </p:sp>
      <p:sp>
        <p:nvSpPr>
          <p:cNvPr id="207" name="Shape 11"/>
          <p:cNvSpPr/>
          <p:nvPr/>
        </p:nvSpPr>
        <p:spPr>
          <a:xfrm>
            <a:off x="11820897" y="2478359"/>
            <a:ext cx="2041178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8" name="Text 12"/>
          <p:cNvSpPr txBox="1"/>
          <p:nvPr/>
        </p:nvSpPr>
        <p:spPr>
          <a:xfrm>
            <a:off x="12030447" y="2630759"/>
            <a:ext cx="1698278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Columns</a:t>
            </a:r>
          </a:p>
        </p:txBody>
      </p:sp>
      <p:sp>
        <p:nvSpPr>
          <p:cNvPr id="209" name="Shape 13"/>
          <p:cNvSpPr/>
          <p:nvPr/>
        </p:nvSpPr>
        <p:spPr>
          <a:xfrm>
            <a:off x="13862074" y="2478359"/>
            <a:ext cx="3282925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0" name="Text 14"/>
          <p:cNvSpPr txBox="1"/>
          <p:nvPr/>
        </p:nvSpPr>
        <p:spPr>
          <a:xfrm>
            <a:off x="14071624" y="2630759"/>
            <a:ext cx="2962314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Role</a:t>
            </a:r>
          </a:p>
        </p:txBody>
      </p:sp>
      <p:sp>
        <p:nvSpPr>
          <p:cNvPr id="211" name="Shape 15"/>
          <p:cNvSpPr/>
          <p:nvPr/>
        </p:nvSpPr>
        <p:spPr>
          <a:xfrm>
            <a:off x="9391650" y="3634060"/>
            <a:ext cx="242924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2" name="Text 16"/>
          <p:cNvSpPr txBox="1"/>
          <p:nvPr/>
        </p:nvSpPr>
        <p:spPr>
          <a:xfrm>
            <a:off x="9601200" y="3216548"/>
            <a:ext cx="2086348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Engine ID</a:t>
            </a:r>
          </a:p>
        </p:txBody>
      </p:sp>
      <p:sp>
        <p:nvSpPr>
          <p:cNvPr id="213" name="Shape 17"/>
          <p:cNvSpPr/>
          <p:nvPr/>
        </p:nvSpPr>
        <p:spPr>
          <a:xfrm>
            <a:off x="11820897" y="3634060"/>
            <a:ext cx="204117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4" name="Text 18"/>
          <p:cNvSpPr txBox="1"/>
          <p:nvPr/>
        </p:nvSpPr>
        <p:spPr>
          <a:xfrm>
            <a:off x="12030447" y="3216548"/>
            <a:ext cx="1698278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15" name="Shape 19"/>
          <p:cNvSpPr/>
          <p:nvPr/>
        </p:nvSpPr>
        <p:spPr>
          <a:xfrm>
            <a:off x="13862074" y="3634060"/>
            <a:ext cx="328292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6" name="Text 20"/>
          <p:cNvSpPr txBox="1"/>
          <p:nvPr/>
        </p:nvSpPr>
        <p:spPr>
          <a:xfrm>
            <a:off x="14071624" y="3216548"/>
            <a:ext cx="2962314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Unique engine identifier</a:t>
            </a:r>
          </a:p>
        </p:txBody>
      </p:sp>
      <p:sp>
        <p:nvSpPr>
          <p:cNvPr id="217" name="Shape 21"/>
          <p:cNvSpPr/>
          <p:nvPr/>
        </p:nvSpPr>
        <p:spPr>
          <a:xfrm>
            <a:off x="9391650" y="3645172"/>
            <a:ext cx="2429248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8" name="Shape 22"/>
          <p:cNvSpPr/>
          <p:nvPr/>
        </p:nvSpPr>
        <p:spPr>
          <a:xfrm>
            <a:off x="9391650" y="4200797"/>
            <a:ext cx="242924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9" name="Text 23"/>
          <p:cNvSpPr txBox="1"/>
          <p:nvPr/>
        </p:nvSpPr>
        <p:spPr>
          <a:xfrm>
            <a:off x="9601200" y="3778522"/>
            <a:ext cx="208634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Cycle</a:t>
            </a:r>
          </a:p>
        </p:txBody>
      </p:sp>
      <p:sp>
        <p:nvSpPr>
          <p:cNvPr id="220" name="Shape 24"/>
          <p:cNvSpPr/>
          <p:nvPr/>
        </p:nvSpPr>
        <p:spPr>
          <a:xfrm>
            <a:off x="11820897" y="3645172"/>
            <a:ext cx="2041178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1" name="Shape 25"/>
          <p:cNvSpPr/>
          <p:nvPr/>
        </p:nvSpPr>
        <p:spPr>
          <a:xfrm>
            <a:off x="11820897" y="4200797"/>
            <a:ext cx="204117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2" name="Text 26"/>
          <p:cNvSpPr txBox="1"/>
          <p:nvPr/>
        </p:nvSpPr>
        <p:spPr>
          <a:xfrm>
            <a:off x="12030447" y="3778522"/>
            <a:ext cx="169827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23" name="Shape 27"/>
          <p:cNvSpPr/>
          <p:nvPr/>
        </p:nvSpPr>
        <p:spPr>
          <a:xfrm>
            <a:off x="13862074" y="3645172"/>
            <a:ext cx="3282925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4" name="Shape 28"/>
          <p:cNvSpPr/>
          <p:nvPr/>
        </p:nvSpPr>
        <p:spPr>
          <a:xfrm>
            <a:off x="13862074" y="4200797"/>
            <a:ext cx="328292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5" name="Text 29"/>
          <p:cNvSpPr txBox="1"/>
          <p:nvPr/>
        </p:nvSpPr>
        <p:spPr>
          <a:xfrm>
            <a:off x="14071624" y="3778522"/>
            <a:ext cx="2962314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Flight cycle counter</a:t>
            </a:r>
          </a:p>
        </p:txBody>
      </p:sp>
      <p:sp>
        <p:nvSpPr>
          <p:cNvPr id="226" name="Shape 30"/>
          <p:cNvSpPr/>
          <p:nvPr/>
        </p:nvSpPr>
        <p:spPr>
          <a:xfrm>
            <a:off x="9391650" y="4767535"/>
            <a:ext cx="242924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7" name="Text 31"/>
          <p:cNvSpPr txBox="1"/>
          <p:nvPr/>
        </p:nvSpPr>
        <p:spPr>
          <a:xfrm>
            <a:off x="9601200" y="4345259"/>
            <a:ext cx="208634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Op Settings</a:t>
            </a:r>
          </a:p>
        </p:txBody>
      </p:sp>
      <p:sp>
        <p:nvSpPr>
          <p:cNvPr id="228" name="Shape 32"/>
          <p:cNvSpPr/>
          <p:nvPr/>
        </p:nvSpPr>
        <p:spPr>
          <a:xfrm>
            <a:off x="11820897" y="4767535"/>
            <a:ext cx="204117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9" name="Text 33"/>
          <p:cNvSpPr txBox="1"/>
          <p:nvPr/>
        </p:nvSpPr>
        <p:spPr>
          <a:xfrm>
            <a:off x="12030447" y="4345259"/>
            <a:ext cx="169827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op1, op2, op3</a:t>
            </a:r>
          </a:p>
        </p:txBody>
      </p:sp>
      <p:sp>
        <p:nvSpPr>
          <p:cNvPr id="230" name="Shape 34"/>
          <p:cNvSpPr/>
          <p:nvPr/>
        </p:nvSpPr>
        <p:spPr>
          <a:xfrm>
            <a:off x="13862074" y="4767535"/>
            <a:ext cx="328292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1" name="Text 35"/>
          <p:cNvSpPr txBox="1"/>
          <p:nvPr/>
        </p:nvSpPr>
        <p:spPr>
          <a:xfrm>
            <a:off x="14071624" y="4345259"/>
            <a:ext cx="2962314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Operating condition</a:t>
            </a:r>
          </a:p>
        </p:txBody>
      </p:sp>
      <p:sp>
        <p:nvSpPr>
          <p:cNvPr id="232" name="Shape 36"/>
          <p:cNvSpPr/>
          <p:nvPr/>
        </p:nvSpPr>
        <p:spPr>
          <a:xfrm>
            <a:off x="9391650" y="4778647"/>
            <a:ext cx="2429248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3" name="Shape 37"/>
          <p:cNvSpPr/>
          <p:nvPr/>
        </p:nvSpPr>
        <p:spPr>
          <a:xfrm>
            <a:off x="9391650" y="5334272"/>
            <a:ext cx="242924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4" name="Text 38"/>
          <p:cNvSpPr txBox="1"/>
          <p:nvPr/>
        </p:nvSpPr>
        <p:spPr>
          <a:xfrm>
            <a:off x="9601200" y="4911997"/>
            <a:ext cx="208634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Sensors</a:t>
            </a:r>
          </a:p>
        </p:txBody>
      </p:sp>
      <p:sp>
        <p:nvSpPr>
          <p:cNvPr id="235" name="Shape 39"/>
          <p:cNvSpPr/>
          <p:nvPr/>
        </p:nvSpPr>
        <p:spPr>
          <a:xfrm>
            <a:off x="11820897" y="4778647"/>
            <a:ext cx="2041178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6" name="Shape 40"/>
          <p:cNvSpPr/>
          <p:nvPr/>
        </p:nvSpPr>
        <p:spPr>
          <a:xfrm>
            <a:off x="11820897" y="5334272"/>
            <a:ext cx="204117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7" name="Text 41"/>
          <p:cNvSpPr txBox="1"/>
          <p:nvPr/>
        </p:nvSpPr>
        <p:spPr>
          <a:xfrm>
            <a:off x="12030447" y="4911997"/>
            <a:ext cx="169827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s1 – s21</a:t>
            </a:r>
          </a:p>
        </p:txBody>
      </p:sp>
      <p:sp>
        <p:nvSpPr>
          <p:cNvPr id="238" name="Shape 42"/>
          <p:cNvSpPr/>
          <p:nvPr/>
        </p:nvSpPr>
        <p:spPr>
          <a:xfrm>
            <a:off x="13862074" y="4778647"/>
            <a:ext cx="3282925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9" name="Shape 43"/>
          <p:cNvSpPr/>
          <p:nvPr/>
        </p:nvSpPr>
        <p:spPr>
          <a:xfrm>
            <a:off x="13862074" y="5334272"/>
            <a:ext cx="328292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0" name="Text 44"/>
          <p:cNvSpPr txBox="1"/>
          <p:nvPr/>
        </p:nvSpPr>
        <p:spPr>
          <a:xfrm>
            <a:off x="14071624" y="4911997"/>
            <a:ext cx="2962314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Physical measurements</a:t>
            </a:r>
          </a:p>
        </p:txBody>
      </p:sp>
      <p:sp>
        <p:nvSpPr>
          <p:cNvPr id="241" name="Shape 45"/>
          <p:cNvSpPr/>
          <p:nvPr/>
        </p:nvSpPr>
        <p:spPr>
          <a:xfrm>
            <a:off x="9391650" y="5901010"/>
            <a:ext cx="242924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2" name="Text 46"/>
          <p:cNvSpPr txBox="1"/>
          <p:nvPr/>
        </p:nvSpPr>
        <p:spPr>
          <a:xfrm>
            <a:off x="9601200" y="5478734"/>
            <a:ext cx="208634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RUL (computed)</a:t>
            </a:r>
          </a:p>
        </p:txBody>
      </p:sp>
      <p:sp>
        <p:nvSpPr>
          <p:cNvPr id="243" name="Shape 47"/>
          <p:cNvSpPr/>
          <p:nvPr/>
        </p:nvSpPr>
        <p:spPr>
          <a:xfrm>
            <a:off x="11820897" y="5901010"/>
            <a:ext cx="204117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4" name="Text 48"/>
          <p:cNvSpPr txBox="1"/>
          <p:nvPr/>
        </p:nvSpPr>
        <p:spPr>
          <a:xfrm>
            <a:off x="12030447" y="5478734"/>
            <a:ext cx="169827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45" name="Shape 49"/>
          <p:cNvSpPr/>
          <p:nvPr/>
        </p:nvSpPr>
        <p:spPr>
          <a:xfrm>
            <a:off x="13862074" y="5901010"/>
            <a:ext cx="328292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6" name="Text 50"/>
          <p:cNvSpPr txBox="1"/>
          <p:nvPr/>
        </p:nvSpPr>
        <p:spPr>
          <a:xfrm>
            <a:off x="14071624" y="5478734"/>
            <a:ext cx="2962314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Target variable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9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CONCEPTS</a:t>
            </a:r>
          </a:p>
        </p:txBody>
      </p:sp>
      <p:sp>
        <p:nvSpPr>
          <p:cNvPr id="250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1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Remaining Useful Life (RUL)</a:t>
            </a:r>
          </a:p>
        </p:txBody>
      </p:sp>
      <p:sp>
        <p:nvSpPr>
          <p:cNvPr id="252" name="Text 4"/>
          <p:cNvSpPr txBox="1"/>
          <p:nvPr/>
        </p:nvSpPr>
        <p:spPr>
          <a:xfrm>
            <a:off x="1562100" y="2478359"/>
            <a:ext cx="75668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905255">
              <a:lnSpc>
                <a:spcPct val="140000"/>
              </a:lnSpc>
              <a:defRPr sz="237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RUL = number of flight cycles left before the engine fails</a:t>
            </a:r>
          </a:p>
        </p:txBody>
      </p:sp>
      <p:sp>
        <p:nvSpPr>
          <p:cNvPr id="253" name="Text 5"/>
          <p:cNvSpPr txBox="1"/>
          <p:nvPr/>
        </p:nvSpPr>
        <p:spPr>
          <a:xfrm>
            <a:off x="1562100" y="311460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Train set: </a:t>
            </a:r>
            <a:r>
              <a:rPr b="0">
                <a:solidFill>
                  <a:srgbClr val="1C3150"/>
                </a:solidFill>
              </a:rPr>
              <a:t>true RUL computed from the maximum cycle per engine</a:t>
            </a:r>
          </a:p>
        </p:txBody>
      </p:sp>
      <p:sp>
        <p:nvSpPr>
          <p:cNvPr id="254" name="Text 6"/>
          <p:cNvSpPr txBox="1"/>
          <p:nvPr/>
        </p:nvSpPr>
        <p:spPr>
          <a:xfrm>
            <a:off x="1562100" y="4177531"/>
            <a:ext cx="75668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Test set: </a:t>
            </a:r>
            <a:r>
              <a:rPr b="0">
                <a:solidFill>
                  <a:srgbClr val="1C3150"/>
                </a:solidFill>
              </a:rPr>
              <a:t>RUL must be predicted at the truncation point</a:t>
            </a:r>
          </a:p>
        </p:txBody>
      </p:sp>
      <p:sp>
        <p:nvSpPr>
          <p:cNvPr id="255" name="Text 7"/>
          <p:cNvSpPr txBox="1"/>
          <p:nvPr/>
        </p:nvSpPr>
        <p:spPr>
          <a:xfrm>
            <a:off x="1562100" y="481377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Capped at </a:t>
            </a:r>
            <a:r>
              <a:rPr b="1">
                <a:solidFill>
                  <a:srgbClr val="12294A"/>
                </a:solidFill>
              </a:rPr>
              <a:t>125 cycles </a:t>
            </a:r>
            <a:r>
              <a:t>— early healthy cycles contribute equally</a:t>
            </a:r>
          </a:p>
        </p:txBody>
      </p:sp>
      <p:sp>
        <p:nvSpPr>
          <p:cNvPr id="256" name="Text 8"/>
          <p:cNvSpPr txBox="1"/>
          <p:nvPr/>
        </p:nvSpPr>
        <p:spPr>
          <a:xfrm>
            <a:off x="1562100" y="5876702"/>
            <a:ext cx="7566850" cy="901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96111">
              <a:lnSpc>
                <a:spcPct val="140000"/>
              </a:lnSpc>
              <a:defRPr sz="2352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Ground truth provided separately as </a:t>
            </a:r>
            <a:r>
              <a:rPr>
                <a:latin typeface="monospace"/>
                <a:ea typeface="monospace"/>
                <a:cs typeface="monospace"/>
                <a:sym typeface="monospace"/>
              </a:rPr>
              <a:t>rul.txt </a:t>
            </a:r>
            <a:r>
              <a:t>for evaluation</a:t>
            </a:r>
          </a:p>
        </p:txBody>
      </p:sp>
      <p:sp>
        <p:nvSpPr>
          <p:cNvPr id="257" name="Shape 9"/>
          <p:cNvSpPr/>
          <p:nvPr/>
        </p:nvSpPr>
        <p:spPr>
          <a:xfrm>
            <a:off x="9391650" y="2956396"/>
            <a:ext cx="7753350" cy="3305176"/>
          </a:xfrm>
          <a:prstGeom prst="roundRect">
            <a:avLst>
              <a:gd name="adj" fmla="val 4611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8" name="Shape 10"/>
          <p:cNvSpPr/>
          <p:nvPr/>
        </p:nvSpPr>
        <p:spPr>
          <a:xfrm>
            <a:off x="9782175" y="3499320"/>
            <a:ext cx="6972300" cy="838201"/>
          </a:xfrm>
          <a:prstGeom prst="roundRect">
            <a:avLst>
              <a:gd name="adj" fmla="val 13636"/>
            </a:avLst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9" name="Text 11"/>
          <p:cNvSpPr txBox="1"/>
          <p:nvPr/>
        </p:nvSpPr>
        <p:spPr>
          <a:xfrm>
            <a:off x="10058589" y="3766020"/>
            <a:ext cx="641947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defRPr sz="21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RUL(cycle t) = max_cycle − t</a:t>
            </a:r>
          </a:p>
        </p:txBody>
      </p:sp>
      <p:sp>
        <p:nvSpPr>
          <p:cNvPr id="260" name="Shape 12"/>
          <p:cNvSpPr/>
          <p:nvPr/>
        </p:nvSpPr>
        <p:spPr>
          <a:xfrm>
            <a:off x="9782175" y="4716933"/>
            <a:ext cx="697230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1" name="Text 13"/>
          <p:cNvSpPr txBox="1"/>
          <p:nvPr/>
        </p:nvSpPr>
        <p:spPr>
          <a:xfrm>
            <a:off x="9744075" y="4918545"/>
            <a:ext cx="105340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96111">
              <a:defRPr b="1" sz="3234">
                <a:solidFill>
                  <a:srgbClr val="27AE6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125</a:t>
            </a:r>
          </a:p>
        </p:txBody>
      </p:sp>
      <p:sp>
        <p:nvSpPr>
          <p:cNvPr id="262" name="Text 14"/>
          <p:cNvSpPr txBox="1"/>
          <p:nvPr/>
        </p:nvSpPr>
        <p:spPr>
          <a:xfrm>
            <a:off x="9744075" y="5413845"/>
            <a:ext cx="1053405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sz="1746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Cap value</a:t>
            </a:r>
          </a:p>
        </p:txBody>
      </p:sp>
      <p:sp>
        <p:nvSpPr>
          <p:cNvPr id="263" name="Text 15"/>
          <p:cNvSpPr txBox="1"/>
          <p:nvPr/>
        </p:nvSpPr>
        <p:spPr>
          <a:xfrm>
            <a:off x="12564219" y="4918545"/>
            <a:ext cx="15256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96111">
              <a:defRPr b="1" sz="3234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78</a:t>
            </a:r>
          </a:p>
        </p:txBody>
      </p:sp>
      <p:sp>
        <p:nvSpPr>
          <p:cNvPr id="264" name="Text 16"/>
          <p:cNvSpPr txBox="1"/>
          <p:nvPr/>
        </p:nvSpPr>
        <p:spPr>
          <a:xfrm>
            <a:off x="12564219" y="5413845"/>
            <a:ext cx="1525638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77823">
              <a:defRPr sz="1727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Mean test RUL</a:t>
            </a:r>
          </a:p>
        </p:txBody>
      </p:sp>
      <p:sp>
        <p:nvSpPr>
          <p:cNvPr id="265" name="Text 17"/>
          <p:cNvSpPr txBox="1"/>
          <p:nvPr/>
        </p:nvSpPr>
        <p:spPr>
          <a:xfrm>
            <a:off x="15856520" y="4918545"/>
            <a:ext cx="93605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96111">
              <a:defRPr b="1" sz="3234">
                <a:solidFill>
                  <a:srgbClr val="C0392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266" name="Text 18"/>
          <p:cNvSpPr txBox="1"/>
          <p:nvPr/>
        </p:nvSpPr>
        <p:spPr>
          <a:xfrm>
            <a:off x="15856520" y="5413845"/>
            <a:ext cx="936055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sz="1746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At failure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2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 0"/>
          <p:cNvSpPr txBox="1"/>
          <p:nvPr/>
        </p:nvSpPr>
        <p:spPr>
          <a:xfrm>
            <a:off x="8628236" y="4156695"/>
            <a:ext cx="1031454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pc="291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PART 1</a:t>
            </a:r>
          </a:p>
        </p:txBody>
      </p:sp>
      <p:sp>
        <p:nvSpPr>
          <p:cNvPr id="269" name="Text 1"/>
          <p:cNvSpPr txBox="1"/>
          <p:nvPr/>
        </p:nvSpPr>
        <p:spPr>
          <a:xfrm>
            <a:off x="5985321" y="4690095"/>
            <a:ext cx="6317358" cy="792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22959">
              <a:lnSpc>
                <a:spcPct val="110000"/>
              </a:lnSpc>
              <a:defRPr b="1" sz="486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Data Preprocessing</a:t>
            </a:r>
          </a:p>
        </p:txBody>
      </p:sp>
      <p:sp>
        <p:nvSpPr>
          <p:cNvPr id="270" name="Text 2"/>
          <p:cNvSpPr txBox="1"/>
          <p:nvPr/>
        </p:nvSpPr>
        <p:spPr>
          <a:xfrm>
            <a:off x="6317124" y="5749230"/>
            <a:ext cx="5653676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77823">
              <a:defRPr sz="2400">
                <a:solidFill>
                  <a:srgbClr val="FFFFFF">
                    <a:alpha val="64999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Setting up the sensor data for modelling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3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PREPROCESSING</a:t>
            </a:r>
          </a:p>
        </p:txBody>
      </p:sp>
      <p:sp>
        <p:nvSpPr>
          <p:cNvPr id="274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5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Dropping Useless Sensors</a:t>
            </a:r>
          </a:p>
        </p:txBody>
      </p:sp>
      <p:sp>
        <p:nvSpPr>
          <p:cNvPr id="276" name="Text 4"/>
          <p:cNvSpPr txBox="1"/>
          <p:nvPr/>
        </p:nvSpPr>
        <p:spPr>
          <a:xfrm>
            <a:off x="1562100" y="2478359"/>
            <a:ext cx="75668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sz="24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Of 21 sensors, </a:t>
            </a:r>
            <a:r>
              <a:rPr b="1">
                <a:solidFill>
                  <a:srgbClr val="12294A"/>
                </a:solidFill>
              </a:rPr>
              <a:t>7 are near-constant </a:t>
            </a:r>
            <a:r>
              <a:t>across all rows</a:t>
            </a:r>
          </a:p>
        </p:txBody>
      </p:sp>
      <p:sp>
        <p:nvSpPr>
          <p:cNvPr id="277" name="Text 5"/>
          <p:cNvSpPr txBox="1"/>
          <p:nvPr/>
        </p:nvSpPr>
        <p:spPr>
          <a:xfrm>
            <a:off x="1562100" y="311460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Standard deviation &lt; 0.1 — they carry zero information about degradation</a:t>
            </a:r>
          </a:p>
        </p:txBody>
      </p:sp>
      <p:sp>
        <p:nvSpPr>
          <p:cNvPr id="278" name="Text 6"/>
          <p:cNvSpPr txBox="1"/>
          <p:nvPr/>
        </p:nvSpPr>
        <p:spPr>
          <a:xfrm>
            <a:off x="1562100" y="4177531"/>
            <a:ext cx="75668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z="24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Keeping them adds noise to every model</a:t>
            </a:r>
          </a:p>
        </p:txBody>
      </p:sp>
      <p:sp>
        <p:nvSpPr>
          <p:cNvPr id="279" name="Text 7"/>
          <p:cNvSpPr txBox="1"/>
          <p:nvPr/>
        </p:nvSpPr>
        <p:spPr>
          <a:xfrm>
            <a:off x="1562100" y="4813770"/>
            <a:ext cx="75668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Dropped: </a:t>
            </a:r>
            <a:r>
              <a:rPr b="0">
                <a:solidFill>
                  <a:srgbClr val="1C3150"/>
                </a:solidFill>
              </a:rPr>
              <a:t>s1, s5, s6, s10, s16, s18, s19</a:t>
            </a:r>
          </a:p>
        </p:txBody>
      </p:sp>
      <p:sp>
        <p:nvSpPr>
          <p:cNvPr id="280" name="Text 8"/>
          <p:cNvSpPr txBox="1"/>
          <p:nvPr/>
        </p:nvSpPr>
        <p:spPr>
          <a:xfrm>
            <a:off x="1562100" y="5450011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14 sensors remain: </a:t>
            </a:r>
            <a:r>
              <a:rPr b="0">
                <a:solidFill>
                  <a:srgbClr val="1C3150"/>
                </a:solidFill>
              </a:rPr>
              <a:t>s2, s3, s4, s7, s8, s9, s11, s12, s13, s14, s15, s17, s20, s21</a:t>
            </a:r>
          </a:p>
        </p:txBody>
      </p:sp>
      <p:sp>
        <p:nvSpPr>
          <p:cNvPr id="281" name="Shape 9"/>
          <p:cNvSpPr/>
          <p:nvPr/>
        </p:nvSpPr>
        <p:spPr>
          <a:xfrm>
            <a:off x="9391650" y="2478359"/>
            <a:ext cx="7753350" cy="3825033"/>
          </a:xfrm>
          <a:prstGeom prst="roundRect">
            <a:avLst>
              <a:gd name="adj" fmla="val 398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2" name="Text 10"/>
          <p:cNvSpPr txBox="1"/>
          <p:nvPr/>
        </p:nvSpPr>
        <p:spPr>
          <a:xfrm>
            <a:off x="10212585" y="2916882"/>
            <a:ext cx="1895849" cy="938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z="5820">
                <a:solidFill>
                  <a:srgbClr val="C0392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283" name="Text 11"/>
          <p:cNvSpPr txBox="1"/>
          <p:nvPr/>
        </p:nvSpPr>
        <p:spPr>
          <a:xfrm>
            <a:off x="10212585" y="3816994"/>
            <a:ext cx="1895849" cy="619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905255">
              <a:defRPr sz="1881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Sensors dropped (near-constant)</a:t>
            </a:r>
          </a:p>
        </p:txBody>
      </p:sp>
      <p:sp>
        <p:nvSpPr>
          <p:cNvPr id="284" name="Text 12"/>
          <p:cNvSpPr txBox="1"/>
          <p:nvPr/>
        </p:nvSpPr>
        <p:spPr>
          <a:xfrm>
            <a:off x="12969403" y="3297882"/>
            <a:ext cx="630437" cy="765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defRPr sz="4800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285" name="Text 13"/>
          <p:cNvSpPr txBox="1"/>
          <p:nvPr/>
        </p:nvSpPr>
        <p:spPr>
          <a:xfrm>
            <a:off x="14460735" y="2916882"/>
            <a:ext cx="1863179" cy="938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z="5820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286" name="Text 14"/>
          <p:cNvSpPr txBox="1"/>
          <p:nvPr/>
        </p:nvSpPr>
        <p:spPr>
          <a:xfrm>
            <a:off x="14460735" y="3816994"/>
            <a:ext cx="1863179" cy="619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905255">
              <a:defRPr sz="1881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Sensors retained (informative)</a:t>
            </a:r>
          </a:p>
        </p:txBody>
      </p:sp>
      <p:sp>
        <p:nvSpPr>
          <p:cNvPr id="287" name="Shape 15"/>
          <p:cNvSpPr/>
          <p:nvPr/>
        </p:nvSpPr>
        <p:spPr>
          <a:xfrm>
            <a:off x="9782175" y="4664719"/>
            <a:ext cx="6972300" cy="1200151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8" name="Shape 16"/>
          <p:cNvSpPr/>
          <p:nvPr/>
        </p:nvSpPr>
        <p:spPr>
          <a:xfrm>
            <a:off x="9782175" y="4664719"/>
            <a:ext cx="57150" cy="1200151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9" name="Text 17"/>
          <p:cNvSpPr txBox="1"/>
          <p:nvPr/>
        </p:nvSpPr>
        <p:spPr>
          <a:xfrm>
            <a:off x="10039540" y="4893319"/>
            <a:ext cx="6514719" cy="78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lnSpc>
                <a:spcPct val="150000"/>
              </a:lnSpc>
              <a:defRPr sz="19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Variance-based selection — a deterministic, data-driven filter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2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PREPROCESSING</a:t>
            </a:r>
          </a:p>
        </p:txBody>
      </p:sp>
      <p:sp>
        <p:nvSpPr>
          <p:cNvPr id="293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4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Operating Condition Clustering (KMeans)</a:t>
            </a:r>
          </a:p>
        </p:txBody>
      </p:sp>
      <p:sp>
        <p:nvSpPr>
          <p:cNvPr id="295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Three operating columns (op1, op2, op3) define the flying condition each cycle</a:t>
            </a:r>
          </a:p>
        </p:txBody>
      </p:sp>
      <p:sp>
        <p:nvSpPr>
          <p:cNvPr id="296" name="Text 5"/>
          <p:cNvSpPr txBox="1"/>
          <p:nvPr/>
        </p:nvSpPr>
        <p:spPr>
          <a:xfrm>
            <a:off x="1562100" y="354129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KMeans fitted on </a:t>
            </a:r>
            <a:r>
              <a:rPr b="1">
                <a:solidFill>
                  <a:srgbClr val="12294A"/>
                </a:solidFill>
              </a:rPr>
              <a:t>training data only </a:t>
            </a:r>
            <a:r>
              <a:t>— then applied to test data</a:t>
            </a:r>
          </a:p>
        </p:txBody>
      </p:sp>
      <p:sp>
        <p:nvSpPr>
          <p:cNvPr id="297" name="Text 6"/>
          <p:cNvSpPr txBox="1"/>
          <p:nvPr/>
        </p:nvSpPr>
        <p:spPr>
          <a:xfrm>
            <a:off x="1562100" y="4604220"/>
            <a:ext cx="7566850" cy="910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sz="24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Each row gets a label </a:t>
            </a:r>
            <a:r>
              <a:rPr>
                <a:latin typeface="monospace"/>
                <a:ea typeface="monospace"/>
                <a:cs typeface="monospace"/>
                <a:sym typeface="monospace"/>
              </a:rPr>
              <a:t>op_cluster ∈ {0, 1, 2, 3, 4, 5}</a:t>
            </a:r>
          </a:p>
        </p:txBody>
      </p:sp>
      <p:sp>
        <p:nvSpPr>
          <p:cNvPr id="298" name="Text 7"/>
          <p:cNvSpPr txBox="1"/>
          <p:nvPr/>
        </p:nvSpPr>
        <p:spPr>
          <a:xfrm>
            <a:off x="1562100" y="568620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Critical: fitting on training data ensures a </a:t>
            </a:r>
            <a:r>
              <a:rPr b="1">
                <a:solidFill>
                  <a:srgbClr val="12294A"/>
                </a:solidFill>
              </a:rPr>
              <a:t>consistent coordinate system </a:t>
            </a:r>
            <a:r>
              <a:t>across train and test</a:t>
            </a:r>
          </a:p>
        </p:txBody>
      </p:sp>
      <p:sp>
        <p:nvSpPr>
          <p:cNvPr id="299" name="Text 8"/>
          <p:cNvSpPr txBox="1"/>
          <p:nvPr/>
        </p:nvSpPr>
        <p:spPr>
          <a:xfrm>
            <a:off x="1562100" y="6749132"/>
            <a:ext cx="75668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sz="24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Cluster labels saved as </a:t>
            </a:r>
            <a:r>
              <a:rPr b="1">
                <a:solidFill>
                  <a:srgbClr val="12294A"/>
                </a:solidFill>
              </a:rPr>
              <a:t>artifact </a:t>
            </a:r>
            <a:r>
              <a:t>for inference-time use</a:t>
            </a:r>
          </a:p>
        </p:txBody>
      </p:sp>
      <p:sp>
        <p:nvSpPr>
          <p:cNvPr id="300" name="Shape 9"/>
          <p:cNvSpPr/>
          <p:nvPr/>
        </p:nvSpPr>
        <p:spPr>
          <a:xfrm>
            <a:off x="9391650" y="2478359"/>
            <a:ext cx="7753350" cy="4697464"/>
          </a:xfrm>
          <a:prstGeom prst="roundRect">
            <a:avLst>
              <a:gd name="adj" fmla="val 324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1" name="Text 10"/>
          <p:cNvSpPr txBox="1"/>
          <p:nvPr/>
        </p:nvSpPr>
        <p:spPr>
          <a:xfrm>
            <a:off x="9782175" y="2955428"/>
            <a:ext cx="7181468" cy="384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defRPr b="1" sz="22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Why k = 6?</a:t>
            </a:r>
          </a:p>
        </p:txBody>
      </p:sp>
      <p:sp>
        <p:nvSpPr>
          <p:cNvPr id="302" name="Shape 11"/>
          <p:cNvSpPr/>
          <p:nvPr/>
        </p:nvSpPr>
        <p:spPr>
          <a:xfrm>
            <a:off x="9782175" y="3560266"/>
            <a:ext cx="6972300" cy="1171576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3" name="Shape 12"/>
          <p:cNvSpPr/>
          <p:nvPr/>
        </p:nvSpPr>
        <p:spPr>
          <a:xfrm>
            <a:off x="9782175" y="3560266"/>
            <a:ext cx="57150" cy="1171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4" name="Text 13"/>
          <p:cNvSpPr txBox="1"/>
          <p:nvPr/>
        </p:nvSpPr>
        <p:spPr>
          <a:xfrm>
            <a:off x="10144125" y="3788866"/>
            <a:ext cx="6514718" cy="7524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0000"/>
              </a:lnSpc>
              <a:defRPr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FD004 has exactly 6 distinct operating conditions. KMeans k=6 captures each condition as a separate cluster.</a:t>
            </a:r>
          </a:p>
        </p:txBody>
      </p:sp>
      <p:sp>
        <p:nvSpPr>
          <p:cNvPr id="305" name="Text 14"/>
          <p:cNvSpPr txBox="1"/>
          <p:nvPr/>
        </p:nvSpPr>
        <p:spPr>
          <a:xfrm>
            <a:off x="9782175" y="4998541"/>
            <a:ext cx="7181468" cy="384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defRPr b="1" sz="22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Adaptive k for other subsets</a:t>
            </a:r>
          </a:p>
        </p:txBody>
      </p:sp>
      <p:sp>
        <p:nvSpPr>
          <p:cNvPr id="306" name="Shape 15"/>
          <p:cNvSpPr/>
          <p:nvPr/>
        </p:nvSpPr>
        <p:spPr>
          <a:xfrm>
            <a:off x="9782175" y="5527178"/>
            <a:ext cx="6972300" cy="1171576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7" name="Shape 16"/>
          <p:cNvSpPr/>
          <p:nvPr/>
        </p:nvSpPr>
        <p:spPr>
          <a:xfrm>
            <a:off x="9782175" y="5527178"/>
            <a:ext cx="57150" cy="1171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8" name="Text 17"/>
          <p:cNvSpPr txBox="1"/>
          <p:nvPr/>
        </p:nvSpPr>
        <p:spPr>
          <a:xfrm>
            <a:off x="10144125" y="5755778"/>
            <a:ext cx="6514718" cy="7524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0000"/>
              </a:lnSpc>
              <a:defRPr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FD001/FD003 clamp to actual distinct op-condition count — prevents over-segmentation on simpler datasets.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1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PREPROCESSING</a:t>
            </a:r>
          </a:p>
        </p:txBody>
      </p:sp>
      <p:sp>
        <p:nvSpPr>
          <p:cNvPr id="312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3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Per-Cluster StandardScaler</a:t>
            </a:r>
          </a:p>
        </p:txBody>
      </p:sp>
      <p:sp>
        <p:nvSpPr>
          <p:cNvPr id="314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For each of the 6 clusters, compute mean &amp; std of each sensor across </a:t>
            </a:r>
            <a:r>
              <a:rPr b="1">
                <a:solidFill>
                  <a:srgbClr val="12294A"/>
                </a:solidFill>
              </a:rPr>
              <a:t>training rows only</a:t>
            </a:r>
          </a:p>
        </p:txBody>
      </p:sp>
      <p:sp>
        <p:nvSpPr>
          <p:cNvPr id="315" name="Text 5"/>
          <p:cNvSpPr txBox="1"/>
          <p:nvPr/>
        </p:nvSpPr>
        <p:spPr>
          <a:xfrm>
            <a:off x="1562100" y="3541290"/>
            <a:ext cx="7566850" cy="910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sz="24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Each value scaled: </a:t>
            </a:r>
            <a:r>
              <a:rPr>
                <a:latin typeface="monospace"/>
                <a:ea typeface="monospace"/>
                <a:cs typeface="monospace"/>
                <a:sym typeface="monospace"/>
              </a:rPr>
              <a:t>(raw − cluster_mean) / cluster_std</a:t>
            </a:r>
          </a:p>
        </p:txBody>
      </p:sp>
      <p:sp>
        <p:nvSpPr>
          <p:cNvPr id="316" name="Text 6"/>
          <p:cNvSpPr txBox="1"/>
          <p:nvPr/>
        </p:nvSpPr>
        <p:spPr>
          <a:xfrm>
            <a:off x="1562100" y="462327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Removes altitude/speed baseline </a:t>
            </a:r>
            <a:r>
              <a:rPr b="0">
                <a:solidFill>
                  <a:srgbClr val="1C3150"/>
                </a:solidFill>
              </a:rPr>
              <a:t>— what remains is deviation from normal</a:t>
            </a:r>
          </a:p>
        </p:txBody>
      </p:sp>
      <p:sp>
        <p:nvSpPr>
          <p:cNvPr id="317" name="Text 7"/>
          <p:cNvSpPr txBox="1"/>
          <p:nvPr/>
        </p:nvSpPr>
        <p:spPr>
          <a:xfrm>
            <a:off x="1562100" y="568620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 healthy engine in any condition has sensor values near </a:t>
            </a:r>
            <a:r>
              <a:rPr b="1">
                <a:solidFill>
                  <a:srgbClr val="12294A"/>
                </a:solidFill>
              </a:rPr>
              <a:t>zero</a:t>
            </a:r>
          </a:p>
        </p:txBody>
      </p:sp>
      <p:sp>
        <p:nvSpPr>
          <p:cNvPr id="318" name="Text 8"/>
          <p:cNvSpPr txBox="1"/>
          <p:nvPr/>
        </p:nvSpPr>
        <p:spPr>
          <a:xfrm>
            <a:off x="1562100" y="674913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 degrading engine has increasingly large z-scores — signal preserved, not clipped</a:t>
            </a:r>
          </a:p>
        </p:txBody>
      </p:sp>
      <p:sp>
        <p:nvSpPr>
          <p:cNvPr id="319" name="Shape 9"/>
          <p:cNvSpPr/>
          <p:nvPr/>
        </p:nvSpPr>
        <p:spPr>
          <a:xfrm>
            <a:off x="9391650" y="2630759"/>
            <a:ext cx="7753350" cy="838201"/>
          </a:xfrm>
          <a:prstGeom prst="roundRect">
            <a:avLst>
              <a:gd name="adj" fmla="val 13636"/>
            </a:avLst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0" name="Text 10"/>
          <p:cNvSpPr txBox="1"/>
          <p:nvPr/>
        </p:nvSpPr>
        <p:spPr>
          <a:xfrm>
            <a:off x="9656350" y="2897459"/>
            <a:ext cx="722395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defRPr sz="21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scaled = (raw − cluster_mean) / cluster_std</a:t>
            </a:r>
          </a:p>
        </p:txBody>
      </p:sp>
      <p:sp>
        <p:nvSpPr>
          <p:cNvPr id="321" name="Shape 11"/>
          <p:cNvSpPr/>
          <p:nvPr/>
        </p:nvSpPr>
        <p:spPr>
          <a:xfrm>
            <a:off x="9391650" y="3849959"/>
            <a:ext cx="7753350" cy="2490790"/>
          </a:xfrm>
          <a:prstGeom prst="roundRect">
            <a:avLst>
              <a:gd name="adj" fmla="val 611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2" name="Shape 12"/>
          <p:cNvSpPr/>
          <p:nvPr/>
        </p:nvSpPr>
        <p:spPr>
          <a:xfrm>
            <a:off x="9391650" y="6329635"/>
            <a:ext cx="775335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3" name="Shape 13"/>
          <p:cNvSpPr/>
          <p:nvPr/>
        </p:nvSpPr>
        <p:spPr>
          <a:xfrm>
            <a:off x="9391650" y="3848372"/>
            <a:ext cx="775335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4" name="Shape 14"/>
          <p:cNvSpPr/>
          <p:nvPr/>
        </p:nvSpPr>
        <p:spPr>
          <a:xfrm>
            <a:off x="9391650" y="3849959"/>
            <a:ext cx="57150" cy="2490790"/>
          </a:xfrm>
          <a:prstGeom prst="rect">
            <a:avLst/>
          </a:prstGeom>
          <a:solidFill>
            <a:srgbClr val="C0392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5" name="Shape 15"/>
          <p:cNvSpPr/>
          <p:nvPr/>
        </p:nvSpPr>
        <p:spPr>
          <a:xfrm>
            <a:off x="17133887" y="3849959"/>
            <a:ext cx="12701" cy="2490790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6" name="Text 16"/>
          <p:cNvSpPr txBox="1"/>
          <p:nvPr/>
        </p:nvSpPr>
        <p:spPr>
          <a:xfrm>
            <a:off x="9829800" y="4240484"/>
            <a:ext cx="7132416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C0392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Why NOT MinMaxScaler?</a:t>
            </a:r>
          </a:p>
        </p:txBody>
      </p:sp>
      <p:sp>
        <p:nvSpPr>
          <p:cNvPr id="327" name="Text 17"/>
          <p:cNvSpPr txBox="1"/>
          <p:nvPr/>
        </p:nvSpPr>
        <p:spPr>
          <a:xfrm>
            <a:off x="9829800" y="4792934"/>
            <a:ext cx="7132416" cy="119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50000"/>
              </a:lnSpc>
              <a:defRPr sz="1879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Near-failure sensors can exceed training range extremes. MinMaxScaler silently clips at 0–1. StandardScaler represents them as large z-scores — preserving the degradation signal.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30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FEATURE ENGINEERING</a:t>
            </a:r>
          </a:p>
        </p:txBody>
      </p:sp>
      <p:sp>
        <p:nvSpPr>
          <p:cNvPr id="331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32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Rolling Features</a:t>
            </a:r>
          </a:p>
        </p:txBody>
      </p:sp>
      <p:sp>
        <p:nvSpPr>
          <p:cNvPr id="333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For each of 14 sensors: compute rolling </a:t>
            </a:r>
            <a:r>
              <a:rPr b="1">
                <a:solidFill>
                  <a:srgbClr val="12294A"/>
                </a:solidFill>
              </a:rPr>
              <a:t>mean </a:t>
            </a:r>
            <a:r>
              <a:t>and rolling </a:t>
            </a:r>
            <a:r>
              <a:rPr b="1">
                <a:solidFill>
                  <a:srgbClr val="12294A"/>
                </a:solidFill>
              </a:rPr>
              <a:t>std</a:t>
            </a:r>
          </a:p>
        </p:txBody>
      </p:sp>
      <p:sp>
        <p:nvSpPr>
          <p:cNvPr id="334" name="Text 5"/>
          <p:cNvSpPr txBox="1"/>
          <p:nvPr/>
        </p:nvSpPr>
        <p:spPr>
          <a:xfrm>
            <a:off x="1562100" y="3541290"/>
            <a:ext cx="75668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sz="24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Window sizes: </a:t>
            </a:r>
            <a:r>
              <a:rPr b="1">
                <a:solidFill>
                  <a:srgbClr val="12294A"/>
                </a:solidFill>
              </a:rPr>
              <a:t>5 cycles </a:t>
            </a:r>
            <a:r>
              <a:t>and </a:t>
            </a:r>
            <a:r>
              <a:rPr b="1">
                <a:solidFill>
                  <a:srgbClr val="12294A"/>
                </a:solidFill>
              </a:rPr>
              <a:t>10 cycles</a:t>
            </a:r>
          </a:p>
        </p:txBody>
      </p:sp>
      <p:sp>
        <p:nvSpPr>
          <p:cNvPr id="335" name="Text 6"/>
          <p:cNvSpPr txBox="1"/>
          <p:nvPr/>
        </p:nvSpPr>
        <p:spPr>
          <a:xfrm>
            <a:off x="1562100" y="4177531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Result: 14 × 2 (mean/std) × 2 (windows) = </a:t>
            </a:r>
            <a:r>
              <a:rPr b="1">
                <a:solidFill>
                  <a:srgbClr val="12294A"/>
                </a:solidFill>
              </a:rPr>
              <a:t>56 rolling features</a:t>
            </a:r>
          </a:p>
        </p:txBody>
      </p:sp>
      <p:sp>
        <p:nvSpPr>
          <p:cNvPr id="336" name="Text 7"/>
          <p:cNvSpPr txBox="1"/>
          <p:nvPr/>
        </p:nvSpPr>
        <p:spPr>
          <a:xfrm>
            <a:off x="1562100" y="5240461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Sorted by (engine_id, cycle) first — prevents cross-engine contamination</a:t>
            </a:r>
          </a:p>
        </p:txBody>
      </p:sp>
      <p:sp>
        <p:nvSpPr>
          <p:cNvPr id="337" name="Text 8"/>
          <p:cNvSpPr txBox="1"/>
          <p:nvPr/>
        </p:nvSpPr>
        <p:spPr>
          <a:xfrm>
            <a:off x="1562100" y="6303391"/>
            <a:ext cx="7566850" cy="901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Lambda closure bug fixed: </a:t>
            </a:r>
            <a:r>
              <a:rPr>
                <a:latin typeface="monospace"/>
                <a:ea typeface="monospace"/>
                <a:cs typeface="monospace"/>
                <a:sym typeface="monospace"/>
              </a:rPr>
              <a:t>lambda x, w=window </a:t>
            </a:r>
            <a:r>
              <a:t>ensures correct capture</a:t>
            </a:r>
          </a:p>
        </p:txBody>
      </p:sp>
      <p:sp>
        <p:nvSpPr>
          <p:cNvPr id="338" name="Shape 9"/>
          <p:cNvSpPr/>
          <p:nvPr/>
        </p:nvSpPr>
        <p:spPr>
          <a:xfrm>
            <a:off x="9391650" y="2478359"/>
            <a:ext cx="7753350" cy="4772026"/>
          </a:xfrm>
          <a:prstGeom prst="roundRect">
            <a:avLst>
              <a:gd name="adj" fmla="val 319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9" name="Text 10"/>
          <p:cNvSpPr txBox="1"/>
          <p:nvPr/>
        </p:nvSpPr>
        <p:spPr>
          <a:xfrm>
            <a:off x="9782175" y="2868884"/>
            <a:ext cx="718146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Shared Conventions</a:t>
            </a:r>
          </a:p>
        </p:txBody>
      </p:sp>
      <p:sp>
        <p:nvSpPr>
          <p:cNvPr id="340" name="Shape 11"/>
          <p:cNvSpPr/>
          <p:nvPr/>
        </p:nvSpPr>
        <p:spPr>
          <a:xfrm>
            <a:off x="9782175" y="3421334"/>
            <a:ext cx="3383980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1" name="Text 12"/>
          <p:cNvSpPr txBox="1"/>
          <p:nvPr/>
        </p:nvSpPr>
        <p:spPr>
          <a:xfrm>
            <a:off x="9991725" y="3573734"/>
            <a:ext cx="3066400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Setting</a:t>
            </a:r>
          </a:p>
        </p:txBody>
      </p:sp>
      <p:sp>
        <p:nvSpPr>
          <p:cNvPr id="342" name="Shape 13"/>
          <p:cNvSpPr/>
          <p:nvPr/>
        </p:nvSpPr>
        <p:spPr>
          <a:xfrm>
            <a:off x="13166154" y="3421334"/>
            <a:ext cx="3588322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3" name="Text 14"/>
          <p:cNvSpPr txBox="1"/>
          <p:nvPr/>
        </p:nvSpPr>
        <p:spPr>
          <a:xfrm>
            <a:off x="13375704" y="3573734"/>
            <a:ext cx="3276871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Value</a:t>
            </a:r>
          </a:p>
        </p:txBody>
      </p:sp>
      <p:sp>
        <p:nvSpPr>
          <p:cNvPr id="344" name="Shape 15"/>
          <p:cNvSpPr/>
          <p:nvPr/>
        </p:nvSpPr>
        <p:spPr>
          <a:xfrm>
            <a:off x="9782175" y="4577035"/>
            <a:ext cx="338398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5" name="Text 16"/>
          <p:cNvSpPr txBox="1"/>
          <p:nvPr/>
        </p:nvSpPr>
        <p:spPr>
          <a:xfrm>
            <a:off x="9991725" y="4159522"/>
            <a:ext cx="3066400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RUL cap</a:t>
            </a:r>
          </a:p>
        </p:txBody>
      </p:sp>
      <p:sp>
        <p:nvSpPr>
          <p:cNvPr id="346" name="Shape 17"/>
          <p:cNvSpPr/>
          <p:nvPr/>
        </p:nvSpPr>
        <p:spPr>
          <a:xfrm>
            <a:off x="13166154" y="4577035"/>
            <a:ext cx="3588322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7" name="Text 18"/>
          <p:cNvSpPr txBox="1"/>
          <p:nvPr/>
        </p:nvSpPr>
        <p:spPr>
          <a:xfrm>
            <a:off x="13375704" y="4159522"/>
            <a:ext cx="3276871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125 cycles</a:t>
            </a:r>
          </a:p>
        </p:txBody>
      </p:sp>
      <p:sp>
        <p:nvSpPr>
          <p:cNvPr id="348" name="Shape 19"/>
          <p:cNvSpPr/>
          <p:nvPr/>
        </p:nvSpPr>
        <p:spPr>
          <a:xfrm>
            <a:off x="9782175" y="4588147"/>
            <a:ext cx="3383980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9" name="Shape 20"/>
          <p:cNvSpPr/>
          <p:nvPr/>
        </p:nvSpPr>
        <p:spPr>
          <a:xfrm>
            <a:off x="9782175" y="5143772"/>
            <a:ext cx="338398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0" name="Text 21"/>
          <p:cNvSpPr txBox="1"/>
          <p:nvPr/>
        </p:nvSpPr>
        <p:spPr>
          <a:xfrm>
            <a:off x="9991725" y="4721497"/>
            <a:ext cx="3066400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Sequence window (DL)</a:t>
            </a:r>
          </a:p>
        </p:txBody>
      </p:sp>
      <p:sp>
        <p:nvSpPr>
          <p:cNvPr id="351" name="Shape 22"/>
          <p:cNvSpPr/>
          <p:nvPr/>
        </p:nvSpPr>
        <p:spPr>
          <a:xfrm>
            <a:off x="13166154" y="4588147"/>
            <a:ext cx="3588322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2" name="Shape 23"/>
          <p:cNvSpPr/>
          <p:nvPr/>
        </p:nvSpPr>
        <p:spPr>
          <a:xfrm>
            <a:off x="13166154" y="5143772"/>
            <a:ext cx="3588322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3" name="Text 24"/>
          <p:cNvSpPr txBox="1"/>
          <p:nvPr/>
        </p:nvSpPr>
        <p:spPr>
          <a:xfrm>
            <a:off x="13375704" y="4721497"/>
            <a:ext cx="3276871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30 cycles</a:t>
            </a:r>
          </a:p>
        </p:txBody>
      </p:sp>
      <p:sp>
        <p:nvSpPr>
          <p:cNvPr id="354" name="Shape 25"/>
          <p:cNvSpPr/>
          <p:nvPr/>
        </p:nvSpPr>
        <p:spPr>
          <a:xfrm>
            <a:off x="9782175" y="5710510"/>
            <a:ext cx="338398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5" name="Text 26"/>
          <p:cNvSpPr txBox="1"/>
          <p:nvPr/>
        </p:nvSpPr>
        <p:spPr>
          <a:xfrm>
            <a:off x="9991725" y="5288234"/>
            <a:ext cx="3066400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Train/val split</a:t>
            </a:r>
          </a:p>
        </p:txBody>
      </p:sp>
      <p:sp>
        <p:nvSpPr>
          <p:cNvPr id="356" name="Shape 27"/>
          <p:cNvSpPr/>
          <p:nvPr/>
        </p:nvSpPr>
        <p:spPr>
          <a:xfrm>
            <a:off x="13166154" y="5710510"/>
            <a:ext cx="3588322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7" name="Text 28"/>
          <p:cNvSpPr txBox="1"/>
          <p:nvPr/>
        </p:nvSpPr>
        <p:spPr>
          <a:xfrm>
            <a:off x="13375704" y="5288234"/>
            <a:ext cx="3276871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80 / 20 by engine_id</a:t>
            </a:r>
          </a:p>
        </p:txBody>
      </p:sp>
      <p:sp>
        <p:nvSpPr>
          <p:cNvPr id="358" name="Shape 29"/>
          <p:cNvSpPr/>
          <p:nvPr/>
        </p:nvSpPr>
        <p:spPr>
          <a:xfrm>
            <a:off x="9782175" y="5721622"/>
            <a:ext cx="3383980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9" name="Shape 30"/>
          <p:cNvSpPr/>
          <p:nvPr/>
        </p:nvSpPr>
        <p:spPr>
          <a:xfrm>
            <a:off x="9782175" y="6277247"/>
            <a:ext cx="338398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0" name="Text 31"/>
          <p:cNvSpPr txBox="1"/>
          <p:nvPr/>
        </p:nvSpPr>
        <p:spPr>
          <a:xfrm>
            <a:off x="9991725" y="5854972"/>
            <a:ext cx="3066400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Random seed</a:t>
            </a:r>
          </a:p>
        </p:txBody>
      </p:sp>
      <p:sp>
        <p:nvSpPr>
          <p:cNvPr id="361" name="Shape 32"/>
          <p:cNvSpPr/>
          <p:nvPr/>
        </p:nvSpPr>
        <p:spPr>
          <a:xfrm>
            <a:off x="13166154" y="5721622"/>
            <a:ext cx="3588322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2" name="Shape 33"/>
          <p:cNvSpPr/>
          <p:nvPr/>
        </p:nvSpPr>
        <p:spPr>
          <a:xfrm>
            <a:off x="13166154" y="6277247"/>
            <a:ext cx="3588322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3" name="Text 34"/>
          <p:cNvSpPr txBox="1"/>
          <p:nvPr/>
        </p:nvSpPr>
        <p:spPr>
          <a:xfrm>
            <a:off x="13375704" y="5854972"/>
            <a:ext cx="3276871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42</a:t>
            </a:r>
          </a:p>
        </p:txBody>
      </p:sp>
      <p:sp>
        <p:nvSpPr>
          <p:cNvPr id="364" name="Shape 35"/>
          <p:cNvSpPr/>
          <p:nvPr/>
        </p:nvSpPr>
        <p:spPr>
          <a:xfrm>
            <a:off x="9782175" y="6843985"/>
            <a:ext cx="338398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5" name="Text 36"/>
          <p:cNvSpPr txBox="1"/>
          <p:nvPr/>
        </p:nvSpPr>
        <p:spPr>
          <a:xfrm>
            <a:off x="9991725" y="6421709"/>
            <a:ext cx="3066400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Rolling windows</a:t>
            </a:r>
          </a:p>
        </p:txBody>
      </p:sp>
      <p:sp>
        <p:nvSpPr>
          <p:cNvPr id="366" name="Shape 37"/>
          <p:cNvSpPr/>
          <p:nvPr/>
        </p:nvSpPr>
        <p:spPr>
          <a:xfrm>
            <a:off x="13166154" y="6843985"/>
            <a:ext cx="3588322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7" name="Text 38"/>
          <p:cNvSpPr txBox="1"/>
          <p:nvPr/>
        </p:nvSpPr>
        <p:spPr>
          <a:xfrm>
            <a:off x="13375704" y="6421709"/>
            <a:ext cx="3276871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5, 10 cycles (mean + std)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2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 txBox="1"/>
          <p:nvPr/>
        </p:nvSpPr>
        <p:spPr>
          <a:xfrm>
            <a:off x="8827219" y="4156695"/>
            <a:ext cx="63356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pc="291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EDA</a:t>
            </a:r>
          </a:p>
        </p:txBody>
      </p:sp>
      <p:sp>
        <p:nvSpPr>
          <p:cNvPr id="370" name="Text 1"/>
          <p:cNvSpPr txBox="1"/>
          <p:nvPr/>
        </p:nvSpPr>
        <p:spPr>
          <a:xfrm>
            <a:off x="5013443" y="4690095"/>
            <a:ext cx="8261113" cy="792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22959">
              <a:lnSpc>
                <a:spcPct val="110000"/>
              </a:lnSpc>
              <a:defRPr b="1" sz="486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Exploratory Data Analysis</a:t>
            </a:r>
          </a:p>
        </p:txBody>
      </p:sp>
      <p:sp>
        <p:nvSpPr>
          <p:cNvPr id="371" name="Text 2"/>
          <p:cNvSpPr txBox="1"/>
          <p:nvPr/>
        </p:nvSpPr>
        <p:spPr>
          <a:xfrm>
            <a:off x="6237794" y="5749230"/>
            <a:ext cx="5812411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77823">
              <a:defRPr sz="2400">
                <a:solidFill>
                  <a:srgbClr val="FFFFFF">
                    <a:alpha val="64999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Understanding the data before modelling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74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EDA</a:t>
            </a:r>
          </a:p>
        </p:txBody>
      </p:sp>
      <p:sp>
        <p:nvSpPr>
          <p:cNvPr id="375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76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Engine Lifetime Distribution</a:t>
            </a:r>
          </a:p>
        </p:txBody>
      </p:sp>
      <p:sp>
        <p:nvSpPr>
          <p:cNvPr id="377" name="Shape 4"/>
          <p:cNvSpPr/>
          <p:nvPr/>
        </p:nvSpPr>
        <p:spPr>
          <a:xfrm>
            <a:off x="952500" y="2114550"/>
            <a:ext cx="105537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37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76325" y="2238375"/>
            <a:ext cx="10306050" cy="7353300"/>
          </a:xfrm>
          <a:prstGeom prst="rect">
            <a:avLst/>
          </a:prstGeom>
          <a:ln w="12700">
            <a:miter lim="400000"/>
          </a:ln>
        </p:spPr>
      </p:pic>
      <p:sp>
        <p:nvSpPr>
          <p:cNvPr id="379" name="Text 5"/>
          <p:cNvSpPr txBox="1"/>
          <p:nvPr/>
        </p:nvSpPr>
        <p:spPr>
          <a:xfrm>
            <a:off x="12420600" y="2511772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248 training engines with lifetimes from </a:t>
            </a:r>
            <a:r>
              <a:rPr b="1">
                <a:solidFill>
                  <a:srgbClr val="12294A"/>
                </a:solidFill>
              </a:rPr>
              <a:t>128 to 543 cycles</a:t>
            </a:r>
          </a:p>
        </p:txBody>
      </p:sp>
      <p:sp>
        <p:nvSpPr>
          <p:cNvPr id="380" name="Text 6"/>
          <p:cNvSpPr txBox="1"/>
          <p:nvPr/>
        </p:nvSpPr>
        <p:spPr>
          <a:xfrm>
            <a:off x="12420600" y="3464271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Mean lifetime: </a:t>
            </a:r>
            <a:r>
              <a:rPr b="1">
                <a:solidFill>
                  <a:srgbClr val="12294A"/>
                </a:solidFill>
              </a:rPr>
              <a:t>246 cycles </a:t>
            </a:r>
            <a:r>
              <a:t>· Median: 234 cycles</a:t>
            </a:r>
          </a:p>
        </p:txBody>
      </p:sp>
      <p:sp>
        <p:nvSpPr>
          <p:cNvPr id="381" name="Text 7"/>
          <p:cNvSpPr txBox="1"/>
          <p:nvPr/>
        </p:nvSpPr>
        <p:spPr>
          <a:xfrm>
            <a:off x="12420600" y="4416771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All engines live longer than the RUL cap of 125 — cap is always effective</a:t>
            </a:r>
          </a:p>
        </p:txBody>
      </p:sp>
      <p:sp>
        <p:nvSpPr>
          <p:cNvPr id="382" name="Text 8"/>
          <p:cNvSpPr txBox="1"/>
          <p:nvPr/>
        </p:nvSpPr>
        <p:spPr>
          <a:xfrm>
            <a:off x="12420600" y="5369271"/>
            <a:ext cx="5074921" cy="877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sz="22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Minimum lifetime (128) &gt; RUL cap (125): </a:t>
            </a:r>
            <a:r>
              <a:rPr b="1" sz="1800">
                <a:solidFill>
                  <a:srgbClr val="27AE60"/>
                </a:solidFill>
              </a:rPr>
              <a:t>confirmed ✓</a:t>
            </a:r>
          </a:p>
        </p:txBody>
      </p:sp>
      <p:sp>
        <p:nvSpPr>
          <p:cNvPr id="383" name="Text 9"/>
          <p:cNvSpPr txBox="1"/>
          <p:nvPr/>
        </p:nvSpPr>
        <p:spPr>
          <a:xfrm>
            <a:off x="12420600" y="6360764"/>
            <a:ext cx="5074921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068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Distribution is right-skewed — most engines live 150–300 cycles with a long tail</a:t>
            </a:r>
          </a:p>
        </p:txBody>
      </p:sp>
      <p:sp>
        <p:nvSpPr>
          <p:cNvPr id="384" name="Shape 10"/>
          <p:cNvSpPr/>
          <p:nvPr/>
        </p:nvSpPr>
        <p:spPr>
          <a:xfrm>
            <a:off x="12001500" y="7789515"/>
            <a:ext cx="5334000" cy="1528764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5" name="Shape 11"/>
          <p:cNvSpPr/>
          <p:nvPr/>
        </p:nvSpPr>
        <p:spPr>
          <a:xfrm>
            <a:off x="12001500" y="7789515"/>
            <a:ext cx="57150" cy="1528764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6" name="Text 12"/>
          <p:cNvSpPr txBox="1"/>
          <p:nvPr/>
        </p:nvSpPr>
        <p:spPr>
          <a:xfrm>
            <a:off x="12363450" y="8018115"/>
            <a:ext cx="4827271" cy="1109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50000"/>
              </a:lnSpc>
              <a:defRPr sz="174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The RUL cap of 125 cycles is justified — every engine exceeds it, ensuring the healthy phase is consistently treated.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9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EDA</a:t>
            </a:r>
          </a:p>
        </p:txBody>
      </p:sp>
      <p:sp>
        <p:nvSpPr>
          <p:cNvPr id="390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91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Operating Conditions — 6 Distinct Clusters</a:t>
            </a:r>
          </a:p>
        </p:txBody>
      </p:sp>
      <p:sp>
        <p:nvSpPr>
          <p:cNvPr id="392" name="Shape 4"/>
          <p:cNvSpPr/>
          <p:nvPr/>
        </p:nvSpPr>
        <p:spPr>
          <a:xfrm>
            <a:off x="952500" y="2114550"/>
            <a:ext cx="105537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93" name="Text 5"/>
          <p:cNvSpPr txBox="1"/>
          <p:nvPr/>
        </p:nvSpPr>
        <p:spPr>
          <a:xfrm>
            <a:off x="12420600" y="2552700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op1: </a:t>
            </a:r>
            <a:r>
              <a:rPr b="1">
                <a:solidFill>
                  <a:srgbClr val="12294A"/>
                </a:solidFill>
              </a:rPr>
              <a:t>536 unique values </a:t>
            </a:r>
            <a:r>
              <a:t>— continuous throttle setting (altitude-linked)</a:t>
            </a:r>
          </a:p>
        </p:txBody>
      </p:sp>
      <p:sp>
        <p:nvSpPr>
          <p:cNvPr id="394" name="Text 6"/>
          <p:cNvSpPr txBox="1"/>
          <p:nvPr/>
        </p:nvSpPr>
        <p:spPr>
          <a:xfrm>
            <a:off x="12420600" y="3505200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op2: </a:t>
            </a:r>
            <a:r>
              <a:rPr b="1">
                <a:solidFill>
                  <a:srgbClr val="12294A"/>
                </a:solidFill>
              </a:rPr>
              <a:t>105 unique values </a:t>
            </a:r>
            <a:r>
              <a:t>— Mach/speed-related setting</a:t>
            </a:r>
          </a:p>
        </p:txBody>
      </p:sp>
      <p:sp>
        <p:nvSpPr>
          <p:cNvPr id="395" name="Text 7"/>
          <p:cNvSpPr txBox="1"/>
          <p:nvPr/>
        </p:nvSpPr>
        <p:spPr>
          <a:xfrm>
            <a:off x="12420600" y="4457700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op3: </a:t>
            </a:r>
            <a:r>
              <a:rPr b="1">
                <a:solidFill>
                  <a:srgbClr val="12294A"/>
                </a:solidFill>
              </a:rPr>
              <a:t>2 unique values </a:t>
            </a:r>
            <a:r>
              <a:t>— altitude band (binary: ~60 or ~100)</a:t>
            </a:r>
          </a:p>
        </p:txBody>
      </p:sp>
      <p:sp>
        <p:nvSpPr>
          <p:cNvPr id="396" name="Text 8"/>
          <p:cNvSpPr txBox="1"/>
          <p:nvPr/>
        </p:nvSpPr>
        <p:spPr>
          <a:xfrm>
            <a:off x="12420600" y="5410200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The discrete clusters in histograms visually confirm 6 operating regimes</a:t>
            </a:r>
          </a:p>
        </p:txBody>
      </p:sp>
      <p:sp>
        <p:nvSpPr>
          <p:cNvPr id="397" name="Text 9"/>
          <p:cNvSpPr txBox="1"/>
          <p:nvPr/>
        </p:nvSpPr>
        <p:spPr>
          <a:xfrm>
            <a:off x="12420600" y="6362700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KMeans on (op1, op2, op3) separates these 6 conditions cleanly</a:t>
            </a:r>
          </a:p>
        </p:txBody>
      </p:sp>
      <p:sp>
        <p:nvSpPr>
          <p:cNvPr id="398" name="Shape 10"/>
          <p:cNvSpPr/>
          <p:nvPr/>
        </p:nvSpPr>
        <p:spPr>
          <a:xfrm>
            <a:off x="12001500" y="7391400"/>
            <a:ext cx="5334000" cy="1885950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99" name="Shape 11"/>
          <p:cNvSpPr/>
          <p:nvPr/>
        </p:nvSpPr>
        <p:spPr>
          <a:xfrm>
            <a:off x="12001500" y="7391400"/>
            <a:ext cx="57150" cy="188595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0" name="Text 12"/>
          <p:cNvSpPr txBox="1"/>
          <p:nvPr/>
        </p:nvSpPr>
        <p:spPr>
          <a:xfrm>
            <a:off x="12363450" y="7620000"/>
            <a:ext cx="4827271" cy="146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50000"/>
              </a:lnSpc>
              <a:defRPr sz="174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Operating conditions cause large sensor jumps between consecutive cycles — not degradation. Clustering removes this confounding effect before modelling.</a:t>
            </a:r>
          </a:p>
        </p:txBody>
      </p:sp>
      <p:pic>
        <p:nvPicPr>
          <p:cNvPr id="401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44131" y="2208671"/>
            <a:ext cx="9389438" cy="749066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4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EDA</a:t>
            </a:r>
          </a:p>
        </p:txBody>
      </p:sp>
      <p:sp>
        <p:nvSpPr>
          <p:cNvPr id="405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6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Sensor Variance — Identifying Useless Sensors</a:t>
            </a:r>
          </a:p>
        </p:txBody>
      </p:sp>
      <p:sp>
        <p:nvSpPr>
          <p:cNvPr id="407" name="Shape 4"/>
          <p:cNvSpPr/>
          <p:nvPr/>
        </p:nvSpPr>
        <p:spPr>
          <a:xfrm>
            <a:off x="952500" y="2114550"/>
            <a:ext cx="105537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8" name="Text 5"/>
          <p:cNvSpPr txBox="1"/>
          <p:nvPr/>
        </p:nvSpPr>
        <p:spPr>
          <a:xfrm>
            <a:off x="12420600" y="2283618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s16, s10, s15 </a:t>
            </a:r>
            <a:r>
              <a:rPr b="0">
                <a:solidFill>
                  <a:srgbClr val="1C3150"/>
                </a:solidFill>
              </a:rPr>
              <a:t>— near-zero variance; s16 variance = 0.000022</a:t>
            </a:r>
          </a:p>
        </p:txBody>
      </p:sp>
      <p:sp>
        <p:nvSpPr>
          <p:cNvPr id="409" name="Text 6"/>
          <p:cNvSpPr txBox="1"/>
          <p:nvPr/>
        </p:nvSpPr>
        <p:spPr>
          <a:xfrm>
            <a:off x="12420600" y="3236118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s9 </a:t>
            </a:r>
            <a:r>
              <a:rPr b="0">
                <a:solidFill>
                  <a:srgbClr val="1C3150"/>
                </a:solidFill>
              </a:rPr>
              <a:t>— highest variance (113,520) — most spread, highly informative</a:t>
            </a:r>
          </a:p>
        </p:txBody>
      </p:sp>
      <p:sp>
        <p:nvSpPr>
          <p:cNvPr id="410" name="Text 7"/>
          <p:cNvSpPr txBox="1"/>
          <p:nvPr/>
        </p:nvSpPr>
        <p:spPr>
          <a:xfrm>
            <a:off x="12420600" y="4188619"/>
            <a:ext cx="5074921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z="22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Sensors with very low variance carry almost no information about degradation</a:t>
            </a:r>
          </a:p>
        </p:txBody>
      </p:sp>
      <p:sp>
        <p:nvSpPr>
          <p:cNvPr id="411" name="Text 8"/>
          <p:cNvSpPr txBox="1"/>
          <p:nvPr/>
        </p:nvSpPr>
        <p:spPr>
          <a:xfrm>
            <a:off x="12420600" y="5541169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Final drop decision combines variance + correlation + visual trajectory check</a:t>
            </a:r>
          </a:p>
        </p:txBody>
      </p:sp>
      <p:sp>
        <p:nvSpPr>
          <p:cNvPr id="412" name="Shape 9"/>
          <p:cNvSpPr/>
          <p:nvPr/>
        </p:nvSpPr>
        <p:spPr>
          <a:xfrm>
            <a:off x="12001500" y="6646068"/>
            <a:ext cx="1468338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3" name="Text 10"/>
          <p:cNvSpPr txBox="1"/>
          <p:nvPr/>
        </p:nvSpPr>
        <p:spPr>
          <a:xfrm>
            <a:off x="12211050" y="6798468"/>
            <a:ext cx="1125438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Decision</a:t>
            </a:r>
          </a:p>
        </p:txBody>
      </p:sp>
      <p:sp>
        <p:nvSpPr>
          <p:cNvPr id="414" name="Shape 11"/>
          <p:cNvSpPr/>
          <p:nvPr/>
        </p:nvSpPr>
        <p:spPr>
          <a:xfrm>
            <a:off x="13469838" y="6646068"/>
            <a:ext cx="1725886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5" name="Text 12"/>
          <p:cNvSpPr txBox="1"/>
          <p:nvPr/>
        </p:nvSpPr>
        <p:spPr>
          <a:xfrm>
            <a:off x="13679388" y="6798468"/>
            <a:ext cx="1382986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Sensors</a:t>
            </a:r>
          </a:p>
        </p:txBody>
      </p:sp>
      <p:sp>
        <p:nvSpPr>
          <p:cNvPr id="416" name="Shape 13"/>
          <p:cNvSpPr/>
          <p:nvPr/>
        </p:nvSpPr>
        <p:spPr>
          <a:xfrm>
            <a:off x="15195723" y="6646068"/>
            <a:ext cx="2139777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7" name="Text 14"/>
          <p:cNvSpPr txBox="1"/>
          <p:nvPr/>
        </p:nvSpPr>
        <p:spPr>
          <a:xfrm>
            <a:off x="15405273" y="6798468"/>
            <a:ext cx="1796877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Reason</a:t>
            </a:r>
          </a:p>
        </p:txBody>
      </p:sp>
      <p:sp>
        <p:nvSpPr>
          <p:cNvPr id="418" name="Shape 15"/>
          <p:cNvSpPr/>
          <p:nvPr/>
        </p:nvSpPr>
        <p:spPr>
          <a:xfrm>
            <a:off x="12001500" y="8382793"/>
            <a:ext cx="146833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9" name="Shape 16"/>
          <p:cNvSpPr/>
          <p:nvPr/>
        </p:nvSpPr>
        <p:spPr>
          <a:xfrm>
            <a:off x="12211050" y="7629525"/>
            <a:ext cx="1049238" cy="381000"/>
          </a:xfrm>
          <a:prstGeom prst="roundRect">
            <a:avLst>
              <a:gd name="adj" fmla="val 50000"/>
            </a:avLst>
          </a:prstGeom>
          <a:solidFill>
            <a:srgbClr val="C0392B">
              <a:alpha val="12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0" name="Text 17"/>
          <p:cNvSpPr txBox="1"/>
          <p:nvPr/>
        </p:nvSpPr>
        <p:spPr>
          <a:xfrm>
            <a:off x="12401550" y="7686675"/>
            <a:ext cx="744438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z="1746">
                <a:solidFill>
                  <a:srgbClr val="C0392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DROP</a:t>
            </a:r>
          </a:p>
        </p:txBody>
      </p:sp>
      <p:sp>
        <p:nvSpPr>
          <p:cNvPr id="421" name="Shape 18"/>
          <p:cNvSpPr/>
          <p:nvPr/>
        </p:nvSpPr>
        <p:spPr>
          <a:xfrm>
            <a:off x="13469838" y="8382793"/>
            <a:ext cx="1725886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2" name="Text 19"/>
          <p:cNvSpPr txBox="1"/>
          <p:nvPr/>
        </p:nvSpPr>
        <p:spPr>
          <a:xfrm>
            <a:off x="13679388" y="7384256"/>
            <a:ext cx="1382986" cy="9048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s1, s5, s6, s10, s16, s18, s19</a:t>
            </a:r>
          </a:p>
        </p:txBody>
      </p:sp>
      <p:sp>
        <p:nvSpPr>
          <p:cNvPr id="423" name="Shape 20"/>
          <p:cNvSpPr/>
          <p:nvPr/>
        </p:nvSpPr>
        <p:spPr>
          <a:xfrm>
            <a:off x="15195723" y="8382793"/>
            <a:ext cx="213977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4" name="Text 21"/>
          <p:cNvSpPr txBox="1"/>
          <p:nvPr/>
        </p:nvSpPr>
        <p:spPr>
          <a:xfrm>
            <a:off x="15405273" y="7384256"/>
            <a:ext cx="1796877" cy="9048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Near-zero variance + flat trajectory</a:t>
            </a:r>
          </a:p>
        </p:txBody>
      </p:sp>
      <p:sp>
        <p:nvSpPr>
          <p:cNvPr id="425" name="Shape 22"/>
          <p:cNvSpPr/>
          <p:nvPr/>
        </p:nvSpPr>
        <p:spPr>
          <a:xfrm>
            <a:off x="12001500" y="8393906"/>
            <a:ext cx="1468338" cy="1147764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6" name="Shape 23"/>
          <p:cNvSpPr/>
          <p:nvPr/>
        </p:nvSpPr>
        <p:spPr>
          <a:xfrm>
            <a:off x="12001500" y="9530556"/>
            <a:ext cx="146833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7" name="Shape 24"/>
          <p:cNvSpPr/>
          <p:nvPr/>
        </p:nvSpPr>
        <p:spPr>
          <a:xfrm>
            <a:off x="12211050" y="8777288"/>
            <a:ext cx="982935" cy="381001"/>
          </a:xfrm>
          <a:prstGeom prst="roundRect">
            <a:avLst>
              <a:gd name="adj" fmla="val 50000"/>
            </a:avLst>
          </a:prstGeom>
          <a:solidFill>
            <a:srgbClr val="27AE60">
              <a:alpha val="12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8" name="Text 25"/>
          <p:cNvSpPr txBox="1"/>
          <p:nvPr/>
        </p:nvSpPr>
        <p:spPr>
          <a:xfrm>
            <a:off x="12401550" y="8834438"/>
            <a:ext cx="678136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z="1746">
                <a:solidFill>
                  <a:srgbClr val="27AE6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KEEP</a:t>
            </a:r>
          </a:p>
        </p:txBody>
      </p:sp>
      <p:sp>
        <p:nvSpPr>
          <p:cNvPr id="429" name="Shape 26"/>
          <p:cNvSpPr/>
          <p:nvPr/>
        </p:nvSpPr>
        <p:spPr>
          <a:xfrm>
            <a:off x="13469838" y="8393906"/>
            <a:ext cx="1725886" cy="1147764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0" name="Shape 27"/>
          <p:cNvSpPr/>
          <p:nvPr/>
        </p:nvSpPr>
        <p:spPr>
          <a:xfrm>
            <a:off x="13469838" y="9530556"/>
            <a:ext cx="1725886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1" name="Text 28"/>
          <p:cNvSpPr txBox="1"/>
          <p:nvPr/>
        </p:nvSpPr>
        <p:spPr>
          <a:xfrm>
            <a:off x="13679388" y="8527256"/>
            <a:ext cx="1382986" cy="909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>
              <a:defRPr sz="1900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14 sensors</a:t>
            </a:r>
          </a:p>
        </p:txBody>
      </p:sp>
      <p:sp>
        <p:nvSpPr>
          <p:cNvPr id="432" name="Shape 29"/>
          <p:cNvSpPr/>
          <p:nvPr/>
        </p:nvSpPr>
        <p:spPr>
          <a:xfrm>
            <a:off x="15195723" y="8393906"/>
            <a:ext cx="2139777" cy="1147764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3" name="Shape 30"/>
          <p:cNvSpPr/>
          <p:nvPr/>
        </p:nvSpPr>
        <p:spPr>
          <a:xfrm>
            <a:off x="15195723" y="9530556"/>
            <a:ext cx="213977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4" name="Text 31"/>
          <p:cNvSpPr txBox="1"/>
          <p:nvPr/>
        </p:nvSpPr>
        <p:spPr>
          <a:xfrm>
            <a:off x="15405273" y="8527256"/>
            <a:ext cx="1796877" cy="909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Visible degradation trend</a:t>
            </a:r>
          </a:p>
        </p:txBody>
      </p:sp>
      <p:pic>
        <p:nvPicPr>
          <p:cNvPr id="435" name="pasted-movie.png" descr="pasted-movie.png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4494" y="2113359"/>
            <a:ext cx="10498405" cy="762654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8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EDA</a:t>
            </a:r>
          </a:p>
        </p:txBody>
      </p:sp>
      <p:sp>
        <p:nvSpPr>
          <p:cNvPr id="439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0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Sensor Correlation with RUL</a:t>
            </a:r>
          </a:p>
        </p:txBody>
      </p:sp>
      <p:sp>
        <p:nvSpPr>
          <p:cNvPr id="441" name="Shape 4"/>
          <p:cNvSpPr/>
          <p:nvPr/>
        </p:nvSpPr>
        <p:spPr>
          <a:xfrm>
            <a:off x="952500" y="2114550"/>
            <a:ext cx="105537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42" name="Text 5"/>
          <p:cNvSpPr txBox="1"/>
          <p:nvPr/>
        </p:nvSpPr>
        <p:spPr>
          <a:xfrm>
            <a:off x="12420600" y="2152650"/>
            <a:ext cx="5074921" cy="1238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32104">
              <a:lnSpc>
                <a:spcPct val="140000"/>
              </a:lnSpc>
              <a:defRPr b="1" sz="2002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Most sensors are negatively correlated </a:t>
            </a:r>
            <a:r>
              <a:rPr b="0">
                <a:solidFill>
                  <a:srgbClr val="1C3150"/>
                </a:solidFill>
              </a:rPr>
              <a:t>with RUL — as engine degrades (RUL falls), sensor values rise</a:t>
            </a:r>
          </a:p>
        </p:txBody>
      </p:sp>
      <p:sp>
        <p:nvSpPr>
          <p:cNvPr id="443" name="Text 6"/>
          <p:cNvSpPr txBox="1"/>
          <p:nvPr/>
        </p:nvSpPr>
        <p:spPr>
          <a:xfrm>
            <a:off x="12420600" y="3505200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s14 </a:t>
            </a:r>
            <a:r>
              <a:rPr b="0">
                <a:solidFill>
                  <a:srgbClr val="1C3150"/>
                </a:solidFill>
              </a:rPr>
              <a:t>has the strongest linear relationship (corr = −0.102)</a:t>
            </a:r>
          </a:p>
        </p:txBody>
      </p:sp>
      <p:sp>
        <p:nvSpPr>
          <p:cNvPr id="444" name="Text 7"/>
          <p:cNvSpPr txBox="1"/>
          <p:nvPr/>
        </p:nvSpPr>
        <p:spPr>
          <a:xfrm>
            <a:off x="12420600" y="4457700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s15 </a:t>
            </a:r>
            <a:r>
              <a:rPr b="0">
                <a:solidFill>
                  <a:srgbClr val="1C3150"/>
                </a:solidFill>
              </a:rPr>
              <a:t>is the only positively correlated sensor (corr = +0.005)</a:t>
            </a:r>
          </a:p>
        </p:txBody>
      </p:sp>
      <p:sp>
        <p:nvSpPr>
          <p:cNvPr id="445" name="Text 8"/>
          <p:cNvSpPr txBox="1"/>
          <p:nvPr/>
        </p:nvSpPr>
        <p:spPr>
          <a:xfrm>
            <a:off x="12420600" y="5410200"/>
            <a:ext cx="5074921" cy="1238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96111">
              <a:lnSpc>
                <a:spcPct val="140000"/>
              </a:lnSpc>
              <a:defRPr sz="21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Correlations are </a:t>
            </a:r>
            <a:r>
              <a:rPr i="1"/>
              <a:t>small </a:t>
            </a:r>
            <a:r>
              <a:t>— relationship is nonlinear, not captured by Pearson alone</a:t>
            </a:r>
          </a:p>
        </p:txBody>
      </p:sp>
      <p:sp>
        <p:nvSpPr>
          <p:cNvPr id="446" name="Text 9"/>
          <p:cNvSpPr txBox="1"/>
          <p:nvPr/>
        </p:nvSpPr>
        <p:spPr>
          <a:xfrm>
            <a:off x="12420600" y="6762750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Used as </a:t>
            </a:r>
            <a:r>
              <a:rPr b="1">
                <a:solidFill>
                  <a:srgbClr val="12294A"/>
                </a:solidFill>
              </a:rPr>
              <a:t>supporting evidence only </a:t>
            </a:r>
            <a:r>
              <a:t>alongside trajectory plots</a:t>
            </a:r>
          </a:p>
        </p:txBody>
      </p:sp>
      <p:sp>
        <p:nvSpPr>
          <p:cNvPr id="447" name="Shape 10"/>
          <p:cNvSpPr/>
          <p:nvPr/>
        </p:nvSpPr>
        <p:spPr>
          <a:xfrm>
            <a:off x="12001500" y="7791450"/>
            <a:ext cx="5334000" cy="1885950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8" name="Shape 11"/>
          <p:cNvSpPr/>
          <p:nvPr/>
        </p:nvSpPr>
        <p:spPr>
          <a:xfrm>
            <a:off x="12001500" y="7791450"/>
            <a:ext cx="57150" cy="188595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9" name="Text 12"/>
          <p:cNvSpPr txBox="1"/>
          <p:nvPr/>
        </p:nvSpPr>
        <p:spPr>
          <a:xfrm>
            <a:off x="12363450" y="8020050"/>
            <a:ext cx="4827271" cy="146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50000"/>
              </a:lnSpc>
              <a:defRPr sz="174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Low Pearson correlation does not mean a sensor is useless — it means the relationship is </a:t>
            </a:r>
            <a:r>
              <a:rPr b="1"/>
              <a:t>nonlinear </a:t>
            </a:r>
            <a:r>
              <a:t>. Visual trajectory plots are the decisive criterion.</a:t>
            </a:r>
          </a:p>
        </p:txBody>
      </p:sp>
      <p:pic>
        <p:nvPicPr>
          <p:cNvPr id="450" name="pasted-movie.png" descr="pasted-movie.png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93027" y="2156422"/>
            <a:ext cx="10453595" cy="751720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3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EDA</a:t>
            </a:r>
          </a:p>
        </p:txBody>
      </p:sp>
      <p:sp>
        <p:nvSpPr>
          <p:cNvPr id="454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5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Key EDA Insights</a:t>
            </a:r>
          </a:p>
        </p:txBody>
      </p:sp>
      <p:sp>
        <p:nvSpPr>
          <p:cNvPr id="456" name="Shape 4"/>
          <p:cNvSpPr/>
          <p:nvPr/>
        </p:nvSpPr>
        <p:spPr>
          <a:xfrm>
            <a:off x="1143000" y="2478359"/>
            <a:ext cx="5079951" cy="3300414"/>
          </a:xfrm>
          <a:prstGeom prst="roundRect">
            <a:avLst>
              <a:gd name="adj" fmla="val 461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7" name="Shape 5"/>
          <p:cNvSpPr/>
          <p:nvPr/>
        </p:nvSpPr>
        <p:spPr>
          <a:xfrm>
            <a:off x="1143000" y="5767660"/>
            <a:ext cx="5079951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8" name="Shape 6"/>
          <p:cNvSpPr/>
          <p:nvPr/>
        </p:nvSpPr>
        <p:spPr>
          <a:xfrm>
            <a:off x="1143000" y="2478359"/>
            <a:ext cx="5079951" cy="4762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9" name="Shape 7"/>
          <p:cNvSpPr/>
          <p:nvPr/>
        </p:nvSpPr>
        <p:spPr>
          <a:xfrm>
            <a:off x="1141412" y="2478359"/>
            <a:ext cx="12701" cy="3300414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0" name="Shape 8"/>
          <p:cNvSpPr/>
          <p:nvPr/>
        </p:nvSpPr>
        <p:spPr>
          <a:xfrm>
            <a:off x="6211837" y="2478359"/>
            <a:ext cx="12701" cy="3300414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1" name="Text 9"/>
          <p:cNvSpPr txBox="1"/>
          <p:nvPr/>
        </p:nvSpPr>
        <p:spPr>
          <a:xfrm>
            <a:off x="1533525" y="2906984"/>
            <a:ext cx="4427867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Engine Variability</a:t>
            </a:r>
          </a:p>
        </p:txBody>
      </p:sp>
      <p:sp>
        <p:nvSpPr>
          <p:cNvPr id="462" name="Text 10"/>
          <p:cNvSpPr txBox="1"/>
          <p:nvPr/>
        </p:nvSpPr>
        <p:spPr>
          <a:xfrm>
            <a:off x="1533525" y="3459434"/>
            <a:ext cx="4427867" cy="1581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795527">
              <a:lnSpc>
                <a:spcPct val="150000"/>
              </a:lnSpc>
              <a:defRPr sz="1740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Engine lifetimes range from 128 to 543 cycles — a 4× spread. Models must generalise across very short and very long-lived engines.</a:t>
            </a:r>
          </a:p>
        </p:txBody>
      </p:sp>
      <p:sp>
        <p:nvSpPr>
          <p:cNvPr id="463" name="Shape 11"/>
          <p:cNvSpPr/>
          <p:nvPr/>
        </p:nvSpPr>
        <p:spPr>
          <a:xfrm>
            <a:off x="6603949" y="2478359"/>
            <a:ext cx="5080026" cy="3300414"/>
          </a:xfrm>
          <a:prstGeom prst="roundRect">
            <a:avLst>
              <a:gd name="adj" fmla="val 461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4" name="Shape 12"/>
          <p:cNvSpPr/>
          <p:nvPr/>
        </p:nvSpPr>
        <p:spPr>
          <a:xfrm>
            <a:off x="6603949" y="5767660"/>
            <a:ext cx="5080026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5" name="Shape 13"/>
          <p:cNvSpPr/>
          <p:nvPr/>
        </p:nvSpPr>
        <p:spPr>
          <a:xfrm>
            <a:off x="6603949" y="2478359"/>
            <a:ext cx="5080026" cy="47626"/>
          </a:xfrm>
          <a:prstGeom prst="rect">
            <a:avLst/>
          </a:prstGeom>
          <a:solidFill>
            <a:srgbClr val="F0A5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6" name="Shape 14"/>
          <p:cNvSpPr/>
          <p:nvPr/>
        </p:nvSpPr>
        <p:spPr>
          <a:xfrm>
            <a:off x="6602362" y="2478359"/>
            <a:ext cx="12701" cy="3300414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7" name="Shape 15"/>
          <p:cNvSpPr/>
          <p:nvPr/>
        </p:nvSpPr>
        <p:spPr>
          <a:xfrm>
            <a:off x="11672862" y="2478359"/>
            <a:ext cx="12701" cy="3300414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8" name="Text 16"/>
          <p:cNvSpPr txBox="1"/>
          <p:nvPr/>
        </p:nvSpPr>
        <p:spPr>
          <a:xfrm>
            <a:off x="6994474" y="2906984"/>
            <a:ext cx="4427945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Multi-Modal Operating Conditions</a:t>
            </a:r>
          </a:p>
        </p:txBody>
      </p:sp>
      <p:sp>
        <p:nvSpPr>
          <p:cNvPr id="469" name="Text 17"/>
          <p:cNvSpPr txBox="1"/>
          <p:nvPr/>
        </p:nvSpPr>
        <p:spPr>
          <a:xfrm>
            <a:off x="6994474" y="3840434"/>
            <a:ext cx="4427945" cy="1581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795527">
              <a:lnSpc>
                <a:spcPct val="150000"/>
              </a:lnSpc>
              <a:defRPr sz="1740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6 distinct operating regimes create sharp sensor jumps cycle-to-cycle. Without clustering, models confuse "altitude change" with "degradation."</a:t>
            </a:r>
          </a:p>
        </p:txBody>
      </p:sp>
      <p:sp>
        <p:nvSpPr>
          <p:cNvPr id="470" name="Shape 18"/>
          <p:cNvSpPr/>
          <p:nvPr/>
        </p:nvSpPr>
        <p:spPr>
          <a:xfrm>
            <a:off x="12064975" y="2478359"/>
            <a:ext cx="5079951" cy="3300414"/>
          </a:xfrm>
          <a:prstGeom prst="roundRect">
            <a:avLst>
              <a:gd name="adj" fmla="val 461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71" name="Shape 19"/>
          <p:cNvSpPr/>
          <p:nvPr/>
        </p:nvSpPr>
        <p:spPr>
          <a:xfrm>
            <a:off x="12064975" y="5767660"/>
            <a:ext cx="5079951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72" name="Shape 20"/>
          <p:cNvSpPr/>
          <p:nvPr/>
        </p:nvSpPr>
        <p:spPr>
          <a:xfrm>
            <a:off x="12064975" y="2478359"/>
            <a:ext cx="5079951" cy="47626"/>
          </a:xfrm>
          <a:prstGeom prst="rect">
            <a:avLst/>
          </a:prstGeom>
          <a:solidFill>
            <a:srgbClr val="27AE6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73" name="Shape 21"/>
          <p:cNvSpPr/>
          <p:nvPr/>
        </p:nvSpPr>
        <p:spPr>
          <a:xfrm>
            <a:off x="12063387" y="2478359"/>
            <a:ext cx="12701" cy="3300414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74" name="Shape 22"/>
          <p:cNvSpPr/>
          <p:nvPr/>
        </p:nvSpPr>
        <p:spPr>
          <a:xfrm>
            <a:off x="17133813" y="2478359"/>
            <a:ext cx="12701" cy="3300414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75" name="Text 23"/>
          <p:cNvSpPr txBox="1"/>
          <p:nvPr/>
        </p:nvSpPr>
        <p:spPr>
          <a:xfrm>
            <a:off x="12455500" y="2906984"/>
            <a:ext cx="442786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Nonlinear Degradation</a:t>
            </a:r>
          </a:p>
        </p:txBody>
      </p:sp>
      <p:sp>
        <p:nvSpPr>
          <p:cNvPr id="476" name="Text 24"/>
          <p:cNvSpPr txBox="1"/>
          <p:nvPr/>
        </p:nvSpPr>
        <p:spPr>
          <a:xfrm>
            <a:off x="12455500" y="3459434"/>
            <a:ext cx="4427868" cy="1966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795527">
              <a:lnSpc>
                <a:spcPct val="150000"/>
              </a:lnSpc>
              <a:defRPr sz="1740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Average sensor trajectories show flat healthy phase followed by steep acceleration near failure — classic pattern for deep learning advantage over linear models.</a:t>
            </a:r>
          </a:p>
        </p:txBody>
      </p:sp>
      <p:sp>
        <p:nvSpPr>
          <p:cNvPr id="477" name="Shape 25"/>
          <p:cNvSpPr/>
          <p:nvPr/>
        </p:nvSpPr>
        <p:spPr>
          <a:xfrm>
            <a:off x="1143000" y="6197872"/>
            <a:ext cx="16002000" cy="1257301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78" name="Shape 26"/>
          <p:cNvSpPr/>
          <p:nvPr/>
        </p:nvSpPr>
        <p:spPr>
          <a:xfrm>
            <a:off x="1143000" y="6197872"/>
            <a:ext cx="57150" cy="1257301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79" name="Text 27"/>
          <p:cNvSpPr txBox="1"/>
          <p:nvPr/>
        </p:nvSpPr>
        <p:spPr>
          <a:xfrm>
            <a:off x="1504950" y="6426472"/>
            <a:ext cx="15815311" cy="8477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68680">
              <a:lnSpc>
                <a:spcPct val="150000"/>
              </a:lnSpc>
              <a:defRPr sz="199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EDA directly motivates every design decision: the 7-sensor drop, KMeans k=6, per-cluster scaling, isotonic health index, and the PCA detrending step.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2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EDA</a:t>
            </a:r>
          </a:p>
        </p:txBody>
      </p:sp>
      <p:sp>
        <p:nvSpPr>
          <p:cNvPr id="483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4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Average Degradation Trajectories — 14 Retained Sensors</a:t>
            </a:r>
          </a:p>
        </p:txBody>
      </p:sp>
      <p:sp>
        <p:nvSpPr>
          <p:cNvPr id="485" name="Shape 4"/>
          <p:cNvSpPr/>
          <p:nvPr/>
        </p:nvSpPr>
        <p:spPr>
          <a:xfrm>
            <a:off x="952500" y="2114550"/>
            <a:ext cx="111252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486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76325" y="2238375"/>
            <a:ext cx="10877550" cy="7353300"/>
          </a:xfrm>
          <a:prstGeom prst="rect">
            <a:avLst/>
          </a:prstGeom>
          <a:ln w="12700">
            <a:miter lim="400000"/>
          </a:ln>
        </p:spPr>
      </p:pic>
      <p:sp>
        <p:nvSpPr>
          <p:cNvPr id="487" name="Text 5"/>
          <p:cNvSpPr txBox="1"/>
          <p:nvPr/>
        </p:nvSpPr>
        <p:spPr>
          <a:xfrm>
            <a:off x="12992100" y="2828925"/>
            <a:ext cx="4486275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X-axis: normalised cycle (0 = engine start, 1 = failure)</a:t>
            </a:r>
          </a:p>
        </p:txBody>
      </p:sp>
      <p:sp>
        <p:nvSpPr>
          <p:cNvPr id="488" name="Text 6"/>
          <p:cNvSpPr txBox="1"/>
          <p:nvPr/>
        </p:nvSpPr>
        <p:spPr>
          <a:xfrm>
            <a:off x="12992100" y="3781425"/>
            <a:ext cx="4486275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s3, s4, s9, s11, s14 </a:t>
            </a:r>
            <a:r>
              <a:rPr b="0">
                <a:solidFill>
                  <a:srgbClr val="1C3150"/>
                </a:solidFill>
              </a:rPr>
              <a:t>— clear upward trend as engine degrades</a:t>
            </a:r>
          </a:p>
        </p:txBody>
      </p:sp>
      <p:sp>
        <p:nvSpPr>
          <p:cNvPr id="489" name="Text 7"/>
          <p:cNvSpPr txBox="1"/>
          <p:nvPr/>
        </p:nvSpPr>
        <p:spPr>
          <a:xfrm>
            <a:off x="12992100" y="4733925"/>
            <a:ext cx="4486275" cy="1238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32104">
              <a:lnSpc>
                <a:spcPct val="140000"/>
              </a:lnSpc>
              <a:defRPr b="1" sz="2002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s7, s15, s17 </a:t>
            </a:r>
            <a:r>
              <a:rPr b="0">
                <a:solidFill>
                  <a:srgbClr val="1C3150"/>
                </a:solidFill>
              </a:rPr>
              <a:t>— downward drift toward failure (sensors that fall with degradation)</a:t>
            </a:r>
          </a:p>
        </p:txBody>
      </p:sp>
      <p:sp>
        <p:nvSpPr>
          <p:cNvPr id="490" name="Text 8"/>
          <p:cNvSpPr txBox="1"/>
          <p:nvPr/>
        </p:nvSpPr>
        <p:spPr>
          <a:xfrm>
            <a:off x="12992100" y="6086475"/>
            <a:ext cx="4486275" cy="83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Acceleration near failure (x &gt; 0.7) is visible in many sensors — </a:t>
            </a:r>
            <a:r>
              <a:rPr i="1"/>
              <a:t>nonlinear</a:t>
            </a:r>
          </a:p>
        </p:txBody>
      </p:sp>
      <p:sp>
        <p:nvSpPr>
          <p:cNvPr id="491" name="Shape 9"/>
          <p:cNvSpPr/>
          <p:nvPr/>
        </p:nvSpPr>
        <p:spPr>
          <a:xfrm>
            <a:off x="12573000" y="7115175"/>
            <a:ext cx="4762500" cy="1885950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2" name="Shape 10"/>
          <p:cNvSpPr/>
          <p:nvPr/>
        </p:nvSpPr>
        <p:spPr>
          <a:xfrm>
            <a:off x="12573000" y="7115175"/>
            <a:ext cx="57150" cy="188595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3" name="Text 11"/>
          <p:cNvSpPr txBox="1"/>
          <p:nvPr/>
        </p:nvSpPr>
        <p:spPr>
          <a:xfrm>
            <a:off x="12934950" y="7343775"/>
            <a:ext cx="4238625" cy="146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50000"/>
              </a:lnSpc>
              <a:defRPr sz="174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This nonlinear acceleration near failure justifies </a:t>
            </a:r>
            <a:r>
              <a:rPr b="1"/>
              <a:t>d=2 </a:t>
            </a:r>
            <a:r>
              <a:t>in ARIMA and motivates deep learning models that can capture this shape directly.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2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Text 0"/>
          <p:cNvSpPr txBox="1"/>
          <p:nvPr/>
        </p:nvSpPr>
        <p:spPr>
          <a:xfrm>
            <a:off x="8613948" y="4156695"/>
            <a:ext cx="1060029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pc="291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PART 2</a:t>
            </a:r>
          </a:p>
        </p:txBody>
      </p:sp>
      <p:sp>
        <p:nvSpPr>
          <p:cNvPr id="496" name="Text 1"/>
          <p:cNvSpPr txBox="1"/>
          <p:nvPr/>
        </p:nvSpPr>
        <p:spPr>
          <a:xfrm>
            <a:off x="5131020" y="4690095"/>
            <a:ext cx="8025884" cy="792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22959">
              <a:lnSpc>
                <a:spcPct val="110000"/>
              </a:lnSpc>
              <a:defRPr b="1" sz="486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Building the Health Index</a:t>
            </a:r>
          </a:p>
        </p:txBody>
      </p:sp>
      <p:sp>
        <p:nvSpPr>
          <p:cNvPr id="497" name="Text 2"/>
          <p:cNvSpPr txBox="1"/>
          <p:nvPr/>
        </p:nvSpPr>
        <p:spPr>
          <a:xfrm>
            <a:off x="5422660" y="5749230"/>
            <a:ext cx="744268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77823">
              <a:defRPr sz="2400">
                <a:solidFill>
                  <a:srgbClr val="FFFFFF">
                    <a:alpha val="64999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Compressing 14 sensors into one degradation signal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00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HEALTH INDEX</a:t>
            </a:r>
          </a:p>
        </p:txBody>
      </p:sp>
      <p:sp>
        <p:nvSpPr>
          <p:cNvPr id="501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02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Why We Need a Health Index</a:t>
            </a:r>
          </a:p>
        </p:txBody>
      </p:sp>
      <p:sp>
        <p:nvSpPr>
          <p:cNvPr id="503" name="Text 4"/>
          <p:cNvSpPr txBox="1"/>
          <p:nvPr/>
        </p:nvSpPr>
        <p:spPr>
          <a:xfrm>
            <a:off x="1562100" y="2478359"/>
            <a:ext cx="75668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sz="24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ARIMA is </a:t>
            </a:r>
            <a:r>
              <a:rPr b="1">
                <a:solidFill>
                  <a:srgbClr val="12294A"/>
                </a:solidFill>
              </a:rPr>
              <a:t>univariate </a:t>
            </a:r>
            <a:r>
              <a:t>— models one series at a time</a:t>
            </a:r>
          </a:p>
        </p:txBody>
      </p:sp>
      <p:sp>
        <p:nvSpPr>
          <p:cNvPr id="504" name="Text 5"/>
          <p:cNvSpPr txBox="1"/>
          <p:nvPr/>
        </p:nvSpPr>
        <p:spPr>
          <a:xfrm>
            <a:off x="1562100" y="311460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We have 14 sensor columns per row — cannot feed them all to ARIMA</a:t>
            </a:r>
          </a:p>
        </p:txBody>
      </p:sp>
      <p:sp>
        <p:nvSpPr>
          <p:cNvPr id="505" name="Text 6"/>
          <p:cNvSpPr txBox="1"/>
          <p:nvPr/>
        </p:nvSpPr>
        <p:spPr>
          <a:xfrm>
            <a:off x="1562100" y="4177531"/>
            <a:ext cx="7566850" cy="1318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Need one number that: starts near baseline when healthy, increases monotonically with degradation, and is comparable across all engines</a:t>
            </a:r>
          </a:p>
        </p:txBody>
      </p:sp>
      <p:sp>
        <p:nvSpPr>
          <p:cNvPr id="506" name="Text 7"/>
          <p:cNvSpPr txBox="1"/>
          <p:nvPr/>
        </p:nvSpPr>
        <p:spPr>
          <a:xfrm>
            <a:off x="1562100" y="566715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Deep learning models use all 14 sensors directly — no compression needed</a:t>
            </a:r>
          </a:p>
        </p:txBody>
      </p:sp>
      <p:sp>
        <p:nvSpPr>
          <p:cNvPr id="507" name="Shape 8"/>
          <p:cNvSpPr/>
          <p:nvPr/>
        </p:nvSpPr>
        <p:spPr>
          <a:xfrm>
            <a:off x="9391650" y="2478359"/>
            <a:ext cx="7753350" cy="2490790"/>
          </a:xfrm>
          <a:prstGeom prst="roundRect">
            <a:avLst>
              <a:gd name="adj" fmla="val 6119"/>
            </a:avLst>
          </a:prstGeom>
          <a:solidFill>
            <a:srgbClr val="12294A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8" name="Text 9"/>
          <p:cNvSpPr txBox="1"/>
          <p:nvPr/>
        </p:nvSpPr>
        <p:spPr>
          <a:xfrm>
            <a:off x="9782175" y="2868884"/>
            <a:ext cx="718146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F0A50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The Goal</a:t>
            </a:r>
          </a:p>
        </p:txBody>
      </p:sp>
      <p:sp>
        <p:nvSpPr>
          <p:cNvPr id="509" name="Text 10"/>
          <p:cNvSpPr txBox="1"/>
          <p:nvPr/>
        </p:nvSpPr>
        <p:spPr>
          <a:xfrm>
            <a:off x="9782175" y="3421334"/>
            <a:ext cx="7181468" cy="119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50000"/>
              </a:lnSpc>
              <a:defRPr sz="1879">
                <a:solidFill>
                  <a:srgbClr val="FFFFFF">
                    <a:alpha val="75000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 single scalar that starts low (~−1) when healthy and rises monotonically toward ~3–4 at failure — for any engine, any operating condition</a:t>
            </a:r>
          </a:p>
        </p:txBody>
      </p:sp>
      <p:sp>
        <p:nvSpPr>
          <p:cNvPr id="510" name="Shape 11"/>
          <p:cNvSpPr/>
          <p:nvPr/>
        </p:nvSpPr>
        <p:spPr>
          <a:xfrm>
            <a:off x="9391650" y="5235847"/>
            <a:ext cx="7753350" cy="2490789"/>
          </a:xfrm>
          <a:prstGeom prst="roundRect">
            <a:avLst>
              <a:gd name="adj" fmla="val 6119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11" name="Text 12"/>
          <p:cNvSpPr txBox="1"/>
          <p:nvPr/>
        </p:nvSpPr>
        <p:spPr>
          <a:xfrm>
            <a:off x="9782175" y="5626372"/>
            <a:ext cx="718146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Why simple averaging fails</a:t>
            </a:r>
          </a:p>
        </p:txBody>
      </p:sp>
      <p:sp>
        <p:nvSpPr>
          <p:cNvPr id="512" name="Text 13"/>
          <p:cNvSpPr txBox="1"/>
          <p:nvPr/>
        </p:nvSpPr>
        <p:spPr>
          <a:xfrm>
            <a:off x="9782175" y="6178822"/>
            <a:ext cx="7181468" cy="119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50000"/>
              </a:lnSpc>
              <a:defRPr sz="1879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Different sensors move in opposite directions — s3 rises, s7 falls. Averaging cancels the signal. Picking one sensor misses the second failure mode.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15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HEALTH INDEX</a:t>
            </a:r>
          </a:p>
        </p:txBody>
      </p:sp>
      <p:sp>
        <p:nvSpPr>
          <p:cNvPr id="516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17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PCA: The Right Tool</a:t>
            </a:r>
          </a:p>
        </p:txBody>
      </p:sp>
      <p:sp>
        <p:nvSpPr>
          <p:cNvPr id="518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PCA finds the direction in 14-dimensional sensor space where </a:t>
            </a:r>
            <a:r>
              <a:rPr b="1">
                <a:solidFill>
                  <a:srgbClr val="12294A"/>
                </a:solidFill>
              </a:rPr>
              <a:t>data varies the most</a:t>
            </a:r>
          </a:p>
        </p:txBody>
      </p:sp>
      <p:sp>
        <p:nvSpPr>
          <p:cNvPr id="519" name="Text 5"/>
          <p:cNvSpPr txBox="1"/>
          <p:nvPr/>
        </p:nvSpPr>
        <p:spPr>
          <a:xfrm>
            <a:off x="1562100" y="354129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Since degradation drives the dominant variation, </a:t>
            </a:r>
            <a:r>
              <a:rPr b="1">
                <a:solidFill>
                  <a:srgbClr val="12294A"/>
                </a:solidFill>
              </a:rPr>
              <a:t>PC1 captures degradation </a:t>
            </a:r>
            <a:r>
              <a:t>better than any single sensor</a:t>
            </a:r>
          </a:p>
        </p:txBody>
      </p:sp>
      <p:sp>
        <p:nvSpPr>
          <p:cNvPr id="520" name="Text 6"/>
          <p:cNvSpPr txBox="1"/>
          <p:nvPr/>
        </p:nvSpPr>
        <p:spPr>
          <a:xfrm>
            <a:off x="1562100" y="4604220"/>
            <a:ext cx="7566850" cy="1318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FD004 subtlety: operating condition switching causes large sensor jumps — PCA would capture </a:t>
            </a:r>
            <a:r>
              <a:rPr i="1"/>
              <a:t>condition </a:t>
            </a:r>
            <a:r>
              <a:t>, not degradation</a:t>
            </a:r>
          </a:p>
        </p:txBody>
      </p:sp>
      <p:sp>
        <p:nvSpPr>
          <p:cNvPr id="521" name="Text 7"/>
          <p:cNvSpPr txBox="1"/>
          <p:nvPr/>
        </p:nvSpPr>
        <p:spPr>
          <a:xfrm>
            <a:off x="1562100" y="6093841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Fix: </a:t>
            </a:r>
            <a:r>
              <a:rPr b="0">
                <a:solidFill>
                  <a:srgbClr val="1C3150"/>
                </a:solidFill>
              </a:rPr>
              <a:t>subtract per-cluster mean from each sensor </a:t>
            </a:r>
            <a:r>
              <a:rPr b="0" i="1">
                <a:solidFill>
                  <a:srgbClr val="1C3150"/>
                </a:solidFill>
              </a:rPr>
              <a:t>before </a:t>
            </a:r>
            <a:r>
              <a:rPr b="0">
                <a:solidFill>
                  <a:srgbClr val="1C3150"/>
                </a:solidFill>
              </a:rPr>
              <a:t>running PCA</a:t>
            </a:r>
          </a:p>
        </p:txBody>
      </p:sp>
      <p:sp>
        <p:nvSpPr>
          <p:cNvPr id="522" name="Shape 8"/>
          <p:cNvSpPr/>
          <p:nvPr/>
        </p:nvSpPr>
        <p:spPr>
          <a:xfrm>
            <a:off x="9391650" y="2478359"/>
            <a:ext cx="7753350" cy="2490790"/>
          </a:xfrm>
          <a:prstGeom prst="roundRect">
            <a:avLst>
              <a:gd name="adj" fmla="val 611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23" name="Shape 9"/>
          <p:cNvSpPr/>
          <p:nvPr/>
        </p:nvSpPr>
        <p:spPr>
          <a:xfrm>
            <a:off x="9391650" y="4958035"/>
            <a:ext cx="775335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24" name="Shape 10"/>
          <p:cNvSpPr/>
          <p:nvPr/>
        </p:nvSpPr>
        <p:spPr>
          <a:xfrm>
            <a:off x="9391650" y="2476772"/>
            <a:ext cx="775335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25" name="Shape 11"/>
          <p:cNvSpPr/>
          <p:nvPr/>
        </p:nvSpPr>
        <p:spPr>
          <a:xfrm>
            <a:off x="9391650" y="2478359"/>
            <a:ext cx="57150" cy="249079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26" name="Shape 12"/>
          <p:cNvSpPr/>
          <p:nvPr/>
        </p:nvSpPr>
        <p:spPr>
          <a:xfrm>
            <a:off x="17133887" y="2478359"/>
            <a:ext cx="12701" cy="2490790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27" name="Text 13"/>
          <p:cNvSpPr txBox="1"/>
          <p:nvPr/>
        </p:nvSpPr>
        <p:spPr>
          <a:xfrm>
            <a:off x="9829800" y="2868884"/>
            <a:ext cx="7132416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The Critical Step for FD004</a:t>
            </a:r>
          </a:p>
        </p:txBody>
      </p:sp>
      <p:sp>
        <p:nvSpPr>
          <p:cNvPr id="528" name="Text 14"/>
          <p:cNvSpPr txBox="1"/>
          <p:nvPr/>
        </p:nvSpPr>
        <p:spPr>
          <a:xfrm>
            <a:off x="9829800" y="3421334"/>
            <a:ext cx="7132416" cy="119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50000"/>
              </a:lnSpc>
              <a:defRPr sz="1879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Subtract the per-cluster mean from each sensor before PCA. This removes the altitude/speed baseline. PCA then finds only the degradation direction in the residual.</a:t>
            </a:r>
          </a:p>
        </p:txBody>
      </p:sp>
      <p:sp>
        <p:nvSpPr>
          <p:cNvPr id="529" name="Shape 15"/>
          <p:cNvSpPr/>
          <p:nvPr/>
        </p:nvSpPr>
        <p:spPr>
          <a:xfrm>
            <a:off x="9391650" y="5197747"/>
            <a:ext cx="7753350" cy="1657351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30" name="Shape 16"/>
          <p:cNvSpPr/>
          <p:nvPr/>
        </p:nvSpPr>
        <p:spPr>
          <a:xfrm>
            <a:off x="9391650" y="5197747"/>
            <a:ext cx="57150" cy="1657351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31" name="Text 17"/>
          <p:cNvSpPr txBox="1"/>
          <p:nvPr/>
        </p:nvSpPr>
        <p:spPr>
          <a:xfrm>
            <a:off x="9753600" y="5426347"/>
            <a:ext cx="7319202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0391">
              <a:lnSpc>
                <a:spcPct val="150000"/>
              </a:lnSpc>
              <a:defRPr sz="195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After detrending: a healthy engine deviates near </a:t>
            </a:r>
            <a:r>
              <a:rPr b="1"/>
              <a:t>zero </a:t>
            </a:r>
            <a:r>
              <a:t>from its cluster's mean — in any condition. Degradation = increasing deviation from this zero baseline.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34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HEALTH INDEX</a:t>
            </a:r>
          </a:p>
        </p:txBody>
      </p:sp>
      <p:sp>
        <p:nvSpPr>
          <p:cNvPr id="535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36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Health Index: Step-by-Step</a:t>
            </a:r>
          </a:p>
        </p:txBody>
      </p:sp>
      <p:sp>
        <p:nvSpPr>
          <p:cNvPr id="537" name="Shape 4"/>
          <p:cNvSpPr/>
          <p:nvPr/>
        </p:nvSpPr>
        <p:spPr>
          <a:xfrm>
            <a:off x="1143000" y="2478359"/>
            <a:ext cx="16002000" cy="1123951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38" name="Shape 5"/>
          <p:cNvSpPr/>
          <p:nvPr/>
        </p:nvSpPr>
        <p:spPr>
          <a:xfrm>
            <a:off x="1457325" y="2754584"/>
            <a:ext cx="571500" cy="571501"/>
          </a:xfrm>
          <a:prstGeom prst="ellipse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39" name="Text 6"/>
          <p:cNvSpPr txBox="1"/>
          <p:nvPr/>
        </p:nvSpPr>
        <p:spPr>
          <a:xfrm>
            <a:off x="1419225" y="2754584"/>
            <a:ext cx="6477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defRPr b="1" sz="22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540" name="Text 7"/>
          <p:cNvSpPr txBox="1"/>
          <p:nvPr/>
        </p:nvSpPr>
        <p:spPr>
          <a:xfrm>
            <a:off x="2257425" y="2883173"/>
            <a:ext cx="14568428" cy="352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68680">
              <a:defRPr b="1" sz="199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Rolling Mean Smoothing </a:t>
            </a:r>
            <a:r>
              <a:rPr b="0"/>
              <a:t>— replace each sensor with its 10-cycle rolling mean per engine (removes measurement noise)</a:t>
            </a:r>
          </a:p>
        </p:txBody>
      </p:sp>
      <p:sp>
        <p:nvSpPr>
          <p:cNvPr id="541" name="Shape 8"/>
          <p:cNvSpPr/>
          <p:nvPr/>
        </p:nvSpPr>
        <p:spPr>
          <a:xfrm>
            <a:off x="1143000" y="3735659"/>
            <a:ext cx="16002000" cy="1123951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42" name="Shape 9"/>
          <p:cNvSpPr/>
          <p:nvPr/>
        </p:nvSpPr>
        <p:spPr>
          <a:xfrm>
            <a:off x="1457325" y="4011884"/>
            <a:ext cx="571500" cy="571501"/>
          </a:xfrm>
          <a:prstGeom prst="ellipse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43" name="Text 10"/>
          <p:cNvSpPr txBox="1"/>
          <p:nvPr/>
        </p:nvSpPr>
        <p:spPr>
          <a:xfrm>
            <a:off x="1419225" y="4011884"/>
            <a:ext cx="6477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defRPr b="1" sz="22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544" name="Text 11"/>
          <p:cNvSpPr txBox="1"/>
          <p:nvPr/>
        </p:nvSpPr>
        <p:spPr>
          <a:xfrm>
            <a:off x="2257424" y="4140472"/>
            <a:ext cx="13145641" cy="352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68680">
              <a:defRPr b="1" sz="199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Per-Cluster Mean Detrending </a:t>
            </a:r>
            <a:r>
              <a:rPr b="0"/>
              <a:t>— subtract each cluster's sensor mean; removes operating condition baseline</a:t>
            </a:r>
          </a:p>
        </p:txBody>
      </p:sp>
      <p:sp>
        <p:nvSpPr>
          <p:cNvPr id="545" name="Shape 12"/>
          <p:cNvSpPr/>
          <p:nvPr/>
        </p:nvSpPr>
        <p:spPr>
          <a:xfrm>
            <a:off x="1143000" y="4992959"/>
            <a:ext cx="16002000" cy="1123951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46" name="Shape 13"/>
          <p:cNvSpPr/>
          <p:nvPr/>
        </p:nvSpPr>
        <p:spPr>
          <a:xfrm>
            <a:off x="1457325" y="5269184"/>
            <a:ext cx="571500" cy="571501"/>
          </a:xfrm>
          <a:prstGeom prst="ellipse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47" name="Text 14"/>
          <p:cNvSpPr txBox="1"/>
          <p:nvPr/>
        </p:nvSpPr>
        <p:spPr>
          <a:xfrm>
            <a:off x="1419225" y="5269184"/>
            <a:ext cx="6477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defRPr b="1" sz="22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548" name="Text 15"/>
          <p:cNvSpPr txBox="1"/>
          <p:nvPr/>
        </p:nvSpPr>
        <p:spPr>
          <a:xfrm>
            <a:off x="2257424" y="5397772"/>
            <a:ext cx="11850775" cy="352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68680">
              <a:defRPr b="1" sz="199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Global PCA on Detrended Sensors </a:t>
            </a:r>
            <a:r>
              <a:rPr b="0"/>
              <a:t>— first principal component (PC1) is the degradation direction</a:t>
            </a:r>
          </a:p>
        </p:txBody>
      </p:sp>
      <p:sp>
        <p:nvSpPr>
          <p:cNvPr id="549" name="Shape 16"/>
          <p:cNvSpPr/>
          <p:nvPr/>
        </p:nvSpPr>
        <p:spPr>
          <a:xfrm>
            <a:off x="1143000" y="6250259"/>
            <a:ext cx="16002000" cy="1123951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50" name="Shape 17"/>
          <p:cNvSpPr/>
          <p:nvPr/>
        </p:nvSpPr>
        <p:spPr>
          <a:xfrm>
            <a:off x="1457325" y="6526485"/>
            <a:ext cx="571500" cy="571501"/>
          </a:xfrm>
          <a:prstGeom prst="ellipse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1" name="Text 18"/>
          <p:cNvSpPr txBox="1"/>
          <p:nvPr/>
        </p:nvSpPr>
        <p:spPr>
          <a:xfrm>
            <a:off x="1419225" y="6526485"/>
            <a:ext cx="6477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defRPr b="1" sz="22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552" name="Text 19"/>
          <p:cNvSpPr txBox="1"/>
          <p:nvPr/>
        </p:nvSpPr>
        <p:spPr>
          <a:xfrm>
            <a:off x="2257424" y="6655072"/>
            <a:ext cx="12505949" cy="352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68680">
              <a:defRPr b="1" sz="199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Sign Flip </a:t>
            </a:r>
            <a:r>
              <a:rPr b="0"/>
              <a:t>— if PC1 is negatively correlated with −RUL, multiply by −1 so higher = more degraded. Always.</a:t>
            </a:r>
          </a:p>
        </p:txBody>
      </p:sp>
      <p:sp>
        <p:nvSpPr>
          <p:cNvPr id="553" name="Shape 20"/>
          <p:cNvSpPr/>
          <p:nvPr/>
        </p:nvSpPr>
        <p:spPr>
          <a:xfrm>
            <a:off x="1143000" y="7507560"/>
            <a:ext cx="16002000" cy="1123951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54" name="Shape 21"/>
          <p:cNvSpPr/>
          <p:nvPr/>
        </p:nvSpPr>
        <p:spPr>
          <a:xfrm>
            <a:off x="1457325" y="7783785"/>
            <a:ext cx="571500" cy="571501"/>
          </a:xfrm>
          <a:prstGeom prst="ellipse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5" name="Text 22"/>
          <p:cNvSpPr txBox="1"/>
          <p:nvPr/>
        </p:nvSpPr>
        <p:spPr>
          <a:xfrm>
            <a:off x="1419225" y="7783785"/>
            <a:ext cx="6477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defRPr b="1" sz="22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556" name="Text 23"/>
          <p:cNvSpPr txBox="1"/>
          <p:nvPr/>
        </p:nvSpPr>
        <p:spPr>
          <a:xfrm>
            <a:off x="2257425" y="7912372"/>
            <a:ext cx="12490695" cy="352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68680">
              <a:defRPr b="1" sz="199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Standardisation </a:t>
            </a:r>
            <a:r>
              <a:rPr b="0"/>
              <a:t>— normalise using training mean/std only (no leakage); healthy ≈ −1, near failure ≈ 3–4</a:t>
            </a:r>
          </a:p>
        </p:txBody>
      </p:sp>
      <p:sp>
        <p:nvSpPr>
          <p:cNvPr id="557" name="Shape 24"/>
          <p:cNvSpPr/>
          <p:nvPr/>
        </p:nvSpPr>
        <p:spPr>
          <a:xfrm>
            <a:off x="1143000" y="8764860"/>
            <a:ext cx="16002000" cy="1123951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58" name="Shape 25"/>
          <p:cNvSpPr/>
          <p:nvPr/>
        </p:nvSpPr>
        <p:spPr>
          <a:xfrm>
            <a:off x="1457325" y="9041085"/>
            <a:ext cx="571500" cy="571501"/>
          </a:xfrm>
          <a:prstGeom prst="ellipse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9" name="Text 26"/>
          <p:cNvSpPr txBox="1"/>
          <p:nvPr/>
        </p:nvSpPr>
        <p:spPr>
          <a:xfrm>
            <a:off x="1419225" y="9041085"/>
            <a:ext cx="6477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defRPr b="1" sz="22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560" name="Text 27"/>
          <p:cNvSpPr txBox="1"/>
          <p:nvPr/>
        </p:nvSpPr>
        <p:spPr>
          <a:xfrm>
            <a:off x="2257425" y="9169672"/>
            <a:ext cx="12207486" cy="352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68680">
              <a:defRPr b="1" sz="199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Isotonic Regression </a:t>
            </a:r>
            <a:r>
              <a:rPr b="0"/>
              <a:t>— enforce monotonic non-decrease (physical reality: engines do not self-repair)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63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HEALTH INDEX</a:t>
            </a:r>
          </a:p>
        </p:txBody>
      </p:sp>
      <p:sp>
        <p:nvSpPr>
          <p:cNvPr id="564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65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Health Index in Action — Three Engines</a:t>
            </a:r>
          </a:p>
        </p:txBody>
      </p:sp>
      <p:sp>
        <p:nvSpPr>
          <p:cNvPr id="566" name="Shape 4"/>
          <p:cNvSpPr/>
          <p:nvPr/>
        </p:nvSpPr>
        <p:spPr>
          <a:xfrm>
            <a:off x="952500" y="2114550"/>
            <a:ext cx="105537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67" name="Text 5"/>
          <p:cNvSpPr txBox="1"/>
          <p:nvPr/>
        </p:nvSpPr>
        <p:spPr>
          <a:xfrm>
            <a:off x="12420600" y="2909888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All engines start near </a:t>
            </a:r>
            <a:r>
              <a:rPr b="1">
                <a:solidFill>
                  <a:srgbClr val="12294A"/>
                </a:solidFill>
              </a:rPr>
              <a:t>−1.0 </a:t>
            </a:r>
            <a:r>
              <a:t>(healthy baseline)</a:t>
            </a:r>
          </a:p>
        </p:txBody>
      </p:sp>
      <p:sp>
        <p:nvSpPr>
          <p:cNvPr id="568" name="Text 6"/>
          <p:cNvSpPr txBox="1"/>
          <p:nvPr/>
        </p:nvSpPr>
        <p:spPr>
          <a:xfrm>
            <a:off x="12420600" y="3862387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All engines end at </a:t>
            </a:r>
            <a:r>
              <a:rPr b="1">
                <a:solidFill>
                  <a:srgbClr val="12294A"/>
                </a:solidFill>
              </a:rPr>
              <a:t>2.0–3.5 </a:t>
            </a:r>
            <a:r>
              <a:t>(severely degraded, near failure)</a:t>
            </a:r>
          </a:p>
        </p:txBody>
      </p:sp>
      <p:sp>
        <p:nvSpPr>
          <p:cNvPr id="569" name="Text 7"/>
          <p:cNvSpPr txBox="1"/>
          <p:nvPr/>
        </p:nvSpPr>
        <p:spPr>
          <a:xfrm>
            <a:off x="12420600" y="4814887"/>
            <a:ext cx="5074921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Shape: long flat healthy phase → steep acceleration near failure</a:t>
            </a:r>
          </a:p>
        </p:txBody>
      </p:sp>
      <p:sp>
        <p:nvSpPr>
          <p:cNvPr id="570" name="Text 8"/>
          <p:cNvSpPr txBox="1"/>
          <p:nvPr/>
        </p:nvSpPr>
        <p:spPr>
          <a:xfrm>
            <a:off x="12420600" y="5767387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Engine lifespans: 305–325 cycles — each engine is unique</a:t>
            </a:r>
          </a:p>
        </p:txBody>
      </p:sp>
      <p:sp>
        <p:nvSpPr>
          <p:cNvPr id="571" name="Text 9"/>
          <p:cNvSpPr txBox="1"/>
          <p:nvPr/>
        </p:nvSpPr>
        <p:spPr>
          <a:xfrm>
            <a:off x="12420600" y="6719888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Monotonic rise confirmed — isotonic regression worked correctly</a:t>
            </a:r>
          </a:p>
        </p:txBody>
      </p:sp>
      <p:sp>
        <p:nvSpPr>
          <p:cNvPr id="572" name="Shape 10"/>
          <p:cNvSpPr/>
          <p:nvPr/>
        </p:nvSpPr>
        <p:spPr>
          <a:xfrm>
            <a:off x="12001500" y="7748588"/>
            <a:ext cx="5334000" cy="1171576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73" name="Shape 11"/>
          <p:cNvSpPr/>
          <p:nvPr/>
        </p:nvSpPr>
        <p:spPr>
          <a:xfrm>
            <a:off x="12001500" y="7761288"/>
            <a:ext cx="57150" cy="1171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74" name="Text 12"/>
          <p:cNvSpPr txBox="1"/>
          <p:nvPr/>
        </p:nvSpPr>
        <p:spPr>
          <a:xfrm>
            <a:off x="12363450" y="7977188"/>
            <a:ext cx="4827271" cy="7524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50000"/>
              </a:lnSpc>
              <a:defRPr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Health index range: [−1.597, 4.402] · Failure threshold = </a:t>
            </a:r>
            <a:r>
              <a:rPr b="1"/>
              <a:t>1.685</a:t>
            </a:r>
          </a:p>
        </p:txBody>
      </p:sp>
      <p:pic>
        <p:nvPicPr>
          <p:cNvPr id="575" name="pasted-movie.png" descr="pasted-movie.png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41065" y="2219325"/>
            <a:ext cx="10000896" cy="7391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78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HEALTH INDEX</a:t>
            </a:r>
          </a:p>
        </p:txBody>
      </p:sp>
      <p:sp>
        <p:nvSpPr>
          <p:cNvPr id="579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80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Failure Threshold Selection</a:t>
            </a:r>
          </a:p>
        </p:txBody>
      </p:sp>
      <p:sp>
        <p:nvSpPr>
          <p:cNvPr id="581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Threshold = value below which 95% of near-failure rows lie</a:t>
            </a:r>
          </a:p>
        </p:txBody>
      </p:sp>
      <p:sp>
        <p:nvSpPr>
          <p:cNvPr id="582" name="Text 5"/>
          <p:cNvSpPr txBox="1"/>
          <p:nvPr/>
        </p:nvSpPr>
        <p:spPr>
          <a:xfrm>
            <a:off x="1562100" y="3541290"/>
            <a:ext cx="75668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sz="24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Near-failure defined as </a:t>
            </a:r>
            <a:r>
              <a:rPr b="1">
                <a:solidFill>
                  <a:srgbClr val="12294A"/>
                </a:solidFill>
              </a:rPr>
              <a:t>RUL ≤ 5 cycles</a:t>
            </a:r>
          </a:p>
        </p:txBody>
      </p:sp>
      <p:sp>
        <p:nvSpPr>
          <p:cNvPr id="583" name="Text 6"/>
          <p:cNvSpPr txBox="1"/>
          <p:nvPr/>
        </p:nvSpPr>
        <p:spPr>
          <a:xfrm>
            <a:off x="1562100" y="4177531"/>
            <a:ext cx="75668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sz="24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Chosen threshold (q=0.05): </a:t>
            </a:r>
            <a:r>
              <a:rPr b="1">
                <a:solidFill>
                  <a:srgbClr val="12294A"/>
                </a:solidFill>
              </a:rPr>
              <a:t>1.685</a:t>
            </a:r>
          </a:p>
        </p:txBody>
      </p:sp>
      <p:sp>
        <p:nvSpPr>
          <p:cNvPr id="584" name="Text 7"/>
          <p:cNvSpPr txBox="1"/>
          <p:nvPr/>
        </p:nvSpPr>
        <p:spPr>
          <a:xfrm>
            <a:off x="1562100" y="481377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Only </a:t>
            </a:r>
            <a:r>
              <a:rPr b="1">
                <a:solidFill>
                  <a:srgbClr val="12294A"/>
                </a:solidFill>
              </a:rPr>
              <a:t>22 of 248 test engines </a:t>
            </a:r>
            <a:r>
              <a:t>(9%) ever reach it in observed history — most are truncated early</a:t>
            </a:r>
          </a:p>
        </p:txBody>
      </p:sp>
      <p:sp>
        <p:nvSpPr>
          <p:cNvPr id="585" name="Text 8"/>
          <p:cNvSpPr txBox="1"/>
          <p:nvPr/>
        </p:nvSpPr>
        <p:spPr>
          <a:xfrm>
            <a:off x="1562100" y="587670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This is why a </a:t>
            </a:r>
            <a:r>
              <a:rPr b="1">
                <a:solidFill>
                  <a:srgbClr val="12294A"/>
                </a:solidFill>
              </a:rPr>
              <a:t>fallback mechanism </a:t>
            </a:r>
            <a:r>
              <a:t>is required for 91% of engines</a:t>
            </a:r>
          </a:p>
        </p:txBody>
      </p:sp>
      <p:sp>
        <p:nvSpPr>
          <p:cNvPr id="586" name="Shape 9"/>
          <p:cNvSpPr/>
          <p:nvPr/>
        </p:nvSpPr>
        <p:spPr>
          <a:xfrm>
            <a:off x="9391650" y="2478359"/>
            <a:ext cx="1988567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87" name="Text 10"/>
          <p:cNvSpPr txBox="1"/>
          <p:nvPr/>
        </p:nvSpPr>
        <p:spPr>
          <a:xfrm>
            <a:off x="9601200" y="2630759"/>
            <a:ext cx="1645667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Quantile</a:t>
            </a:r>
          </a:p>
        </p:txBody>
      </p:sp>
      <p:sp>
        <p:nvSpPr>
          <p:cNvPr id="588" name="Shape 11"/>
          <p:cNvSpPr/>
          <p:nvPr/>
        </p:nvSpPr>
        <p:spPr>
          <a:xfrm>
            <a:off x="11380216" y="2478359"/>
            <a:ext cx="2048993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89" name="Text 12"/>
          <p:cNvSpPr txBox="1"/>
          <p:nvPr/>
        </p:nvSpPr>
        <p:spPr>
          <a:xfrm>
            <a:off x="11589766" y="2630759"/>
            <a:ext cx="1706093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Threshold</a:t>
            </a:r>
          </a:p>
        </p:txBody>
      </p:sp>
      <p:sp>
        <p:nvSpPr>
          <p:cNvPr id="590" name="Shape 13"/>
          <p:cNvSpPr/>
          <p:nvPr/>
        </p:nvSpPr>
        <p:spPr>
          <a:xfrm>
            <a:off x="13429208" y="2478359"/>
            <a:ext cx="3715793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1" name="Text 14"/>
          <p:cNvSpPr txBox="1"/>
          <p:nvPr/>
        </p:nvSpPr>
        <p:spPr>
          <a:xfrm>
            <a:off x="13638758" y="2630759"/>
            <a:ext cx="3408167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Test engines reached</a:t>
            </a:r>
          </a:p>
        </p:txBody>
      </p:sp>
      <p:sp>
        <p:nvSpPr>
          <p:cNvPr id="592" name="Shape 15"/>
          <p:cNvSpPr/>
          <p:nvPr/>
        </p:nvSpPr>
        <p:spPr>
          <a:xfrm>
            <a:off x="9391650" y="3634060"/>
            <a:ext cx="198856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3" name="Text 16"/>
          <p:cNvSpPr txBox="1"/>
          <p:nvPr/>
        </p:nvSpPr>
        <p:spPr>
          <a:xfrm>
            <a:off x="9601200" y="3216548"/>
            <a:ext cx="1645667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68680">
              <a:defRPr b="1" sz="1804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q=0.05 ✓</a:t>
            </a:r>
          </a:p>
        </p:txBody>
      </p:sp>
      <p:sp>
        <p:nvSpPr>
          <p:cNvPr id="594" name="Shape 17"/>
          <p:cNvSpPr/>
          <p:nvPr/>
        </p:nvSpPr>
        <p:spPr>
          <a:xfrm>
            <a:off x="11380216" y="3634060"/>
            <a:ext cx="2048993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5" name="Text 18"/>
          <p:cNvSpPr txBox="1"/>
          <p:nvPr/>
        </p:nvSpPr>
        <p:spPr>
          <a:xfrm>
            <a:off x="11589766" y="3216548"/>
            <a:ext cx="1706093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b="1"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1.685</a:t>
            </a:r>
          </a:p>
        </p:txBody>
      </p:sp>
      <p:sp>
        <p:nvSpPr>
          <p:cNvPr id="596" name="Shape 19"/>
          <p:cNvSpPr/>
          <p:nvPr/>
        </p:nvSpPr>
        <p:spPr>
          <a:xfrm>
            <a:off x="13429208" y="3634060"/>
            <a:ext cx="3715793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7" name="Text 20"/>
          <p:cNvSpPr txBox="1"/>
          <p:nvPr/>
        </p:nvSpPr>
        <p:spPr>
          <a:xfrm>
            <a:off x="13638758" y="3216548"/>
            <a:ext cx="3408167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b="1"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22 / 248 (9%)</a:t>
            </a:r>
          </a:p>
        </p:txBody>
      </p:sp>
      <p:sp>
        <p:nvSpPr>
          <p:cNvPr id="598" name="Shape 21"/>
          <p:cNvSpPr/>
          <p:nvPr/>
        </p:nvSpPr>
        <p:spPr>
          <a:xfrm>
            <a:off x="9391650" y="3645172"/>
            <a:ext cx="1988567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9" name="Shape 22"/>
          <p:cNvSpPr/>
          <p:nvPr/>
        </p:nvSpPr>
        <p:spPr>
          <a:xfrm>
            <a:off x="9391650" y="4200797"/>
            <a:ext cx="198856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0" name="Text 23"/>
          <p:cNvSpPr txBox="1"/>
          <p:nvPr/>
        </p:nvSpPr>
        <p:spPr>
          <a:xfrm>
            <a:off x="9601200" y="3778522"/>
            <a:ext cx="16456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q=0.10</a:t>
            </a:r>
          </a:p>
        </p:txBody>
      </p:sp>
      <p:sp>
        <p:nvSpPr>
          <p:cNvPr id="601" name="Shape 24"/>
          <p:cNvSpPr/>
          <p:nvPr/>
        </p:nvSpPr>
        <p:spPr>
          <a:xfrm>
            <a:off x="11380216" y="3645172"/>
            <a:ext cx="2048993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2" name="Shape 25"/>
          <p:cNvSpPr/>
          <p:nvPr/>
        </p:nvSpPr>
        <p:spPr>
          <a:xfrm>
            <a:off x="11380216" y="4200797"/>
            <a:ext cx="2048993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3" name="Text 26"/>
          <p:cNvSpPr txBox="1"/>
          <p:nvPr/>
        </p:nvSpPr>
        <p:spPr>
          <a:xfrm>
            <a:off x="11589766" y="3778522"/>
            <a:ext cx="1706093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1.747</a:t>
            </a:r>
          </a:p>
        </p:txBody>
      </p:sp>
      <p:sp>
        <p:nvSpPr>
          <p:cNvPr id="604" name="Shape 27"/>
          <p:cNvSpPr/>
          <p:nvPr/>
        </p:nvSpPr>
        <p:spPr>
          <a:xfrm>
            <a:off x="13429208" y="3645172"/>
            <a:ext cx="3715793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5" name="Shape 28"/>
          <p:cNvSpPr/>
          <p:nvPr/>
        </p:nvSpPr>
        <p:spPr>
          <a:xfrm>
            <a:off x="13429208" y="4200797"/>
            <a:ext cx="3715793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6" name="Text 29"/>
          <p:cNvSpPr txBox="1"/>
          <p:nvPr/>
        </p:nvSpPr>
        <p:spPr>
          <a:xfrm>
            <a:off x="13638758" y="3778522"/>
            <a:ext cx="34081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20 / 248 (8%)</a:t>
            </a:r>
          </a:p>
        </p:txBody>
      </p:sp>
      <p:sp>
        <p:nvSpPr>
          <p:cNvPr id="607" name="Shape 30"/>
          <p:cNvSpPr/>
          <p:nvPr/>
        </p:nvSpPr>
        <p:spPr>
          <a:xfrm>
            <a:off x="9391650" y="4767535"/>
            <a:ext cx="198856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8" name="Text 31"/>
          <p:cNvSpPr txBox="1"/>
          <p:nvPr/>
        </p:nvSpPr>
        <p:spPr>
          <a:xfrm>
            <a:off x="9601200" y="4345259"/>
            <a:ext cx="16456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q=0.20</a:t>
            </a:r>
          </a:p>
        </p:txBody>
      </p:sp>
      <p:sp>
        <p:nvSpPr>
          <p:cNvPr id="609" name="Shape 32"/>
          <p:cNvSpPr/>
          <p:nvPr/>
        </p:nvSpPr>
        <p:spPr>
          <a:xfrm>
            <a:off x="11380216" y="4767535"/>
            <a:ext cx="2048993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10" name="Text 33"/>
          <p:cNvSpPr txBox="1"/>
          <p:nvPr/>
        </p:nvSpPr>
        <p:spPr>
          <a:xfrm>
            <a:off x="11589766" y="4345259"/>
            <a:ext cx="1706093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1.840</a:t>
            </a:r>
          </a:p>
        </p:txBody>
      </p:sp>
      <p:sp>
        <p:nvSpPr>
          <p:cNvPr id="611" name="Shape 34"/>
          <p:cNvSpPr/>
          <p:nvPr/>
        </p:nvSpPr>
        <p:spPr>
          <a:xfrm>
            <a:off x="13429208" y="4767535"/>
            <a:ext cx="3715793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12" name="Text 35"/>
          <p:cNvSpPr txBox="1"/>
          <p:nvPr/>
        </p:nvSpPr>
        <p:spPr>
          <a:xfrm>
            <a:off x="13638758" y="4345259"/>
            <a:ext cx="34081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17 / 248 (7%)</a:t>
            </a:r>
          </a:p>
        </p:txBody>
      </p:sp>
      <p:sp>
        <p:nvSpPr>
          <p:cNvPr id="613" name="Shape 36"/>
          <p:cNvSpPr/>
          <p:nvPr/>
        </p:nvSpPr>
        <p:spPr>
          <a:xfrm>
            <a:off x="9391650" y="4778647"/>
            <a:ext cx="1988567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14" name="Shape 37"/>
          <p:cNvSpPr/>
          <p:nvPr/>
        </p:nvSpPr>
        <p:spPr>
          <a:xfrm>
            <a:off x="9391650" y="5334272"/>
            <a:ext cx="198856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15" name="Text 38"/>
          <p:cNvSpPr txBox="1"/>
          <p:nvPr/>
        </p:nvSpPr>
        <p:spPr>
          <a:xfrm>
            <a:off x="9601200" y="4911997"/>
            <a:ext cx="16456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q=0.50</a:t>
            </a:r>
          </a:p>
        </p:txBody>
      </p:sp>
      <p:sp>
        <p:nvSpPr>
          <p:cNvPr id="616" name="Shape 39"/>
          <p:cNvSpPr/>
          <p:nvPr/>
        </p:nvSpPr>
        <p:spPr>
          <a:xfrm>
            <a:off x="11380216" y="4778647"/>
            <a:ext cx="2048993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17" name="Shape 40"/>
          <p:cNvSpPr/>
          <p:nvPr/>
        </p:nvSpPr>
        <p:spPr>
          <a:xfrm>
            <a:off x="11380216" y="5334272"/>
            <a:ext cx="2048993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18" name="Text 41"/>
          <p:cNvSpPr txBox="1"/>
          <p:nvPr/>
        </p:nvSpPr>
        <p:spPr>
          <a:xfrm>
            <a:off x="11589766" y="4911997"/>
            <a:ext cx="1706093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2.166</a:t>
            </a:r>
          </a:p>
        </p:txBody>
      </p:sp>
      <p:sp>
        <p:nvSpPr>
          <p:cNvPr id="619" name="Shape 42"/>
          <p:cNvSpPr/>
          <p:nvPr/>
        </p:nvSpPr>
        <p:spPr>
          <a:xfrm>
            <a:off x="13429208" y="4778647"/>
            <a:ext cx="3715793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20" name="Shape 43"/>
          <p:cNvSpPr/>
          <p:nvPr/>
        </p:nvSpPr>
        <p:spPr>
          <a:xfrm>
            <a:off x="13429208" y="5334272"/>
            <a:ext cx="3715793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21" name="Text 44"/>
          <p:cNvSpPr txBox="1"/>
          <p:nvPr/>
        </p:nvSpPr>
        <p:spPr>
          <a:xfrm>
            <a:off x="13638758" y="4911997"/>
            <a:ext cx="34081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13 / 248 (5%)</a:t>
            </a:r>
          </a:p>
        </p:txBody>
      </p:sp>
      <p:sp>
        <p:nvSpPr>
          <p:cNvPr id="622" name="Shape 45"/>
          <p:cNvSpPr/>
          <p:nvPr/>
        </p:nvSpPr>
        <p:spPr>
          <a:xfrm>
            <a:off x="9391650" y="5901010"/>
            <a:ext cx="198856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23" name="Text 46"/>
          <p:cNvSpPr txBox="1"/>
          <p:nvPr/>
        </p:nvSpPr>
        <p:spPr>
          <a:xfrm>
            <a:off x="9601200" y="5478734"/>
            <a:ext cx="16456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q=0.70</a:t>
            </a:r>
          </a:p>
        </p:txBody>
      </p:sp>
      <p:sp>
        <p:nvSpPr>
          <p:cNvPr id="624" name="Shape 47"/>
          <p:cNvSpPr/>
          <p:nvPr/>
        </p:nvSpPr>
        <p:spPr>
          <a:xfrm>
            <a:off x="11380216" y="5901010"/>
            <a:ext cx="2048993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25" name="Text 48"/>
          <p:cNvSpPr txBox="1"/>
          <p:nvPr/>
        </p:nvSpPr>
        <p:spPr>
          <a:xfrm>
            <a:off x="11589766" y="5478734"/>
            <a:ext cx="1706093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3.363</a:t>
            </a:r>
          </a:p>
        </p:txBody>
      </p:sp>
      <p:sp>
        <p:nvSpPr>
          <p:cNvPr id="626" name="Shape 49"/>
          <p:cNvSpPr/>
          <p:nvPr/>
        </p:nvSpPr>
        <p:spPr>
          <a:xfrm>
            <a:off x="13429208" y="5901010"/>
            <a:ext cx="3715793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27" name="Text 50"/>
          <p:cNvSpPr txBox="1"/>
          <p:nvPr/>
        </p:nvSpPr>
        <p:spPr>
          <a:xfrm>
            <a:off x="13638758" y="5478734"/>
            <a:ext cx="34081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0 / 248 (0%)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2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Text 0"/>
          <p:cNvSpPr txBox="1"/>
          <p:nvPr/>
        </p:nvSpPr>
        <p:spPr>
          <a:xfrm>
            <a:off x="8610972" y="4156695"/>
            <a:ext cx="1066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pc="291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PART 3</a:t>
            </a:r>
          </a:p>
        </p:txBody>
      </p:sp>
      <p:sp>
        <p:nvSpPr>
          <p:cNvPr id="630" name="Text 1"/>
          <p:cNvSpPr txBox="1"/>
          <p:nvPr/>
        </p:nvSpPr>
        <p:spPr>
          <a:xfrm>
            <a:off x="4485809" y="4690095"/>
            <a:ext cx="9316382" cy="792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22959">
              <a:lnSpc>
                <a:spcPct val="110000"/>
              </a:lnSpc>
              <a:defRPr b="1" sz="486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Classical Time Series Models</a:t>
            </a:r>
          </a:p>
        </p:txBody>
      </p:sp>
      <p:sp>
        <p:nvSpPr>
          <p:cNvPr id="631" name="Text 2"/>
          <p:cNvSpPr txBox="1"/>
          <p:nvPr/>
        </p:nvSpPr>
        <p:spPr>
          <a:xfrm>
            <a:off x="6342188" y="5749230"/>
            <a:ext cx="5603625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77823">
              <a:defRPr sz="2400">
                <a:solidFill>
                  <a:srgbClr val="FFFFFF">
                    <a:alpha val="64999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AR · ARMA · ARIMA on the Health Index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34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CLASSICAL MODELS</a:t>
            </a:r>
          </a:p>
        </p:txBody>
      </p:sp>
      <p:sp>
        <p:nvSpPr>
          <p:cNvPr id="635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36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ARIMA Framework</a:t>
            </a:r>
          </a:p>
        </p:txBody>
      </p:sp>
      <p:sp>
        <p:nvSpPr>
          <p:cNvPr id="637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ARIMA doesn't predict RUL directly — it </a:t>
            </a:r>
            <a:r>
              <a:rPr b="1">
                <a:solidFill>
                  <a:srgbClr val="12294A"/>
                </a:solidFill>
              </a:rPr>
              <a:t>forecasts the Health Index </a:t>
            </a:r>
            <a:r>
              <a:t>forward</a:t>
            </a:r>
          </a:p>
        </p:txBody>
      </p:sp>
      <p:sp>
        <p:nvSpPr>
          <p:cNvPr id="638" name="Text 5"/>
          <p:cNvSpPr txBox="1"/>
          <p:nvPr/>
        </p:nvSpPr>
        <p:spPr>
          <a:xfrm>
            <a:off x="1562100" y="354129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68680">
              <a:lnSpc>
                <a:spcPct val="140000"/>
              </a:lnSpc>
              <a:defRPr sz="228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RUL = number of forecast steps until Health Index ≥ 1.685</a:t>
            </a:r>
          </a:p>
        </p:txBody>
      </p:sp>
      <p:sp>
        <p:nvSpPr>
          <p:cNvPr id="639" name="Text 6"/>
          <p:cNvSpPr txBox="1"/>
          <p:nvPr/>
        </p:nvSpPr>
        <p:spPr>
          <a:xfrm>
            <a:off x="1562100" y="4604220"/>
            <a:ext cx="75668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z="24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Three parameters define the model:</a:t>
            </a:r>
          </a:p>
        </p:txBody>
      </p:sp>
      <p:sp>
        <p:nvSpPr>
          <p:cNvPr id="640" name="Shape 7"/>
          <p:cNvSpPr/>
          <p:nvPr/>
        </p:nvSpPr>
        <p:spPr>
          <a:xfrm>
            <a:off x="1143000" y="5297611"/>
            <a:ext cx="7753350" cy="1181101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41" name="Shape 8"/>
          <p:cNvSpPr/>
          <p:nvPr/>
        </p:nvSpPr>
        <p:spPr>
          <a:xfrm>
            <a:off x="1457325" y="5602411"/>
            <a:ext cx="571500" cy="571501"/>
          </a:xfrm>
          <a:prstGeom prst="ellipse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42" name="Text 9"/>
          <p:cNvSpPr txBox="1"/>
          <p:nvPr/>
        </p:nvSpPr>
        <p:spPr>
          <a:xfrm>
            <a:off x="1419225" y="5602411"/>
            <a:ext cx="6477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defRPr b="1" sz="22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</a:t>
            </a:r>
          </a:p>
        </p:txBody>
      </p:sp>
      <p:sp>
        <p:nvSpPr>
          <p:cNvPr id="643" name="Text 10"/>
          <p:cNvSpPr txBox="1"/>
          <p:nvPr/>
        </p:nvSpPr>
        <p:spPr>
          <a:xfrm>
            <a:off x="2257425" y="5573836"/>
            <a:ext cx="6514339" cy="666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defRPr b="1" sz="2037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AR order </a:t>
            </a:r>
            <a:r>
              <a:rPr b="0"/>
              <a:t>— how many past values to use for prediction</a:t>
            </a:r>
          </a:p>
        </p:txBody>
      </p:sp>
      <p:sp>
        <p:nvSpPr>
          <p:cNvPr id="644" name="Shape 11"/>
          <p:cNvSpPr/>
          <p:nvPr/>
        </p:nvSpPr>
        <p:spPr>
          <a:xfrm>
            <a:off x="1143000" y="6612062"/>
            <a:ext cx="7753350" cy="1181101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45" name="Shape 12"/>
          <p:cNvSpPr/>
          <p:nvPr/>
        </p:nvSpPr>
        <p:spPr>
          <a:xfrm>
            <a:off x="1457325" y="6916862"/>
            <a:ext cx="571500" cy="571501"/>
          </a:xfrm>
          <a:prstGeom prst="ellipse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46" name="Text 13"/>
          <p:cNvSpPr txBox="1"/>
          <p:nvPr/>
        </p:nvSpPr>
        <p:spPr>
          <a:xfrm>
            <a:off x="1419225" y="6916862"/>
            <a:ext cx="6477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defRPr b="1" sz="22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</a:t>
            </a:r>
          </a:p>
        </p:txBody>
      </p:sp>
      <p:sp>
        <p:nvSpPr>
          <p:cNvPr id="647" name="Text 14"/>
          <p:cNvSpPr txBox="1"/>
          <p:nvPr/>
        </p:nvSpPr>
        <p:spPr>
          <a:xfrm>
            <a:off x="2257425" y="6888287"/>
            <a:ext cx="6514339" cy="666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68680">
              <a:defRPr b="1" sz="199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Integration order </a:t>
            </a:r>
            <a:r>
              <a:rPr b="0"/>
              <a:t>— how many times to difference for stationarity</a:t>
            </a:r>
          </a:p>
        </p:txBody>
      </p:sp>
      <p:sp>
        <p:nvSpPr>
          <p:cNvPr id="648" name="Shape 15"/>
          <p:cNvSpPr/>
          <p:nvPr/>
        </p:nvSpPr>
        <p:spPr>
          <a:xfrm>
            <a:off x="1143000" y="7926512"/>
            <a:ext cx="7753350" cy="1181101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49" name="Shape 16"/>
          <p:cNvSpPr/>
          <p:nvPr/>
        </p:nvSpPr>
        <p:spPr>
          <a:xfrm>
            <a:off x="1457325" y="8231312"/>
            <a:ext cx="571500" cy="571501"/>
          </a:xfrm>
          <a:prstGeom prst="ellipse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50" name="Text 17"/>
          <p:cNvSpPr txBox="1"/>
          <p:nvPr/>
        </p:nvSpPr>
        <p:spPr>
          <a:xfrm>
            <a:off x="1419225" y="8231312"/>
            <a:ext cx="6477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defRPr b="1" sz="22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q</a:t>
            </a:r>
          </a:p>
        </p:txBody>
      </p:sp>
      <p:sp>
        <p:nvSpPr>
          <p:cNvPr id="651" name="Text 18"/>
          <p:cNvSpPr txBox="1"/>
          <p:nvPr/>
        </p:nvSpPr>
        <p:spPr>
          <a:xfrm>
            <a:off x="2257425" y="8202737"/>
            <a:ext cx="6514339" cy="666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68680">
              <a:defRPr b="1" sz="199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MA order </a:t>
            </a:r>
            <a:r>
              <a:rPr b="0"/>
              <a:t>— how many past forecast errors to use for correction</a:t>
            </a:r>
          </a:p>
        </p:txBody>
      </p:sp>
      <p:sp>
        <p:nvSpPr>
          <p:cNvPr id="652" name="Shape 19"/>
          <p:cNvSpPr/>
          <p:nvPr/>
        </p:nvSpPr>
        <p:spPr>
          <a:xfrm>
            <a:off x="9391650" y="4080345"/>
            <a:ext cx="7753350" cy="3489879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3" name="Text 20"/>
          <p:cNvSpPr txBox="1"/>
          <p:nvPr/>
        </p:nvSpPr>
        <p:spPr>
          <a:xfrm>
            <a:off x="9782175" y="4302471"/>
            <a:ext cx="7181468" cy="352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68680">
              <a:defRPr b="1" sz="199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Forecast → RUL Conversion</a:t>
            </a:r>
          </a:p>
        </p:txBody>
      </p:sp>
      <p:sp>
        <p:nvSpPr>
          <p:cNvPr id="654" name="Text 21"/>
          <p:cNvSpPr txBox="1"/>
          <p:nvPr/>
        </p:nvSpPr>
        <p:spPr>
          <a:xfrm>
            <a:off x="9782175" y="4845396"/>
            <a:ext cx="7181468" cy="4342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60000"/>
              </a:lnSpc>
              <a:defRPr sz="1900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1. Observe health index up to cycle T</a:t>
            </a:r>
          </a:p>
        </p:txBody>
      </p:sp>
      <p:sp>
        <p:nvSpPr>
          <p:cNvPr id="655" name="Text 22"/>
          <p:cNvSpPr txBox="1"/>
          <p:nvPr/>
        </p:nvSpPr>
        <p:spPr>
          <a:xfrm>
            <a:off x="9782175" y="5355878"/>
            <a:ext cx="7181468" cy="4342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60000"/>
              </a:lnSpc>
              <a:defRPr sz="1900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2. Fit ARIMA(1,2,1) on observed series</a:t>
            </a:r>
          </a:p>
        </p:txBody>
      </p:sp>
      <p:sp>
        <p:nvSpPr>
          <p:cNvPr id="656" name="Text 23"/>
          <p:cNvSpPr txBox="1"/>
          <p:nvPr/>
        </p:nvSpPr>
        <p:spPr>
          <a:xfrm>
            <a:off x="9782175" y="5866357"/>
            <a:ext cx="7181468" cy="4342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60000"/>
              </a:lnSpc>
              <a:defRPr sz="1900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3. Forecast 150 steps forward</a:t>
            </a:r>
          </a:p>
        </p:txBody>
      </p:sp>
      <p:sp>
        <p:nvSpPr>
          <p:cNvPr id="657" name="Text 24"/>
          <p:cNvSpPr txBox="1"/>
          <p:nvPr/>
        </p:nvSpPr>
        <p:spPr>
          <a:xfrm>
            <a:off x="9782175" y="6376839"/>
            <a:ext cx="7181468" cy="4342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60000"/>
              </a:lnSpc>
              <a:defRPr sz="1900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4. Find first step where h.i. ≥ 1.685</a:t>
            </a:r>
          </a:p>
        </p:txBody>
      </p:sp>
      <p:sp>
        <p:nvSpPr>
          <p:cNvPr id="658" name="Text 25"/>
          <p:cNvSpPr txBox="1"/>
          <p:nvPr/>
        </p:nvSpPr>
        <p:spPr>
          <a:xfrm>
            <a:off x="9782175" y="6887319"/>
            <a:ext cx="7181468" cy="4342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60000"/>
              </a:lnSpc>
              <a:defRPr sz="1900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5. That step number = </a:t>
            </a:r>
            <a:r>
              <a:rPr b="1"/>
              <a:t>predicted RUL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61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CLASSICAL MODELS</a:t>
            </a:r>
          </a:p>
        </p:txBody>
      </p:sp>
      <p:sp>
        <p:nvSpPr>
          <p:cNvPr id="662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63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Finding d: ADF Stationarity Test</a:t>
            </a:r>
          </a:p>
        </p:txBody>
      </p:sp>
      <p:sp>
        <p:nvSpPr>
          <p:cNvPr id="664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ARIMA requires </a:t>
            </a:r>
            <a:r>
              <a:rPr b="1">
                <a:solidFill>
                  <a:srgbClr val="12294A"/>
                </a:solidFill>
              </a:rPr>
              <a:t>stationarity </a:t>
            </a:r>
            <a:r>
              <a:t>— constant mean and variance over time</a:t>
            </a:r>
          </a:p>
        </p:txBody>
      </p:sp>
      <p:sp>
        <p:nvSpPr>
          <p:cNvPr id="665" name="Text 5"/>
          <p:cNvSpPr txBox="1"/>
          <p:nvPr/>
        </p:nvSpPr>
        <p:spPr>
          <a:xfrm>
            <a:off x="1562100" y="354129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Health index clearly trends upward — non-stationary at level</a:t>
            </a:r>
          </a:p>
        </p:txBody>
      </p:sp>
      <p:sp>
        <p:nvSpPr>
          <p:cNvPr id="666" name="Text 6"/>
          <p:cNvSpPr txBox="1"/>
          <p:nvPr/>
        </p:nvSpPr>
        <p:spPr>
          <a:xfrm>
            <a:off x="1562100" y="460422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ADF test </a:t>
            </a:r>
            <a:r>
              <a:rPr b="0">
                <a:solidFill>
                  <a:srgbClr val="1C3150"/>
                </a:solidFill>
              </a:rPr>
              <a:t>(Augmented Dickey-Fuller): p &lt; 0.05 → stationary, stop differencing</a:t>
            </a:r>
          </a:p>
        </p:txBody>
      </p:sp>
      <p:sp>
        <p:nvSpPr>
          <p:cNvPr id="667" name="Text 7"/>
          <p:cNvSpPr txBox="1"/>
          <p:nvPr/>
        </p:nvSpPr>
        <p:spPr>
          <a:xfrm>
            <a:off x="1562100" y="566715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First difference removes linear trend (d=1); second difference removes acceleration (d=2)</a:t>
            </a:r>
          </a:p>
        </p:txBody>
      </p:sp>
      <p:sp>
        <p:nvSpPr>
          <p:cNvPr id="668" name="Text 8"/>
          <p:cNvSpPr txBox="1"/>
          <p:nvPr/>
        </p:nvSpPr>
        <p:spPr>
          <a:xfrm>
            <a:off x="1562100" y="673008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FD004: </a:t>
            </a:r>
            <a:r>
              <a:rPr b="1">
                <a:solidFill>
                  <a:srgbClr val="12294A"/>
                </a:solidFill>
              </a:rPr>
              <a:t>206/248 engines need d=2 </a:t>
            </a:r>
            <a:r>
              <a:t>— degradation accelerates</a:t>
            </a:r>
          </a:p>
        </p:txBody>
      </p:sp>
      <p:sp>
        <p:nvSpPr>
          <p:cNvPr id="669" name="Shape 9"/>
          <p:cNvSpPr/>
          <p:nvPr/>
        </p:nvSpPr>
        <p:spPr>
          <a:xfrm>
            <a:off x="9391650" y="2478359"/>
            <a:ext cx="7753350" cy="5105103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70" name="Text 10"/>
          <p:cNvSpPr txBox="1"/>
          <p:nvPr/>
        </p:nvSpPr>
        <p:spPr>
          <a:xfrm>
            <a:off x="9782175" y="2868884"/>
            <a:ext cx="718146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ADF Results — Engine 118 (543 cycles)</a:t>
            </a:r>
          </a:p>
        </p:txBody>
      </p:sp>
      <p:sp>
        <p:nvSpPr>
          <p:cNvPr id="671" name="Shape 11"/>
          <p:cNvSpPr/>
          <p:nvPr/>
        </p:nvSpPr>
        <p:spPr>
          <a:xfrm>
            <a:off x="9782175" y="3421334"/>
            <a:ext cx="1824260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72" name="Text 12"/>
          <p:cNvSpPr txBox="1"/>
          <p:nvPr/>
        </p:nvSpPr>
        <p:spPr>
          <a:xfrm>
            <a:off x="9991725" y="3573734"/>
            <a:ext cx="1481362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Level</a:t>
            </a:r>
          </a:p>
        </p:txBody>
      </p:sp>
      <p:sp>
        <p:nvSpPr>
          <p:cNvPr id="673" name="Shape 13"/>
          <p:cNvSpPr/>
          <p:nvPr/>
        </p:nvSpPr>
        <p:spPr>
          <a:xfrm>
            <a:off x="11606435" y="3421334"/>
            <a:ext cx="1996084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74" name="Text 14"/>
          <p:cNvSpPr txBox="1"/>
          <p:nvPr/>
        </p:nvSpPr>
        <p:spPr>
          <a:xfrm>
            <a:off x="11815985" y="3573734"/>
            <a:ext cx="1653184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ADF p-value</a:t>
            </a:r>
          </a:p>
        </p:txBody>
      </p:sp>
      <p:sp>
        <p:nvSpPr>
          <p:cNvPr id="675" name="Shape 15"/>
          <p:cNvSpPr/>
          <p:nvPr/>
        </p:nvSpPr>
        <p:spPr>
          <a:xfrm>
            <a:off x="13602518" y="3421334"/>
            <a:ext cx="3151957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76" name="Text 16"/>
          <p:cNvSpPr txBox="1"/>
          <p:nvPr/>
        </p:nvSpPr>
        <p:spPr>
          <a:xfrm>
            <a:off x="13812068" y="3573734"/>
            <a:ext cx="2827416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Verdict</a:t>
            </a:r>
          </a:p>
        </p:txBody>
      </p:sp>
      <p:sp>
        <p:nvSpPr>
          <p:cNvPr id="677" name="Shape 17"/>
          <p:cNvSpPr/>
          <p:nvPr/>
        </p:nvSpPr>
        <p:spPr>
          <a:xfrm>
            <a:off x="9782175" y="4667522"/>
            <a:ext cx="182426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78" name="Text 18"/>
          <p:cNvSpPr txBox="1"/>
          <p:nvPr/>
        </p:nvSpPr>
        <p:spPr>
          <a:xfrm>
            <a:off x="9991725" y="4159522"/>
            <a:ext cx="1481362" cy="414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>
              <a:defRPr sz="1900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Raw (d=0)</a:t>
            </a:r>
          </a:p>
        </p:txBody>
      </p:sp>
      <p:sp>
        <p:nvSpPr>
          <p:cNvPr id="679" name="Shape 19"/>
          <p:cNvSpPr/>
          <p:nvPr/>
        </p:nvSpPr>
        <p:spPr>
          <a:xfrm>
            <a:off x="11606435" y="4667522"/>
            <a:ext cx="1996084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0" name="Text 20"/>
          <p:cNvSpPr txBox="1"/>
          <p:nvPr/>
        </p:nvSpPr>
        <p:spPr>
          <a:xfrm>
            <a:off x="11815985" y="4159522"/>
            <a:ext cx="1653184" cy="414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>
              <a:defRPr sz="1900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1.000</a:t>
            </a:r>
          </a:p>
        </p:txBody>
      </p:sp>
      <p:sp>
        <p:nvSpPr>
          <p:cNvPr id="681" name="Shape 21"/>
          <p:cNvSpPr/>
          <p:nvPr/>
        </p:nvSpPr>
        <p:spPr>
          <a:xfrm>
            <a:off x="13602518" y="4667522"/>
            <a:ext cx="315195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2" name="Shape 22"/>
          <p:cNvSpPr/>
          <p:nvPr/>
        </p:nvSpPr>
        <p:spPr>
          <a:xfrm>
            <a:off x="13812068" y="4159522"/>
            <a:ext cx="2527623" cy="381001"/>
          </a:xfrm>
          <a:prstGeom prst="roundRect">
            <a:avLst>
              <a:gd name="adj" fmla="val 50000"/>
            </a:avLst>
          </a:prstGeom>
          <a:solidFill>
            <a:srgbClr val="C0392B">
              <a:alpha val="12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3" name="Text 23"/>
          <p:cNvSpPr txBox="1"/>
          <p:nvPr/>
        </p:nvSpPr>
        <p:spPr>
          <a:xfrm>
            <a:off x="14002568" y="4216672"/>
            <a:ext cx="222282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z="1746">
                <a:solidFill>
                  <a:srgbClr val="C0392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NON-STATIONARY</a:t>
            </a:r>
          </a:p>
        </p:txBody>
      </p:sp>
      <p:sp>
        <p:nvSpPr>
          <p:cNvPr id="684" name="Shape 24"/>
          <p:cNvSpPr/>
          <p:nvPr/>
        </p:nvSpPr>
        <p:spPr>
          <a:xfrm>
            <a:off x="9782175" y="4678634"/>
            <a:ext cx="1824260" cy="657226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5" name="Shape 25"/>
          <p:cNvSpPr/>
          <p:nvPr/>
        </p:nvSpPr>
        <p:spPr>
          <a:xfrm>
            <a:off x="9782175" y="5324747"/>
            <a:ext cx="182426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6" name="Text 26"/>
          <p:cNvSpPr txBox="1"/>
          <p:nvPr/>
        </p:nvSpPr>
        <p:spPr>
          <a:xfrm>
            <a:off x="9991725" y="4811984"/>
            <a:ext cx="148136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>
              <a:defRPr sz="1900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Diff-1 (d=1)</a:t>
            </a:r>
          </a:p>
        </p:txBody>
      </p:sp>
      <p:sp>
        <p:nvSpPr>
          <p:cNvPr id="687" name="Shape 27"/>
          <p:cNvSpPr/>
          <p:nvPr/>
        </p:nvSpPr>
        <p:spPr>
          <a:xfrm>
            <a:off x="11606435" y="4678634"/>
            <a:ext cx="1996084" cy="657226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8" name="Shape 28"/>
          <p:cNvSpPr/>
          <p:nvPr/>
        </p:nvSpPr>
        <p:spPr>
          <a:xfrm>
            <a:off x="11606435" y="5324747"/>
            <a:ext cx="1996084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9" name="Text 29"/>
          <p:cNvSpPr txBox="1"/>
          <p:nvPr/>
        </p:nvSpPr>
        <p:spPr>
          <a:xfrm>
            <a:off x="11815985" y="4811984"/>
            <a:ext cx="1653184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>
              <a:defRPr sz="1900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0.974</a:t>
            </a:r>
          </a:p>
        </p:txBody>
      </p:sp>
      <p:sp>
        <p:nvSpPr>
          <p:cNvPr id="690" name="Shape 30"/>
          <p:cNvSpPr/>
          <p:nvPr/>
        </p:nvSpPr>
        <p:spPr>
          <a:xfrm>
            <a:off x="13602518" y="4678634"/>
            <a:ext cx="3151957" cy="657226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1" name="Shape 31"/>
          <p:cNvSpPr/>
          <p:nvPr/>
        </p:nvSpPr>
        <p:spPr>
          <a:xfrm>
            <a:off x="13602518" y="5324747"/>
            <a:ext cx="315195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2" name="Shape 32"/>
          <p:cNvSpPr/>
          <p:nvPr/>
        </p:nvSpPr>
        <p:spPr>
          <a:xfrm>
            <a:off x="13812068" y="4816747"/>
            <a:ext cx="2527623" cy="381001"/>
          </a:xfrm>
          <a:prstGeom prst="roundRect">
            <a:avLst>
              <a:gd name="adj" fmla="val 50000"/>
            </a:avLst>
          </a:prstGeom>
          <a:solidFill>
            <a:srgbClr val="C0392B">
              <a:alpha val="12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3" name="Text 33"/>
          <p:cNvSpPr txBox="1"/>
          <p:nvPr/>
        </p:nvSpPr>
        <p:spPr>
          <a:xfrm>
            <a:off x="14002568" y="4873897"/>
            <a:ext cx="222282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z="1746">
                <a:solidFill>
                  <a:srgbClr val="C0392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NON-STATIONARY</a:t>
            </a:r>
          </a:p>
        </p:txBody>
      </p:sp>
      <p:sp>
        <p:nvSpPr>
          <p:cNvPr id="694" name="Shape 34"/>
          <p:cNvSpPr/>
          <p:nvPr/>
        </p:nvSpPr>
        <p:spPr>
          <a:xfrm>
            <a:off x="9782175" y="5981972"/>
            <a:ext cx="182426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5" name="Text 35"/>
          <p:cNvSpPr txBox="1"/>
          <p:nvPr/>
        </p:nvSpPr>
        <p:spPr>
          <a:xfrm>
            <a:off x="9991725" y="5469209"/>
            <a:ext cx="148136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>
              <a:defRPr sz="1900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Diff-2 (d=2)</a:t>
            </a:r>
          </a:p>
        </p:txBody>
      </p:sp>
      <p:sp>
        <p:nvSpPr>
          <p:cNvPr id="696" name="Shape 36"/>
          <p:cNvSpPr/>
          <p:nvPr/>
        </p:nvSpPr>
        <p:spPr>
          <a:xfrm>
            <a:off x="11606435" y="5981972"/>
            <a:ext cx="1996084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7" name="Text 37"/>
          <p:cNvSpPr txBox="1"/>
          <p:nvPr/>
        </p:nvSpPr>
        <p:spPr>
          <a:xfrm>
            <a:off x="11815985" y="5469209"/>
            <a:ext cx="1653184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>
              <a:defRPr sz="1900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0.000</a:t>
            </a:r>
          </a:p>
        </p:txBody>
      </p:sp>
      <p:sp>
        <p:nvSpPr>
          <p:cNvPr id="698" name="Shape 38"/>
          <p:cNvSpPr/>
          <p:nvPr/>
        </p:nvSpPr>
        <p:spPr>
          <a:xfrm>
            <a:off x="13602518" y="5981972"/>
            <a:ext cx="315195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9" name="Shape 39"/>
          <p:cNvSpPr/>
          <p:nvPr/>
        </p:nvSpPr>
        <p:spPr>
          <a:xfrm>
            <a:off x="13812068" y="5473972"/>
            <a:ext cx="2156074" cy="381001"/>
          </a:xfrm>
          <a:prstGeom prst="roundRect">
            <a:avLst>
              <a:gd name="adj" fmla="val 50000"/>
            </a:avLst>
          </a:prstGeom>
          <a:solidFill>
            <a:srgbClr val="27AE60">
              <a:alpha val="12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00" name="Text 40"/>
          <p:cNvSpPr txBox="1"/>
          <p:nvPr/>
        </p:nvSpPr>
        <p:spPr>
          <a:xfrm>
            <a:off x="14002568" y="5531122"/>
            <a:ext cx="1851274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41247">
              <a:defRPr b="1" sz="1656">
                <a:solidFill>
                  <a:srgbClr val="27AE6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STATIONARY ✓</a:t>
            </a:r>
          </a:p>
        </p:txBody>
      </p:sp>
      <p:sp>
        <p:nvSpPr>
          <p:cNvPr id="701" name="Shape 41"/>
          <p:cNvSpPr/>
          <p:nvPr/>
        </p:nvSpPr>
        <p:spPr>
          <a:xfrm>
            <a:off x="9782175" y="6188347"/>
            <a:ext cx="6972300" cy="814389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02" name="Shape 42"/>
          <p:cNvSpPr/>
          <p:nvPr/>
        </p:nvSpPr>
        <p:spPr>
          <a:xfrm>
            <a:off x="9782175" y="6188347"/>
            <a:ext cx="57150" cy="814389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03" name="Text 43"/>
          <p:cNvSpPr txBox="1"/>
          <p:nvPr/>
        </p:nvSpPr>
        <p:spPr>
          <a:xfrm>
            <a:off x="10144125" y="6416947"/>
            <a:ext cx="6514718" cy="395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50000"/>
              </a:lnSpc>
              <a:defRPr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→ Modal d = </a:t>
            </a:r>
            <a:r>
              <a:rPr b="1"/>
              <a:t>2 </a:t>
            </a:r>
            <a:r>
              <a:t>across 248 training engines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06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CLASSICAL MODELS</a:t>
            </a:r>
          </a:p>
        </p:txBody>
      </p:sp>
      <p:sp>
        <p:nvSpPr>
          <p:cNvPr id="707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08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Raw vs. After First Differencing</a:t>
            </a:r>
          </a:p>
        </p:txBody>
      </p:sp>
      <p:sp>
        <p:nvSpPr>
          <p:cNvPr id="709" name="Shape 4"/>
          <p:cNvSpPr/>
          <p:nvPr/>
        </p:nvSpPr>
        <p:spPr>
          <a:xfrm>
            <a:off x="952500" y="2114550"/>
            <a:ext cx="105537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0" name="Text 5"/>
          <p:cNvSpPr txBox="1"/>
          <p:nvPr/>
        </p:nvSpPr>
        <p:spPr>
          <a:xfrm>
            <a:off x="12420600" y="2607468"/>
            <a:ext cx="5074921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Left (d=0): </a:t>
            </a:r>
            <a:r>
              <a:rPr b="0">
                <a:solidFill>
                  <a:srgbClr val="1C3150"/>
                </a:solidFill>
              </a:rPr>
              <a:t>clear upward drift — non-stationary; ADF p=1.0</a:t>
            </a:r>
          </a:p>
        </p:txBody>
      </p:sp>
      <p:sp>
        <p:nvSpPr>
          <p:cNvPr id="711" name="Text 6"/>
          <p:cNvSpPr txBox="1"/>
          <p:nvPr/>
        </p:nvSpPr>
        <p:spPr>
          <a:xfrm>
            <a:off x="12420600" y="3559969"/>
            <a:ext cx="5074921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32104">
              <a:lnSpc>
                <a:spcPct val="140000"/>
              </a:lnSpc>
              <a:defRPr b="1" sz="2002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Right (d=1): </a:t>
            </a:r>
            <a:r>
              <a:rPr b="0">
                <a:solidFill>
                  <a:srgbClr val="1C3150"/>
                </a:solidFill>
              </a:rPr>
              <a:t>linear trend removed; but variance spreads at higher indices — still non-stationary; ADF p≈0.97</a:t>
            </a:r>
          </a:p>
        </p:txBody>
      </p:sp>
      <p:sp>
        <p:nvSpPr>
          <p:cNvPr id="712" name="Text 7"/>
          <p:cNvSpPr txBox="1"/>
          <p:nvPr/>
        </p:nvSpPr>
        <p:spPr>
          <a:xfrm>
            <a:off x="12420600" y="4912519"/>
            <a:ext cx="5074921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0391">
              <a:lnSpc>
                <a:spcPct val="140000"/>
              </a:lnSpc>
              <a:defRPr sz="204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FD004 degradation </a:t>
            </a:r>
            <a:r>
              <a:rPr i="1"/>
              <a:t>accelerates </a:t>
            </a:r>
            <a:r>
              <a:t>near failure — rate of change itself trends upward</a:t>
            </a:r>
          </a:p>
        </p:txBody>
      </p:sp>
      <p:sp>
        <p:nvSpPr>
          <p:cNvPr id="713" name="Text 8"/>
          <p:cNvSpPr txBox="1"/>
          <p:nvPr/>
        </p:nvSpPr>
        <p:spPr>
          <a:xfrm>
            <a:off x="12420600" y="6265069"/>
            <a:ext cx="5074921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40000"/>
              </a:lnSpc>
              <a:defRPr sz="2002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Second difference (acceleration of health index) becomes approximately constant → stationary</a:t>
            </a:r>
          </a:p>
        </p:txBody>
      </p:sp>
      <p:sp>
        <p:nvSpPr>
          <p:cNvPr id="714" name="Shape 9"/>
          <p:cNvSpPr/>
          <p:nvPr/>
        </p:nvSpPr>
        <p:spPr>
          <a:xfrm>
            <a:off x="12001500" y="7693818"/>
            <a:ext cx="5334000" cy="1528764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15" name="Shape 10"/>
          <p:cNvSpPr/>
          <p:nvPr/>
        </p:nvSpPr>
        <p:spPr>
          <a:xfrm>
            <a:off x="12001500" y="7693818"/>
            <a:ext cx="57150" cy="1528764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16" name="Text 11"/>
          <p:cNvSpPr txBox="1"/>
          <p:nvPr/>
        </p:nvSpPr>
        <p:spPr>
          <a:xfrm>
            <a:off x="12363450" y="7922418"/>
            <a:ext cx="4827271" cy="1109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50000"/>
              </a:lnSpc>
              <a:defRPr sz="174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d=2 is the hallmark of </a:t>
            </a:r>
            <a:r>
              <a:rPr b="1"/>
              <a:t>accelerating degradation </a:t>
            </a:r>
            <a:r>
              <a:t>— not constant-rate wear, but wear compounding on itself.</a:t>
            </a:r>
          </a:p>
        </p:txBody>
      </p:sp>
      <p:pic>
        <p:nvPicPr>
          <p:cNvPr id="717" name="pasted-movie.png" descr="pasted-movie.png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86789" y="2146197"/>
            <a:ext cx="10066072" cy="753765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20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CLASSICAL MODELS</a:t>
            </a:r>
          </a:p>
        </p:txBody>
      </p:sp>
      <p:sp>
        <p:nvSpPr>
          <p:cNvPr id="721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22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Finding p and q: ACF / PACF (Twice-Differenced Series)</a:t>
            </a:r>
          </a:p>
        </p:txBody>
      </p:sp>
      <p:sp>
        <p:nvSpPr>
          <p:cNvPr id="723" name="Shape 4"/>
          <p:cNvSpPr/>
          <p:nvPr/>
        </p:nvSpPr>
        <p:spPr>
          <a:xfrm>
            <a:off x="952500" y="2114550"/>
            <a:ext cx="109347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72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76325" y="2238375"/>
            <a:ext cx="10687050" cy="7353300"/>
          </a:xfrm>
          <a:prstGeom prst="rect">
            <a:avLst/>
          </a:prstGeom>
          <a:ln w="12700">
            <a:miter lim="400000"/>
          </a:ln>
        </p:spPr>
      </p:pic>
      <p:sp>
        <p:nvSpPr>
          <p:cNvPr id="725" name="Text 5"/>
          <p:cNvSpPr txBox="1"/>
          <p:nvPr/>
        </p:nvSpPr>
        <p:spPr>
          <a:xfrm>
            <a:off x="12801600" y="1931193"/>
            <a:ext cx="4682491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77823">
              <a:lnSpc>
                <a:spcPct val="140000"/>
              </a:lnSpc>
              <a:defRPr b="1" sz="2112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ACF </a:t>
            </a:r>
            <a:r>
              <a:rPr b="0">
                <a:solidFill>
                  <a:srgbClr val="1C3150"/>
                </a:solidFill>
              </a:rPr>
              <a:t>: correlation at each lag → guides q (MA order). Cuts off → pure MA</a:t>
            </a:r>
          </a:p>
        </p:txBody>
      </p:sp>
      <p:sp>
        <p:nvSpPr>
          <p:cNvPr id="726" name="Text 6"/>
          <p:cNvSpPr txBox="1"/>
          <p:nvPr/>
        </p:nvSpPr>
        <p:spPr>
          <a:xfrm>
            <a:off x="12801600" y="3283744"/>
            <a:ext cx="4682491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41247">
              <a:lnSpc>
                <a:spcPct val="140000"/>
              </a:lnSpc>
              <a:defRPr b="1" sz="202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PACF </a:t>
            </a:r>
            <a:r>
              <a:rPr b="0">
                <a:solidFill>
                  <a:srgbClr val="1C3150"/>
                </a:solidFill>
              </a:rPr>
              <a:t>: removes indirect effects → guides p (AR order). Cuts off → pure AR</a:t>
            </a:r>
          </a:p>
        </p:txBody>
      </p:sp>
      <p:sp>
        <p:nvSpPr>
          <p:cNvPr id="727" name="Text 7"/>
          <p:cNvSpPr txBox="1"/>
          <p:nvPr/>
        </p:nvSpPr>
        <p:spPr>
          <a:xfrm>
            <a:off x="12801600" y="4636294"/>
            <a:ext cx="4682491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40000"/>
              </a:lnSpc>
              <a:defRPr sz="2002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Large spike at lag 1 in both ACF and PACF (~−0.5) — introduced by double-differencing</a:t>
            </a:r>
          </a:p>
        </p:txBody>
      </p:sp>
      <p:sp>
        <p:nvSpPr>
          <p:cNvPr id="728" name="Text 8"/>
          <p:cNvSpPr txBox="1"/>
          <p:nvPr/>
        </p:nvSpPr>
        <p:spPr>
          <a:xfrm>
            <a:off x="12801600" y="5988844"/>
            <a:ext cx="4682491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32104">
              <a:lnSpc>
                <a:spcPct val="140000"/>
              </a:lnSpc>
              <a:defRPr sz="2002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After lag 1: bars mostly inside confidence band → </a:t>
            </a:r>
            <a:r>
              <a:rPr b="1">
                <a:solidFill>
                  <a:srgbClr val="12294A"/>
                </a:solidFill>
              </a:rPr>
              <a:t>MA(1) dominant structure</a:t>
            </a:r>
          </a:p>
        </p:txBody>
      </p:sp>
      <p:sp>
        <p:nvSpPr>
          <p:cNvPr id="729" name="Text 9"/>
          <p:cNvSpPr txBox="1"/>
          <p:nvPr/>
        </p:nvSpPr>
        <p:spPr>
          <a:xfrm>
            <a:off x="12801600" y="7341393"/>
            <a:ext cx="4682491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Both tailing off → mixed ARMA → ARIMA(1, 2, 1)</a:t>
            </a:r>
          </a:p>
        </p:txBody>
      </p:sp>
      <p:sp>
        <p:nvSpPr>
          <p:cNvPr id="730" name="Shape 10"/>
          <p:cNvSpPr/>
          <p:nvPr/>
        </p:nvSpPr>
        <p:spPr>
          <a:xfrm>
            <a:off x="12382500" y="8370093"/>
            <a:ext cx="4953000" cy="1528764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31" name="Shape 11"/>
          <p:cNvSpPr/>
          <p:nvPr/>
        </p:nvSpPr>
        <p:spPr>
          <a:xfrm>
            <a:off x="12382500" y="8370093"/>
            <a:ext cx="57150" cy="1528764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32" name="Text 12"/>
          <p:cNvSpPr txBox="1"/>
          <p:nvPr/>
        </p:nvSpPr>
        <p:spPr>
          <a:xfrm>
            <a:off x="12744450" y="8598693"/>
            <a:ext cx="4434841" cy="1109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50000"/>
              </a:lnSpc>
              <a:defRPr sz="174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Blue band = 95% confidence. Bars outside = significant. Pattern here points to q=1, p=1.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35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CLASSICAL MODELS</a:t>
            </a:r>
          </a:p>
        </p:txBody>
      </p:sp>
      <p:sp>
        <p:nvSpPr>
          <p:cNvPr id="736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37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AIC Grid Search — Final Model Orders</a:t>
            </a:r>
          </a:p>
        </p:txBody>
      </p:sp>
      <p:sp>
        <p:nvSpPr>
          <p:cNvPr id="738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AIC </a:t>
            </a:r>
            <a:r>
              <a:rPr b="0">
                <a:solidFill>
                  <a:srgbClr val="1C3150"/>
                </a:solidFill>
              </a:rPr>
              <a:t>= −2×log-likelihood + 2×parameters — rewards fit, penalises complexity</a:t>
            </a:r>
          </a:p>
        </p:txBody>
      </p:sp>
      <p:sp>
        <p:nvSpPr>
          <p:cNvPr id="739" name="Text 5"/>
          <p:cNvSpPr txBox="1"/>
          <p:nvPr/>
        </p:nvSpPr>
        <p:spPr>
          <a:xfrm>
            <a:off x="1562100" y="354129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Every (p,q) combination tested on 15 representative training engines</a:t>
            </a:r>
          </a:p>
        </p:txBody>
      </p:sp>
      <p:sp>
        <p:nvSpPr>
          <p:cNvPr id="740" name="Text 6"/>
          <p:cNvSpPr txBox="1"/>
          <p:nvPr/>
        </p:nvSpPr>
        <p:spPr>
          <a:xfrm>
            <a:off x="1562100" y="4604220"/>
            <a:ext cx="75668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905255">
              <a:lnSpc>
                <a:spcPct val="140000"/>
              </a:lnSpc>
              <a:defRPr sz="237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Modal winner across 15 engines is chosen as final order</a:t>
            </a:r>
          </a:p>
        </p:txBody>
      </p:sp>
      <p:sp>
        <p:nvSpPr>
          <p:cNvPr id="741" name="Text 7"/>
          <p:cNvSpPr txBox="1"/>
          <p:nvPr/>
        </p:nvSpPr>
        <p:spPr>
          <a:xfrm>
            <a:off x="1562100" y="5240461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AR: </a:t>
            </a:r>
            <a:r>
              <a:rPr b="0">
                <a:solidFill>
                  <a:srgbClr val="1C3150"/>
                </a:solidFill>
              </a:rPr>
              <a:t>p=10 wins in 12/15 engines — 10 past cycles carry predictive information</a:t>
            </a:r>
          </a:p>
        </p:txBody>
      </p:sp>
      <p:sp>
        <p:nvSpPr>
          <p:cNvPr id="742" name="Text 8"/>
          <p:cNvSpPr txBox="1"/>
          <p:nvPr/>
        </p:nvSpPr>
        <p:spPr>
          <a:xfrm>
            <a:off x="1562100" y="6303391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ARIMA: </a:t>
            </a:r>
            <a:r>
              <a:rPr b="0">
                <a:solidFill>
                  <a:srgbClr val="1C3150"/>
                </a:solidFill>
              </a:rPr>
              <a:t>(p=1, q=1) wins in 4/15 — MA error-correction is the dominant structure</a:t>
            </a:r>
          </a:p>
        </p:txBody>
      </p:sp>
      <p:sp>
        <p:nvSpPr>
          <p:cNvPr id="743" name="Shape 9"/>
          <p:cNvSpPr/>
          <p:nvPr/>
        </p:nvSpPr>
        <p:spPr>
          <a:xfrm>
            <a:off x="9391650" y="2478359"/>
            <a:ext cx="7753350" cy="5000626"/>
          </a:xfrm>
          <a:prstGeom prst="roundRect">
            <a:avLst>
              <a:gd name="adj" fmla="val 3048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44" name="Text 10"/>
          <p:cNvSpPr txBox="1"/>
          <p:nvPr/>
        </p:nvSpPr>
        <p:spPr>
          <a:xfrm>
            <a:off x="9782175" y="2868884"/>
            <a:ext cx="718146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Final Model Orders</a:t>
            </a:r>
          </a:p>
        </p:txBody>
      </p:sp>
      <p:sp>
        <p:nvSpPr>
          <p:cNvPr id="745" name="Shape 11"/>
          <p:cNvSpPr/>
          <p:nvPr/>
        </p:nvSpPr>
        <p:spPr>
          <a:xfrm>
            <a:off x="9782175" y="3421334"/>
            <a:ext cx="1298526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46" name="Text 12"/>
          <p:cNvSpPr txBox="1"/>
          <p:nvPr/>
        </p:nvSpPr>
        <p:spPr>
          <a:xfrm>
            <a:off x="9991725" y="3573734"/>
            <a:ext cx="955626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Model</a:t>
            </a:r>
          </a:p>
        </p:txBody>
      </p:sp>
      <p:sp>
        <p:nvSpPr>
          <p:cNvPr id="747" name="Shape 13"/>
          <p:cNvSpPr/>
          <p:nvPr/>
        </p:nvSpPr>
        <p:spPr>
          <a:xfrm>
            <a:off x="11080699" y="3421334"/>
            <a:ext cx="1503909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48" name="Text 14"/>
          <p:cNvSpPr txBox="1"/>
          <p:nvPr/>
        </p:nvSpPr>
        <p:spPr>
          <a:xfrm>
            <a:off x="11290249" y="3573734"/>
            <a:ext cx="1161009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Order</a:t>
            </a:r>
          </a:p>
        </p:txBody>
      </p:sp>
      <p:sp>
        <p:nvSpPr>
          <p:cNvPr id="749" name="Shape 15"/>
          <p:cNvSpPr/>
          <p:nvPr/>
        </p:nvSpPr>
        <p:spPr>
          <a:xfrm>
            <a:off x="12584609" y="3421334"/>
            <a:ext cx="4169867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50" name="Text 16"/>
          <p:cNvSpPr txBox="1"/>
          <p:nvPr/>
        </p:nvSpPr>
        <p:spPr>
          <a:xfrm>
            <a:off x="12794159" y="3573734"/>
            <a:ext cx="3875862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Interpretation</a:t>
            </a:r>
          </a:p>
        </p:txBody>
      </p:sp>
      <p:sp>
        <p:nvSpPr>
          <p:cNvPr id="751" name="Shape 17"/>
          <p:cNvSpPr/>
          <p:nvPr/>
        </p:nvSpPr>
        <p:spPr>
          <a:xfrm>
            <a:off x="9782175" y="4577035"/>
            <a:ext cx="1298526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52" name="Text 18"/>
          <p:cNvSpPr txBox="1"/>
          <p:nvPr/>
        </p:nvSpPr>
        <p:spPr>
          <a:xfrm>
            <a:off x="9991725" y="4159522"/>
            <a:ext cx="955626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AR</a:t>
            </a:r>
          </a:p>
        </p:txBody>
      </p:sp>
      <p:sp>
        <p:nvSpPr>
          <p:cNvPr id="753" name="Shape 19"/>
          <p:cNvSpPr/>
          <p:nvPr/>
        </p:nvSpPr>
        <p:spPr>
          <a:xfrm>
            <a:off x="11080699" y="4577035"/>
            <a:ext cx="1503909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54" name="Text 20"/>
          <p:cNvSpPr txBox="1"/>
          <p:nvPr/>
        </p:nvSpPr>
        <p:spPr>
          <a:xfrm>
            <a:off x="11290249" y="4159522"/>
            <a:ext cx="1161009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(10, 2, 0)</a:t>
            </a:r>
          </a:p>
        </p:txBody>
      </p:sp>
      <p:sp>
        <p:nvSpPr>
          <p:cNvPr id="755" name="Shape 21"/>
          <p:cNvSpPr/>
          <p:nvPr/>
        </p:nvSpPr>
        <p:spPr>
          <a:xfrm>
            <a:off x="12584609" y="4577035"/>
            <a:ext cx="416986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56" name="Text 22"/>
          <p:cNvSpPr txBox="1"/>
          <p:nvPr/>
        </p:nvSpPr>
        <p:spPr>
          <a:xfrm>
            <a:off x="12794159" y="4159522"/>
            <a:ext cx="3875862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10 lagged values, 2 differences</a:t>
            </a:r>
          </a:p>
        </p:txBody>
      </p:sp>
      <p:sp>
        <p:nvSpPr>
          <p:cNvPr id="757" name="Shape 23"/>
          <p:cNvSpPr/>
          <p:nvPr/>
        </p:nvSpPr>
        <p:spPr>
          <a:xfrm>
            <a:off x="9782175" y="4588147"/>
            <a:ext cx="1298526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58" name="Shape 24"/>
          <p:cNvSpPr/>
          <p:nvPr/>
        </p:nvSpPr>
        <p:spPr>
          <a:xfrm>
            <a:off x="9782175" y="5143772"/>
            <a:ext cx="1298526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59" name="Text 25"/>
          <p:cNvSpPr txBox="1"/>
          <p:nvPr/>
        </p:nvSpPr>
        <p:spPr>
          <a:xfrm>
            <a:off x="9991725" y="4721497"/>
            <a:ext cx="955626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ARMA</a:t>
            </a:r>
          </a:p>
        </p:txBody>
      </p:sp>
      <p:sp>
        <p:nvSpPr>
          <p:cNvPr id="760" name="Shape 26"/>
          <p:cNvSpPr/>
          <p:nvPr/>
        </p:nvSpPr>
        <p:spPr>
          <a:xfrm>
            <a:off x="11080699" y="4588147"/>
            <a:ext cx="1503909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61" name="Shape 27"/>
          <p:cNvSpPr/>
          <p:nvPr/>
        </p:nvSpPr>
        <p:spPr>
          <a:xfrm>
            <a:off x="11080699" y="5143772"/>
            <a:ext cx="1503909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62" name="Text 28"/>
          <p:cNvSpPr txBox="1"/>
          <p:nvPr/>
        </p:nvSpPr>
        <p:spPr>
          <a:xfrm>
            <a:off x="11290249" y="4721497"/>
            <a:ext cx="1161009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(1, 2, 1)</a:t>
            </a:r>
          </a:p>
        </p:txBody>
      </p:sp>
      <p:sp>
        <p:nvSpPr>
          <p:cNvPr id="763" name="Shape 29"/>
          <p:cNvSpPr/>
          <p:nvPr/>
        </p:nvSpPr>
        <p:spPr>
          <a:xfrm>
            <a:off x="12584609" y="4588147"/>
            <a:ext cx="4169867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64" name="Shape 30"/>
          <p:cNvSpPr/>
          <p:nvPr/>
        </p:nvSpPr>
        <p:spPr>
          <a:xfrm>
            <a:off x="12584609" y="5143772"/>
            <a:ext cx="416986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65" name="Text 31"/>
          <p:cNvSpPr txBox="1"/>
          <p:nvPr/>
        </p:nvSpPr>
        <p:spPr>
          <a:xfrm>
            <a:off x="12794159" y="4721497"/>
            <a:ext cx="3875862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 AR + 1 MA term, 2 differences</a:t>
            </a:r>
          </a:p>
        </p:txBody>
      </p:sp>
      <p:sp>
        <p:nvSpPr>
          <p:cNvPr id="766" name="Shape 32"/>
          <p:cNvSpPr/>
          <p:nvPr/>
        </p:nvSpPr>
        <p:spPr>
          <a:xfrm>
            <a:off x="9782175" y="5710510"/>
            <a:ext cx="1298526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67" name="Text 33"/>
          <p:cNvSpPr txBox="1"/>
          <p:nvPr/>
        </p:nvSpPr>
        <p:spPr>
          <a:xfrm>
            <a:off x="9991725" y="5288234"/>
            <a:ext cx="955626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ARIMA</a:t>
            </a:r>
          </a:p>
        </p:txBody>
      </p:sp>
      <p:sp>
        <p:nvSpPr>
          <p:cNvPr id="768" name="Shape 34"/>
          <p:cNvSpPr/>
          <p:nvPr/>
        </p:nvSpPr>
        <p:spPr>
          <a:xfrm>
            <a:off x="11080699" y="5710510"/>
            <a:ext cx="1503909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69" name="Text 35"/>
          <p:cNvSpPr txBox="1"/>
          <p:nvPr/>
        </p:nvSpPr>
        <p:spPr>
          <a:xfrm>
            <a:off x="11290249" y="5288234"/>
            <a:ext cx="1161009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(1, 2, 1)</a:t>
            </a:r>
          </a:p>
        </p:txBody>
      </p:sp>
      <p:sp>
        <p:nvSpPr>
          <p:cNvPr id="770" name="Shape 36"/>
          <p:cNvSpPr/>
          <p:nvPr/>
        </p:nvSpPr>
        <p:spPr>
          <a:xfrm>
            <a:off x="12584609" y="5710510"/>
            <a:ext cx="416986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71" name="Text 37"/>
          <p:cNvSpPr txBox="1"/>
          <p:nvPr/>
        </p:nvSpPr>
        <p:spPr>
          <a:xfrm>
            <a:off x="12794159" y="5288234"/>
            <a:ext cx="3875862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MA error-correction dominant</a:t>
            </a:r>
          </a:p>
        </p:txBody>
      </p:sp>
      <p:sp>
        <p:nvSpPr>
          <p:cNvPr id="772" name="Shape 38"/>
          <p:cNvSpPr/>
          <p:nvPr/>
        </p:nvSpPr>
        <p:spPr>
          <a:xfrm>
            <a:off x="9782175" y="5916884"/>
            <a:ext cx="6972300" cy="1171576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73" name="Shape 39"/>
          <p:cNvSpPr/>
          <p:nvPr/>
        </p:nvSpPr>
        <p:spPr>
          <a:xfrm>
            <a:off x="9782175" y="5916884"/>
            <a:ext cx="57150" cy="1171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74" name="Text 40"/>
          <p:cNvSpPr txBox="1"/>
          <p:nvPr/>
        </p:nvSpPr>
        <p:spPr>
          <a:xfrm>
            <a:off x="10144125" y="6145484"/>
            <a:ext cx="6514718" cy="7524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50000"/>
              </a:lnSpc>
              <a:defRPr b="1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ma.L1 = −0.914 </a:t>
            </a:r>
            <a:r>
              <a:rPr b="0"/>
              <a:t>(p=0.000) — the MA term dominates: strong error-correction after each forecast step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77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CLASSICAL MODELS</a:t>
            </a:r>
          </a:p>
        </p:txBody>
      </p:sp>
      <p:sp>
        <p:nvSpPr>
          <p:cNvPr id="778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79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Residual Diagnostics — ARIMA(1,2,1)</a:t>
            </a:r>
          </a:p>
        </p:txBody>
      </p:sp>
      <p:sp>
        <p:nvSpPr>
          <p:cNvPr id="780" name="Shape 4"/>
          <p:cNvSpPr/>
          <p:nvPr/>
        </p:nvSpPr>
        <p:spPr>
          <a:xfrm>
            <a:off x="952500" y="2114550"/>
            <a:ext cx="107442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81" name="Text 5"/>
          <p:cNvSpPr txBox="1"/>
          <p:nvPr/>
        </p:nvSpPr>
        <p:spPr>
          <a:xfrm>
            <a:off x="12611100" y="3105150"/>
            <a:ext cx="4878705" cy="1238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32104">
              <a:lnSpc>
                <a:spcPct val="140000"/>
              </a:lnSpc>
              <a:defRPr b="1" sz="2002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QQ Plot (left): </a:t>
            </a:r>
            <a:r>
              <a:rPr b="0">
                <a:solidFill>
                  <a:srgbClr val="1C3150"/>
                </a:solidFill>
              </a:rPr>
              <a:t>heavy tails — kurtosis = 7.95 vs 3 for normal. Occasional large errors expected</a:t>
            </a:r>
          </a:p>
        </p:txBody>
      </p:sp>
      <p:sp>
        <p:nvSpPr>
          <p:cNvPr id="782" name="Text 6"/>
          <p:cNvSpPr txBox="1"/>
          <p:nvPr/>
        </p:nvSpPr>
        <p:spPr>
          <a:xfrm>
            <a:off x="12611100" y="4457700"/>
            <a:ext cx="4878705" cy="1238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32104">
              <a:lnSpc>
                <a:spcPct val="140000"/>
              </a:lnSpc>
              <a:defRPr b="1" sz="2002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Residuals over time (right): </a:t>
            </a:r>
            <a:r>
              <a:rPr b="0">
                <a:solidFill>
                  <a:srgbClr val="1C3150"/>
                </a:solidFill>
              </a:rPr>
              <a:t>fluctuate around zero; initial spike = model warm-up</a:t>
            </a:r>
          </a:p>
        </p:txBody>
      </p:sp>
      <p:sp>
        <p:nvSpPr>
          <p:cNvPr id="783" name="Text 7"/>
          <p:cNvSpPr txBox="1"/>
          <p:nvPr/>
        </p:nvSpPr>
        <p:spPr>
          <a:xfrm>
            <a:off x="12611100" y="5810250"/>
            <a:ext cx="4878705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Ljung-Box test: </a:t>
            </a:r>
            <a:r>
              <a:rPr b="0">
                <a:solidFill>
                  <a:srgbClr val="1C3150"/>
                </a:solidFill>
              </a:rPr>
              <a:t>all p-values near 0 — residual autocorrelation remains</a:t>
            </a:r>
          </a:p>
        </p:txBody>
      </p:sp>
      <p:sp>
        <p:nvSpPr>
          <p:cNvPr id="784" name="Shape 8"/>
          <p:cNvSpPr/>
          <p:nvPr/>
        </p:nvSpPr>
        <p:spPr>
          <a:xfrm>
            <a:off x="12192000" y="6838950"/>
            <a:ext cx="5143500" cy="1885950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85" name="Shape 9"/>
          <p:cNvSpPr/>
          <p:nvPr/>
        </p:nvSpPr>
        <p:spPr>
          <a:xfrm>
            <a:off x="12192000" y="6838950"/>
            <a:ext cx="57150" cy="188595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86" name="Text 10"/>
          <p:cNvSpPr txBox="1"/>
          <p:nvPr/>
        </p:nvSpPr>
        <p:spPr>
          <a:xfrm>
            <a:off x="12553950" y="7067550"/>
            <a:ext cx="4631055" cy="146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50000"/>
              </a:lnSpc>
              <a:defRPr sz="174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Imperfect residuals are acceptable: our goal is </a:t>
            </a:r>
            <a:r>
              <a:rPr b="1"/>
              <a:t>long-horizon RUL estimation </a:t>
            </a:r>
            <a:r>
              <a:t>, not perfect one-step forecasting. Rolling RMSE of </a:t>
            </a:r>
            <a:r>
              <a:rPr b="1"/>
              <a:t>0.028 </a:t>
            </a:r>
            <a:r>
              <a:t>confirms practical usability.</a:t>
            </a:r>
          </a:p>
        </p:txBody>
      </p:sp>
      <p:pic>
        <p:nvPicPr>
          <p:cNvPr id="787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5819" y="2474650"/>
            <a:ext cx="10355962" cy="688075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90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CLASSICAL MODELS</a:t>
            </a:r>
          </a:p>
        </p:txBody>
      </p:sp>
      <p:sp>
        <p:nvSpPr>
          <p:cNvPr id="791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92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Rolling Forecast Validation — Engine 118</a:t>
            </a:r>
          </a:p>
        </p:txBody>
      </p:sp>
      <p:sp>
        <p:nvSpPr>
          <p:cNvPr id="793" name="Shape 4"/>
          <p:cNvSpPr/>
          <p:nvPr/>
        </p:nvSpPr>
        <p:spPr>
          <a:xfrm>
            <a:off x="952500" y="2114550"/>
            <a:ext cx="107442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94" name="Text 5"/>
          <p:cNvSpPr txBox="1"/>
          <p:nvPr/>
        </p:nvSpPr>
        <p:spPr>
          <a:xfrm>
            <a:off x="12611100" y="2731293"/>
            <a:ext cx="4878705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Blue line: </a:t>
            </a:r>
            <a:r>
              <a:rPr b="0">
                <a:solidFill>
                  <a:srgbClr val="1C3150"/>
                </a:solidFill>
              </a:rPr>
              <a:t>observed health index (543 cycles)</a:t>
            </a:r>
          </a:p>
        </p:txBody>
      </p:sp>
      <p:sp>
        <p:nvSpPr>
          <p:cNvPr id="795" name="Text 6"/>
          <p:cNvSpPr txBox="1"/>
          <p:nvPr/>
        </p:nvSpPr>
        <p:spPr>
          <a:xfrm>
            <a:off x="12611100" y="3683794"/>
            <a:ext cx="4878705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Orange dashed: </a:t>
            </a:r>
            <a:r>
              <a:rPr b="0">
                <a:solidFill>
                  <a:srgbClr val="1C3150"/>
                </a:solidFill>
              </a:rPr>
              <a:t>AR(10) walk-forward rolling forecast (last 30%)</a:t>
            </a:r>
          </a:p>
        </p:txBody>
      </p:sp>
      <p:sp>
        <p:nvSpPr>
          <p:cNvPr id="796" name="Text 7"/>
          <p:cNvSpPr txBox="1"/>
          <p:nvPr/>
        </p:nvSpPr>
        <p:spPr>
          <a:xfrm>
            <a:off x="12611100" y="4636294"/>
            <a:ext cx="4878705" cy="438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b="1" sz="22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Red dashed: </a:t>
            </a:r>
            <a:r>
              <a:rPr b="0">
                <a:solidFill>
                  <a:srgbClr val="1C3150"/>
                </a:solidFill>
              </a:rPr>
              <a:t>failure threshold = 1.685</a:t>
            </a:r>
          </a:p>
        </p:txBody>
      </p:sp>
      <p:sp>
        <p:nvSpPr>
          <p:cNvPr id="797" name="Text 8"/>
          <p:cNvSpPr txBox="1"/>
          <p:nvPr/>
        </p:nvSpPr>
        <p:spPr>
          <a:xfrm>
            <a:off x="12611100" y="5188744"/>
            <a:ext cx="4878705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Rolling RMSE = </a:t>
            </a:r>
            <a:r>
              <a:rPr b="1">
                <a:solidFill>
                  <a:srgbClr val="12294A"/>
                </a:solidFill>
              </a:rPr>
              <a:t>0.028 </a:t>
            </a:r>
            <a:r>
              <a:t>— excellent one-step-ahead accuracy</a:t>
            </a:r>
          </a:p>
        </p:txBody>
      </p:sp>
      <p:sp>
        <p:nvSpPr>
          <p:cNvPr id="798" name="Text 9"/>
          <p:cNvSpPr txBox="1"/>
          <p:nvPr/>
        </p:nvSpPr>
        <p:spPr>
          <a:xfrm>
            <a:off x="12611100" y="6141244"/>
            <a:ext cx="4878705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068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Forecast crosses threshold at cycle ~480 → correctly predicts ~60 RUL remaining</a:t>
            </a:r>
          </a:p>
        </p:txBody>
      </p:sp>
      <p:sp>
        <p:nvSpPr>
          <p:cNvPr id="799" name="Shape 10"/>
          <p:cNvSpPr/>
          <p:nvPr/>
        </p:nvSpPr>
        <p:spPr>
          <a:xfrm>
            <a:off x="12192000" y="7569993"/>
            <a:ext cx="5143500" cy="1528764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00" name="Shape 11"/>
          <p:cNvSpPr/>
          <p:nvPr/>
        </p:nvSpPr>
        <p:spPr>
          <a:xfrm>
            <a:off x="12192000" y="7569993"/>
            <a:ext cx="57150" cy="1528764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01" name="Text 12"/>
          <p:cNvSpPr txBox="1"/>
          <p:nvPr/>
        </p:nvSpPr>
        <p:spPr>
          <a:xfrm>
            <a:off x="12553950" y="7798593"/>
            <a:ext cx="4631055" cy="1109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50000"/>
              </a:lnSpc>
              <a:defRPr sz="174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Walk-forward validation: model refit at every cycle using only past data — the most honest validation methodology.</a:t>
            </a:r>
          </a:p>
        </p:txBody>
      </p:sp>
      <p:pic>
        <p:nvPicPr>
          <p:cNvPr id="802" name="pasted-movie.png" descr="pasted-movie.png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04058" y="2295525"/>
            <a:ext cx="10422034" cy="7493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05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CLASSICAL MODELS</a:t>
            </a:r>
          </a:p>
        </p:txBody>
      </p:sp>
      <p:sp>
        <p:nvSpPr>
          <p:cNvPr id="806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07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The Fallback Mechanism</a:t>
            </a:r>
          </a:p>
        </p:txBody>
      </p:sp>
      <p:sp>
        <p:nvSpPr>
          <p:cNvPr id="808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When ARIMA forecast slope is too flat — threshold never crossed within 150 steps</a:t>
            </a:r>
          </a:p>
        </p:txBody>
      </p:sp>
      <p:sp>
        <p:nvSpPr>
          <p:cNvPr id="809" name="Text 5"/>
          <p:cNvSpPr txBox="1"/>
          <p:nvPr/>
        </p:nvSpPr>
        <p:spPr>
          <a:xfrm>
            <a:off x="1562100" y="354129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Happens when engine is still in healthy, flat phase — model cannot see upcoming acceleration</a:t>
            </a:r>
          </a:p>
        </p:txBody>
      </p:sp>
      <p:sp>
        <p:nvSpPr>
          <p:cNvPr id="810" name="Text 6"/>
          <p:cNvSpPr txBox="1"/>
          <p:nvPr/>
        </p:nvSpPr>
        <p:spPr>
          <a:xfrm>
            <a:off x="1562100" y="460422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Fallback: </a:t>
            </a:r>
            <a:r>
              <a:rPr b="0">
                <a:solidFill>
                  <a:srgbClr val="1C3150"/>
                </a:solidFill>
              </a:rPr>
              <a:t>linear regressor fitted on last 60% of each training engine's life</a:t>
            </a:r>
          </a:p>
        </p:txBody>
      </p:sp>
      <p:sp>
        <p:nvSpPr>
          <p:cNvPr id="811" name="Text 7"/>
          <p:cNvSpPr txBox="1"/>
          <p:nvPr/>
        </p:nvSpPr>
        <p:spPr>
          <a:xfrm>
            <a:off x="1562100" y="5667152"/>
            <a:ext cx="7566850" cy="4743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z="2400">
                <a:solidFill>
                  <a:srgbClr val="1C3150"/>
                </a:solidFill>
                <a:latin typeface="monospace"/>
                <a:ea typeface="monospace"/>
                <a:cs typeface="monospace"/>
                <a:sym typeface="monospace"/>
              </a:defRPr>
            </a:lvl1pPr>
          </a:lstStyle>
          <a:p>
            <a:pPr/>
            <a:r>
              <a:t>RUL = slope × health_index + intercept</a:t>
            </a:r>
          </a:p>
        </p:txBody>
      </p:sp>
      <p:sp>
        <p:nvSpPr>
          <p:cNvPr id="812" name="Text 8"/>
          <p:cNvSpPr txBox="1"/>
          <p:nvPr/>
        </p:nvSpPr>
        <p:spPr>
          <a:xfrm>
            <a:off x="1562100" y="6312916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Safety factor 0.88 </a:t>
            </a:r>
            <a:r>
              <a:rPr b="0">
                <a:solidFill>
                  <a:srgbClr val="1C3150"/>
                </a:solidFill>
              </a:rPr>
              <a:t>applied — makes all predictions slightly conservative</a:t>
            </a:r>
          </a:p>
        </p:txBody>
      </p:sp>
      <p:sp>
        <p:nvSpPr>
          <p:cNvPr id="813" name="Shape 9"/>
          <p:cNvSpPr/>
          <p:nvPr/>
        </p:nvSpPr>
        <p:spPr>
          <a:xfrm>
            <a:off x="9391650" y="2478359"/>
            <a:ext cx="7753350" cy="2490790"/>
          </a:xfrm>
          <a:prstGeom prst="roundRect">
            <a:avLst>
              <a:gd name="adj" fmla="val 611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14" name="Shape 10"/>
          <p:cNvSpPr/>
          <p:nvPr/>
        </p:nvSpPr>
        <p:spPr>
          <a:xfrm>
            <a:off x="9391650" y="4958035"/>
            <a:ext cx="775335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15" name="Shape 11"/>
          <p:cNvSpPr/>
          <p:nvPr/>
        </p:nvSpPr>
        <p:spPr>
          <a:xfrm>
            <a:off x="9391650" y="2476772"/>
            <a:ext cx="775335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16" name="Shape 12"/>
          <p:cNvSpPr/>
          <p:nvPr/>
        </p:nvSpPr>
        <p:spPr>
          <a:xfrm>
            <a:off x="9391650" y="2478359"/>
            <a:ext cx="57150" cy="2490790"/>
          </a:xfrm>
          <a:prstGeom prst="rect">
            <a:avLst/>
          </a:prstGeom>
          <a:solidFill>
            <a:srgbClr val="F0A5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17" name="Shape 13"/>
          <p:cNvSpPr/>
          <p:nvPr/>
        </p:nvSpPr>
        <p:spPr>
          <a:xfrm>
            <a:off x="17133887" y="2478359"/>
            <a:ext cx="12701" cy="2490790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18" name="Text 14"/>
          <p:cNvSpPr txBox="1"/>
          <p:nvPr/>
        </p:nvSpPr>
        <p:spPr>
          <a:xfrm>
            <a:off x="9829800" y="2868884"/>
            <a:ext cx="7132416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Why the Safety Factor?</a:t>
            </a:r>
          </a:p>
        </p:txBody>
      </p:sp>
      <p:sp>
        <p:nvSpPr>
          <p:cNvPr id="819" name="Text 15"/>
          <p:cNvSpPr txBox="1"/>
          <p:nvPr/>
        </p:nvSpPr>
        <p:spPr>
          <a:xfrm>
            <a:off x="9829800" y="3421334"/>
            <a:ext cx="7132416" cy="119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50000"/>
              </a:lnSpc>
              <a:defRPr sz="1879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NASA scoring penalises </a:t>
            </a:r>
            <a:r>
              <a:rPr b="1"/>
              <a:t>late </a:t>
            </a:r>
            <a:r>
              <a:t>predictions more than early ones. A 0.88 multiplier shifts all predictions slightly downward — accumulating fewer late-prediction penalties.</a:t>
            </a:r>
          </a:p>
        </p:txBody>
      </p:sp>
      <p:sp>
        <p:nvSpPr>
          <p:cNvPr id="820" name="Shape 16"/>
          <p:cNvSpPr/>
          <p:nvPr/>
        </p:nvSpPr>
        <p:spPr>
          <a:xfrm>
            <a:off x="9391650" y="5197747"/>
            <a:ext cx="7753350" cy="2490789"/>
          </a:xfrm>
          <a:prstGeom prst="roundRect">
            <a:avLst>
              <a:gd name="adj" fmla="val 611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21" name="Shape 17"/>
          <p:cNvSpPr/>
          <p:nvPr/>
        </p:nvSpPr>
        <p:spPr>
          <a:xfrm>
            <a:off x="9391650" y="7677422"/>
            <a:ext cx="775335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22" name="Shape 18"/>
          <p:cNvSpPr/>
          <p:nvPr/>
        </p:nvSpPr>
        <p:spPr>
          <a:xfrm>
            <a:off x="9391650" y="5196160"/>
            <a:ext cx="775335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23" name="Shape 19"/>
          <p:cNvSpPr/>
          <p:nvPr/>
        </p:nvSpPr>
        <p:spPr>
          <a:xfrm>
            <a:off x="9391650" y="5197747"/>
            <a:ext cx="57150" cy="2490789"/>
          </a:xfrm>
          <a:prstGeom prst="rect">
            <a:avLst/>
          </a:prstGeom>
          <a:solidFill>
            <a:srgbClr val="C0392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24" name="Shape 20"/>
          <p:cNvSpPr/>
          <p:nvPr/>
        </p:nvSpPr>
        <p:spPr>
          <a:xfrm>
            <a:off x="17133887" y="5197747"/>
            <a:ext cx="12701" cy="2490789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25" name="Text 21"/>
          <p:cNvSpPr txBox="1"/>
          <p:nvPr/>
        </p:nvSpPr>
        <p:spPr>
          <a:xfrm>
            <a:off x="9829800" y="5588272"/>
            <a:ext cx="7132416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Why 91% of Test Engines Use Fallback</a:t>
            </a:r>
          </a:p>
        </p:txBody>
      </p:sp>
      <p:sp>
        <p:nvSpPr>
          <p:cNvPr id="826" name="Text 22"/>
          <p:cNvSpPr txBox="1"/>
          <p:nvPr/>
        </p:nvSpPr>
        <p:spPr>
          <a:xfrm>
            <a:off x="9829800" y="6140722"/>
            <a:ext cx="7132416" cy="119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50000"/>
              </a:lnSpc>
              <a:defRPr sz="1879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Most FD004 test engines are truncated while still healthy — health index hasn't started accelerating. ARIMA can't forecast the threshold crossing → fallback takes over.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29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CLASSICAL MODELS</a:t>
            </a:r>
          </a:p>
        </p:txBody>
      </p:sp>
      <p:sp>
        <p:nvSpPr>
          <p:cNvPr id="830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31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Classical Model Performance</a:t>
            </a:r>
          </a:p>
        </p:txBody>
      </p:sp>
      <p:sp>
        <p:nvSpPr>
          <p:cNvPr id="832" name="Shape 4"/>
          <p:cNvSpPr/>
          <p:nvPr/>
        </p:nvSpPr>
        <p:spPr>
          <a:xfrm>
            <a:off x="952500" y="2114550"/>
            <a:ext cx="101727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33" name="Shape 5"/>
          <p:cNvSpPr/>
          <p:nvPr/>
        </p:nvSpPr>
        <p:spPr>
          <a:xfrm>
            <a:off x="11620500" y="3555205"/>
            <a:ext cx="1920328" cy="904876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34" name="Text 6"/>
          <p:cNvSpPr txBox="1"/>
          <p:nvPr/>
        </p:nvSpPr>
        <p:spPr>
          <a:xfrm>
            <a:off x="11830050" y="3707605"/>
            <a:ext cx="1577430" cy="638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>
              <a:defRPr b="1" sz="20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Model</a:t>
            </a:r>
          </a:p>
        </p:txBody>
      </p:sp>
      <p:sp>
        <p:nvSpPr>
          <p:cNvPr id="835" name="Shape 7"/>
          <p:cNvSpPr/>
          <p:nvPr/>
        </p:nvSpPr>
        <p:spPr>
          <a:xfrm>
            <a:off x="13540829" y="3555205"/>
            <a:ext cx="1117328" cy="904876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36" name="Text 8"/>
          <p:cNvSpPr txBox="1"/>
          <p:nvPr/>
        </p:nvSpPr>
        <p:spPr>
          <a:xfrm>
            <a:off x="13750379" y="3707605"/>
            <a:ext cx="774428" cy="638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96111">
              <a:defRPr b="1" sz="196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RMSE</a:t>
            </a:r>
          </a:p>
        </p:txBody>
      </p:sp>
      <p:sp>
        <p:nvSpPr>
          <p:cNvPr id="837" name="Shape 9"/>
          <p:cNvSpPr/>
          <p:nvPr/>
        </p:nvSpPr>
        <p:spPr>
          <a:xfrm>
            <a:off x="14658156" y="3555205"/>
            <a:ext cx="1547888" cy="904876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38" name="Text 10"/>
          <p:cNvSpPr txBox="1"/>
          <p:nvPr/>
        </p:nvSpPr>
        <p:spPr>
          <a:xfrm>
            <a:off x="14867706" y="3707605"/>
            <a:ext cx="1204988" cy="638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NASA Score</a:t>
            </a:r>
          </a:p>
        </p:txBody>
      </p:sp>
      <p:sp>
        <p:nvSpPr>
          <p:cNvPr id="839" name="Shape 11"/>
          <p:cNvSpPr/>
          <p:nvPr/>
        </p:nvSpPr>
        <p:spPr>
          <a:xfrm>
            <a:off x="16206043" y="3555205"/>
            <a:ext cx="1129458" cy="904876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40" name="Text 12"/>
          <p:cNvSpPr txBox="1"/>
          <p:nvPr/>
        </p:nvSpPr>
        <p:spPr>
          <a:xfrm>
            <a:off x="16415593" y="3707605"/>
            <a:ext cx="786558" cy="638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>
              <a:defRPr b="1" sz="20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R²</a:t>
            </a:r>
          </a:p>
        </p:txBody>
      </p:sp>
      <p:sp>
        <p:nvSpPr>
          <p:cNvPr id="841" name="Shape 13"/>
          <p:cNvSpPr/>
          <p:nvPr/>
        </p:nvSpPr>
        <p:spPr>
          <a:xfrm>
            <a:off x="11620500" y="5010943"/>
            <a:ext cx="192032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42" name="Text 14"/>
          <p:cNvSpPr txBox="1"/>
          <p:nvPr/>
        </p:nvSpPr>
        <p:spPr>
          <a:xfrm>
            <a:off x="11830050" y="4593430"/>
            <a:ext cx="1577430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AR(10,2,0)</a:t>
            </a:r>
          </a:p>
        </p:txBody>
      </p:sp>
      <p:sp>
        <p:nvSpPr>
          <p:cNvPr id="843" name="Shape 15"/>
          <p:cNvSpPr/>
          <p:nvPr/>
        </p:nvSpPr>
        <p:spPr>
          <a:xfrm>
            <a:off x="13540829" y="5010943"/>
            <a:ext cx="111732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44" name="Text 16"/>
          <p:cNvSpPr txBox="1"/>
          <p:nvPr/>
        </p:nvSpPr>
        <p:spPr>
          <a:xfrm>
            <a:off x="13750379" y="4593430"/>
            <a:ext cx="774428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27.67</a:t>
            </a:r>
          </a:p>
        </p:txBody>
      </p:sp>
      <p:sp>
        <p:nvSpPr>
          <p:cNvPr id="845" name="Shape 17"/>
          <p:cNvSpPr/>
          <p:nvPr/>
        </p:nvSpPr>
        <p:spPr>
          <a:xfrm>
            <a:off x="14658156" y="5010943"/>
            <a:ext cx="154788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46" name="Text 18"/>
          <p:cNvSpPr txBox="1"/>
          <p:nvPr/>
        </p:nvSpPr>
        <p:spPr>
          <a:xfrm>
            <a:off x="14867706" y="4593430"/>
            <a:ext cx="1204988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25,742</a:t>
            </a:r>
          </a:p>
        </p:txBody>
      </p:sp>
      <p:sp>
        <p:nvSpPr>
          <p:cNvPr id="847" name="Shape 19"/>
          <p:cNvSpPr/>
          <p:nvPr/>
        </p:nvSpPr>
        <p:spPr>
          <a:xfrm>
            <a:off x="16206043" y="5010943"/>
            <a:ext cx="112945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48" name="Text 20"/>
          <p:cNvSpPr txBox="1"/>
          <p:nvPr/>
        </p:nvSpPr>
        <p:spPr>
          <a:xfrm>
            <a:off x="16415593" y="4593430"/>
            <a:ext cx="786558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0.586</a:t>
            </a:r>
          </a:p>
        </p:txBody>
      </p:sp>
      <p:sp>
        <p:nvSpPr>
          <p:cNvPr id="849" name="Shape 21"/>
          <p:cNvSpPr/>
          <p:nvPr/>
        </p:nvSpPr>
        <p:spPr>
          <a:xfrm>
            <a:off x="11620500" y="5022055"/>
            <a:ext cx="1920328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50" name="Shape 22"/>
          <p:cNvSpPr/>
          <p:nvPr/>
        </p:nvSpPr>
        <p:spPr>
          <a:xfrm>
            <a:off x="11620500" y="5577681"/>
            <a:ext cx="192032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51" name="Text 23"/>
          <p:cNvSpPr txBox="1"/>
          <p:nvPr/>
        </p:nvSpPr>
        <p:spPr>
          <a:xfrm>
            <a:off x="11830050" y="5155405"/>
            <a:ext cx="1577430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ARMA(1,2,1)</a:t>
            </a:r>
          </a:p>
        </p:txBody>
      </p:sp>
      <p:sp>
        <p:nvSpPr>
          <p:cNvPr id="852" name="Shape 24"/>
          <p:cNvSpPr/>
          <p:nvPr/>
        </p:nvSpPr>
        <p:spPr>
          <a:xfrm>
            <a:off x="13540829" y="5022055"/>
            <a:ext cx="1117328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53" name="Shape 25"/>
          <p:cNvSpPr/>
          <p:nvPr/>
        </p:nvSpPr>
        <p:spPr>
          <a:xfrm>
            <a:off x="13540829" y="5577681"/>
            <a:ext cx="111732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54" name="Text 26"/>
          <p:cNvSpPr txBox="1"/>
          <p:nvPr/>
        </p:nvSpPr>
        <p:spPr>
          <a:xfrm>
            <a:off x="13750379" y="5155405"/>
            <a:ext cx="77442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26.19</a:t>
            </a:r>
          </a:p>
        </p:txBody>
      </p:sp>
      <p:sp>
        <p:nvSpPr>
          <p:cNvPr id="855" name="Shape 27"/>
          <p:cNvSpPr/>
          <p:nvPr/>
        </p:nvSpPr>
        <p:spPr>
          <a:xfrm>
            <a:off x="14658156" y="5022055"/>
            <a:ext cx="1547888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56" name="Shape 28"/>
          <p:cNvSpPr/>
          <p:nvPr/>
        </p:nvSpPr>
        <p:spPr>
          <a:xfrm>
            <a:off x="14658156" y="5577681"/>
            <a:ext cx="154788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57" name="Text 29"/>
          <p:cNvSpPr txBox="1"/>
          <p:nvPr/>
        </p:nvSpPr>
        <p:spPr>
          <a:xfrm>
            <a:off x="14867706" y="5155405"/>
            <a:ext cx="120498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17,514</a:t>
            </a:r>
          </a:p>
        </p:txBody>
      </p:sp>
      <p:sp>
        <p:nvSpPr>
          <p:cNvPr id="858" name="Shape 30"/>
          <p:cNvSpPr/>
          <p:nvPr/>
        </p:nvSpPr>
        <p:spPr>
          <a:xfrm>
            <a:off x="16206043" y="5022055"/>
            <a:ext cx="1129458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59" name="Shape 31"/>
          <p:cNvSpPr/>
          <p:nvPr/>
        </p:nvSpPr>
        <p:spPr>
          <a:xfrm>
            <a:off x="16206043" y="5577681"/>
            <a:ext cx="112945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60" name="Text 32"/>
          <p:cNvSpPr txBox="1"/>
          <p:nvPr/>
        </p:nvSpPr>
        <p:spPr>
          <a:xfrm>
            <a:off x="16415593" y="5155405"/>
            <a:ext cx="78655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0.629</a:t>
            </a:r>
          </a:p>
        </p:txBody>
      </p:sp>
      <p:sp>
        <p:nvSpPr>
          <p:cNvPr id="861" name="Shape 33"/>
          <p:cNvSpPr/>
          <p:nvPr/>
        </p:nvSpPr>
        <p:spPr>
          <a:xfrm>
            <a:off x="11620500" y="6144418"/>
            <a:ext cx="192032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62" name="Text 34"/>
          <p:cNvSpPr txBox="1"/>
          <p:nvPr/>
        </p:nvSpPr>
        <p:spPr>
          <a:xfrm>
            <a:off x="11830050" y="5722144"/>
            <a:ext cx="1577430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b="1"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ARIMA(1,2,1)</a:t>
            </a:r>
          </a:p>
        </p:txBody>
      </p:sp>
      <p:sp>
        <p:nvSpPr>
          <p:cNvPr id="863" name="Shape 35"/>
          <p:cNvSpPr/>
          <p:nvPr/>
        </p:nvSpPr>
        <p:spPr>
          <a:xfrm>
            <a:off x="13540829" y="6144418"/>
            <a:ext cx="111732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64" name="Text 36"/>
          <p:cNvSpPr txBox="1"/>
          <p:nvPr/>
        </p:nvSpPr>
        <p:spPr>
          <a:xfrm>
            <a:off x="13750379" y="5722144"/>
            <a:ext cx="77442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b="1"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24.76</a:t>
            </a:r>
          </a:p>
        </p:txBody>
      </p:sp>
      <p:sp>
        <p:nvSpPr>
          <p:cNvPr id="865" name="Shape 37"/>
          <p:cNvSpPr/>
          <p:nvPr/>
        </p:nvSpPr>
        <p:spPr>
          <a:xfrm>
            <a:off x="14658156" y="6144418"/>
            <a:ext cx="154788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66" name="Text 38"/>
          <p:cNvSpPr txBox="1"/>
          <p:nvPr/>
        </p:nvSpPr>
        <p:spPr>
          <a:xfrm>
            <a:off x="14867706" y="5722144"/>
            <a:ext cx="120498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b="1"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13,791</a:t>
            </a:r>
          </a:p>
        </p:txBody>
      </p:sp>
      <p:sp>
        <p:nvSpPr>
          <p:cNvPr id="867" name="Shape 39"/>
          <p:cNvSpPr/>
          <p:nvPr/>
        </p:nvSpPr>
        <p:spPr>
          <a:xfrm>
            <a:off x="16206043" y="6144418"/>
            <a:ext cx="112945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68" name="Text 40"/>
          <p:cNvSpPr txBox="1"/>
          <p:nvPr/>
        </p:nvSpPr>
        <p:spPr>
          <a:xfrm>
            <a:off x="16415593" y="5722144"/>
            <a:ext cx="78655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b="1"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0.668</a:t>
            </a:r>
          </a:p>
        </p:txBody>
      </p:sp>
      <p:sp>
        <p:nvSpPr>
          <p:cNvPr id="869" name="Shape 41"/>
          <p:cNvSpPr/>
          <p:nvPr/>
        </p:nvSpPr>
        <p:spPr>
          <a:xfrm>
            <a:off x="11620500" y="6388894"/>
            <a:ext cx="5715000" cy="1885951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70" name="Shape 42"/>
          <p:cNvSpPr/>
          <p:nvPr/>
        </p:nvSpPr>
        <p:spPr>
          <a:xfrm>
            <a:off x="11620500" y="6388894"/>
            <a:ext cx="57150" cy="1885951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71" name="Text 43"/>
          <p:cNvSpPr txBox="1"/>
          <p:nvPr/>
        </p:nvSpPr>
        <p:spPr>
          <a:xfrm>
            <a:off x="11982450" y="6617493"/>
            <a:ext cx="5219700" cy="1466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50000"/>
              </a:lnSpc>
              <a:defRPr sz="1692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Adding the MA term (q=1) allows error-correction — ARIMA outperforms both AR and ARMA on all metrics. All models have negative bias → slightly conservative → safe for aviation.</a:t>
            </a:r>
          </a:p>
        </p:txBody>
      </p:sp>
      <p:pic>
        <p:nvPicPr>
          <p:cNvPr id="872" name="pasted-movie.png" descr="pasted-movie.png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03437" y="2210902"/>
            <a:ext cx="9451776" cy="740824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2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Text 0"/>
          <p:cNvSpPr txBox="1"/>
          <p:nvPr/>
        </p:nvSpPr>
        <p:spPr>
          <a:xfrm>
            <a:off x="8609111" y="4156695"/>
            <a:ext cx="1069778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pc="291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PART 4</a:t>
            </a:r>
          </a:p>
        </p:txBody>
      </p:sp>
      <p:sp>
        <p:nvSpPr>
          <p:cNvPr id="875" name="Text 1"/>
          <p:cNvSpPr txBox="1"/>
          <p:nvPr/>
        </p:nvSpPr>
        <p:spPr>
          <a:xfrm>
            <a:off x="5554338" y="4690095"/>
            <a:ext cx="7179324" cy="792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22959">
              <a:lnSpc>
                <a:spcPct val="110000"/>
              </a:lnSpc>
              <a:defRPr b="1" sz="486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Deep Learning Models</a:t>
            </a:r>
          </a:p>
        </p:txBody>
      </p:sp>
      <p:sp>
        <p:nvSpPr>
          <p:cNvPr id="876" name="Text 2"/>
          <p:cNvSpPr txBox="1"/>
          <p:nvPr/>
        </p:nvSpPr>
        <p:spPr>
          <a:xfrm>
            <a:off x="6857789" y="5749230"/>
            <a:ext cx="4572423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68680">
              <a:defRPr sz="2375">
                <a:solidFill>
                  <a:srgbClr val="FFFFFF">
                    <a:alpha val="64999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RNN · LSTM · GRU · Transformer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79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DEEP LEARNING</a:t>
            </a:r>
          </a:p>
        </p:txBody>
      </p:sp>
      <p:sp>
        <p:nvSpPr>
          <p:cNvPr id="880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81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Why Deep Learning?</a:t>
            </a:r>
          </a:p>
        </p:txBody>
      </p:sp>
      <p:sp>
        <p:nvSpPr>
          <p:cNvPr id="882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Classical models are </a:t>
            </a:r>
            <a:r>
              <a:rPr b="1">
                <a:solidFill>
                  <a:srgbClr val="12294A"/>
                </a:solidFill>
              </a:rPr>
              <a:t>univariate &amp; linear </a:t>
            </a:r>
            <a:r>
              <a:t>— work on health index only</a:t>
            </a:r>
          </a:p>
        </p:txBody>
      </p:sp>
      <p:sp>
        <p:nvSpPr>
          <p:cNvPr id="883" name="Text 5"/>
          <p:cNvSpPr txBox="1"/>
          <p:nvPr/>
        </p:nvSpPr>
        <p:spPr>
          <a:xfrm>
            <a:off x="1562100" y="354129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Deep learning uses </a:t>
            </a:r>
            <a:r>
              <a:rPr b="1">
                <a:solidFill>
                  <a:srgbClr val="12294A"/>
                </a:solidFill>
              </a:rPr>
              <a:t>all 14 sensors </a:t>
            </a:r>
            <a:r>
              <a:t>simultaneously — no information compression</a:t>
            </a:r>
          </a:p>
        </p:txBody>
      </p:sp>
      <p:sp>
        <p:nvSpPr>
          <p:cNvPr id="884" name="Text 6"/>
          <p:cNvSpPr txBox="1"/>
          <p:nvPr/>
        </p:nvSpPr>
        <p:spPr>
          <a:xfrm>
            <a:off x="1562100" y="460422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Can learn complex, nonlinear mappings from sensor patterns to RUL</a:t>
            </a:r>
          </a:p>
        </p:txBody>
      </p:sp>
      <p:sp>
        <p:nvSpPr>
          <p:cNvPr id="885" name="Text 7"/>
          <p:cNvSpPr txBox="1"/>
          <p:nvPr/>
        </p:nvSpPr>
        <p:spPr>
          <a:xfrm>
            <a:off x="1562100" y="566715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Designed for sequential data — temporal dependencies propagated through time</a:t>
            </a:r>
          </a:p>
        </p:txBody>
      </p:sp>
      <p:sp>
        <p:nvSpPr>
          <p:cNvPr id="886" name="Text 8"/>
          <p:cNvSpPr txBox="1"/>
          <p:nvPr/>
        </p:nvSpPr>
        <p:spPr>
          <a:xfrm>
            <a:off x="1562100" y="673008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Trained on </a:t>
            </a:r>
            <a:r>
              <a:rPr b="1">
                <a:solidFill>
                  <a:srgbClr val="12294A"/>
                </a:solidFill>
              </a:rPr>
              <a:t>all 248 engines </a:t>
            </a:r>
            <a:r>
              <a:t>at once — learns a universal degradation model</a:t>
            </a:r>
          </a:p>
        </p:txBody>
      </p:sp>
      <p:sp>
        <p:nvSpPr>
          <p:cNvPr id="887" name="Shape 9"/>
          <p:cNvSpPr/>
          <p:nvPr/>
        </p:nvSpPr>
        <p:spPr>
          <a:xfrm>
            <a:off x="9391650" y="2478359"/>
            <a:ext cx="7753350" cy="5253634"/>
          </a:xfrm>
          <a:prstGeom prst="roundRect">
            <a:avLst>
              <a:gd name="adj" fmla="val 2901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88" name="Text 10"/>
          <p:cNvSpPr txBox="1"/>
          <p:nvPr/>
        </p:nvSpPr>
        <p:spPr>
          <a:xfrm>
            <a:off x="9782175" y="2868884"/>
            <a:ext cx="718146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Feature Engineering for DL</a:t>
            </a:r>
          </a:p>
        </p:txBody>
      </p:sp>
      <p:sp>
        <p:nvSpPr>
          <p:cNvPr id="889" name="Text 11"/>
          <p:cNvSpPr txBox="1"/>
          <p:nvPr/>
        </p:nvSpPr>
        <p:spPr>
          <a:xfrm>
            <a:off x="10201275" y="3726134"/>
            <a:ext cx="6762368" cy="7847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68680">
              <a:lnSpc>
                <a:spcPct val="140000"/>
              </a:lnSpc>
              <a:defRPr sz="199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14 sensors × 3 rolling windows (5, 10, 20 cycles) = </a:t>
            </a:r>
            <a:r>
              <a:rPr b="1">
                <a:solidFill>
                  <a:srgbClr val="12294A"/>
                </a:solidFill>
              </a:rPr>
              <a:t>42 features </a:t>
            </a:r>
            <a:r>
              <a:t>per cycle</a:t>
            </a:r>
          </a:p>
        </p:txBody>
      </p:sp>
      <p:sp>
        <p:nvSpPr>
          <p:cNvPr id="890" name="Text 12"/>
          <p:cNvSpPr txBox="1"/>
          <p:nvPr/>
        </p:nvSpPr>
        <p:spPr>
          <a:xfrm>
            <a:off x="10201275" y="4682356"/>
            <a:ext cx="6762368" cy="7847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68680">
              <a:lnSpc>
                <a:spcPct val="140000"/>
              </a:lnSpc>
              <a:defRPr sz="199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Rolling means embed multi-scale temporal context at each step</a:t>
            </a:r>
          </a:p>
        </p:txBody>
      </p:sp>
      <p:sp>
        <p:nvSpPr>
          <p:cNvPr id="891" name="Text 13"/>
          <p:cNvSpPr txBox="1"/>
          <p:nvPr/>
        </p:nvSpPr>
        <p:spPr>
          <a:xfrm>
            <a:off x="10201275" y="5638577"/>
            <a:ext cx="6762368" cy="7847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68680">
              <a:lnSpc>
                <a:spcPct val="140000"/>
              </a:lnSpc>
              <a:defRPr sz="199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Sliding window of </a:t>
            </a:r>
            <a:r>
              <a:rPr b="1">
                <a:solidFill>
                  <a:srgbClr val="12294A"/>
                </a:solidFill>
              </a:rPr>
              <a:t>30 cycles </a:t>
            </a:r>
            <a:r>
              <a:t>→ one input sequence per sample</a:t>
            </a:r>
          </a:p>
        </p:txBody>
      </p:sp>
      <p:sp>
        <p:nvSpPr>
          <p:cNvPr id="892" name="Text 14"/>
          <p:cNvSpPr txBox="1"/>
          <p:nvPr/>
        </p:nvSpPr>
        <p:spPr>
          <a:xfrm>
            <a:off x="10201275" y="6594796"/>
            <a:ext cx="6762368" cy="7847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68680">
              <a:lnSpc>
                <a:spcPct val="140000"/>
              </a:lnSpc>
              <a:defRPr sz="199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Train/val split: 80/20 by engine_id (not by row — prevents leakage)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95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DEEP LEARNING</a:t>
            </a:r>
          </a:p>
        </p:txBody>
      </p:sp>
      <p:sp>
        <p:nvSpPr>
          <p:cNvPr id="896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97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RNN (Recurrent Neural Network)</a:t>
            </a:r>
          </a:p>
        </p:txBody>
      </p:sp>
      <p:sp>
        <p:nvSpPr>
          <p:cNvPr id="898" name="Text 4"/>
          <p:cNvSpPr txBox="1"/>
          <p:nvPr/>
        </p:nvSpPr>
        <p:spPr>
          <a:xfrm>
            <a:off x="1371600" y="2114550"/>
            <a:ext cx="4486275" cy="1238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lnSpc>
                <a:spcPct val="140000"/>
              </a:lnSpc>
              <a:defRPr sz="2112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Simplest sequential model — passes hidden state forward each cycle</a:t>
            </a:r>
          </a:p>
        </p:txBody>
      </p:sp>
      <p:sp>
        <p:nvSpPr>
          <p:cNvPr id="899" name="Text 5"/>
          <p:cNvSpPr txBox="1"/>
          <p:nvPr/>
        </p:nvSpPr>
        <p:spPr>
          <a:xfrm>
            <a:off x="1371600" y="3467100"/>
            <a:ext cx="4486275" cy="1238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32104">
              <a:lnSpc>
                <a:spcPct val="140000"/>
              </a:lnSpc>
              <a:defRPr sz="2002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Suffers from </a:t>
            </a:r>
            <a:r>
              <a:rPr b="1">
                <a:solidFill>
                  <a:srgbClr val="12294A"/>
                </a:solidFill>
              </a:rPr>
              <a:t>vanishing gradient </a:t>
            </a:r>
            <a:r>
              <a:t>— struggles to retain long-range information</a:t>
            </a:r>
          </a:p>
        </p:txBody>
      </p:sp>
      <p:sp>
        <p:nvSpPr>
          <p:cNvPr id="900" name="Text 6"/>
          <p:cNvSpPr txBox="1"/>
          <p:nvPr/>
        </p:nvSpPr>
        <p:spPr>
          <a:xfrm>
            <a:off x="1371600" y="4819650"/>
            <a:ext cx="4486275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Fastest to train — good baseline for comparison</a:t>
            </a:r>
          </a:p>
        </p:txBody>
      </p:sp>
      <p:sp>
        <p:nvSpPr>
          <p:cNvPr id="901" name="Shape 7"/>
          <p:cNvSpPr/>
          <p:nvPr/>
        </p:nvSpPr>
        <p:spPr>
          <a:xfrm>
            <a:off x="952500" y="5810250"/>
            <a:ext cx="4762500" cy="390525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0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76325" y="5934075"/>
            <a:ext cx="4514850" cy="3657600"/>
          </a:xfrm>
          <a:prstGeom prst="rect">
            <a:avLst/>
          </a:prstGeom>
          <a:ln w="12700">
            <a:miter lim="400000"/>
          </a:ln>
        </p:spPr>
      </p:pic>
      <p:sp>
        <p:nvSpPr>
          <p:cNvPr id="903" name="Shape 8"/>
          <p:cNvSpPr/>
          <p:nvPr/>
        </p:nvSpPr>
        <p:spPr>
          <a:xfrm>
            <a:off x="6210300" y="2114550"/>
            <a:ext cx="111252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04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34125" y="2238375"/>
            <a:ext cx="10877550" cy="73533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07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DEEP LEARNING</a:t>
            </a:r>
          </a:p>
        </p:txBody>
      </p:sp>
      <p:sp>
        <p:nvSpPr>
          <p:cNvPr id="908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09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LSTM (Long Short-Term Memory)</a:t>
            </a:r>
          </a:p>
        </p:txBody>
      </p:sp>
      <p:sp>
        <p:nvSpPr>
          <p:cNvPr id="910" name="Text 4"/>
          <p:cNvSpPr txBox="1"/>
          <p:nvPr/>
        </p:nvSpPr>
        <p:spPr>
          <a:xfrm>
            <a:off x="1371600" y="2114550"/>
            <a:ext cx="4486275" cy="1238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32104">
              <a:lnSpc>
                <a:spcPct val="140000"/>
              </a:lnSpc>
              <a:defRPr sz="2002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Introduces </a:t>
            </a:r>
            <a:r>
              <a:rPr b="1">
                <a:solidFill>
                  <a:srgbClr val="12294A"/>
                </a:solidFill>
              </a:rPr>
              <a:t>forget, input, and output gates </a:t>
            </a:r>
            <a:r>
              <a:t>— learns what to retain and discard</a:t>
            </a:r>
          </a:p>
        </p:txBody>
      </p:sp>
      <p:sp>
        <p:nvSpPr>
          <p:cNvPr id="911" name="Text 5"/>
          <p:cNvSpPr txBox="1"/>
          <p:nvPr/>
        </p:nvSpPr>
        <p:spPr>
          <a:xfrm>
            <a:off x="1371600" y="3467100"/>
            <a:ext cx="4486275" cy="1638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0391">
              <a:lnSpc>
                <a:spcPct val="140000"/>
              </a:lnSpc>
              <a:defRPr sz="204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Solves the vanishing gradient problem — can remember dependencies over hundreds of cycles</a:t>
            </a:r>
          </a:p>
        </p:txBody>
      </p:sp>
      <p:sp>
        <p:nvSpPr>
          <p:cNvPr id="912" name="Text 6"/>
          <p:cNvSpPr txBox="1"/>
          <p:nvPr/>
        </p:nvSpPr>
        <p:spPr>
          <a:xfrm>
            <a:off x="1371600" y="5219700"/>
            <a:ext cx="4486275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Particularly well-suited for long engine degradation sequences</a:t>
            </a:r>
          </a:p>
        </p:txBody>
      </p:sp>
      <p:sp>
        <p:nvSpPr>
          <p:cNvPr id="913" name="Shape 7"/>
          <p:cNvSpPr/>
          <p:nvPr/>
        </p:nvSpPr>
        <p:spPr>
          <a:xfrm>
            <a:off x="952500" y="6210300"/>
            <a:ext cx="4762500" cy="3505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1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76325" y="6334125"/>
            <a:ext cx="4514850" cy="3257550"/>
          </a:xfrm>
          <a:prstGeom prst="rect">
            <a:avLst/>
          </a:prstGeom>
          <a:ln w="12700">
            <a:miter lim="400000"/>
          </a:ln>
        </p:spPr>
      </p:pic>
      <p:sp>
        <p:nvSpPr>
          <p:cNvPr id="915" name="Shape 8"/>
          <p:cNvSpPr/>
          <p:nvPr/>
        </p:nvSpPr>
        <p:spPr>
          <a:xfrm>
            <a:off x="6210300" y="2114550"/>
            <a:ext cx="111252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16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34125" y="2238375"/>
            <a:ext cx="10877550" cy="73533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19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DEEP LEARNING</a:t>
            </a:r>
          </a:p>
        </p:txBody>
      </p:sp>
      <p:sp>
        <p:nvSpPr>
          <p:cNvPr id="920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21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GRU (Gated Recurrent Unit)</a:t>
            </a:r>
          </a:p>
        </p:txBody>
      </p:sp>
      <p:sp>
        <p:nvSpPr>
          <p:cNvPr id="922" name="Text 4"/>
          <p:cNvSpPr txBox="1"/>
          <p:nvPr/>
        </p:nvSpPr>
        <p:spPr>
          <a:xfrm>
            <a:off x="1371600" y="2114550"/>
            <a:ext cx="4486275" cy="1238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0391">
              <a:lnSpc>
                <a:spcPct val="140000"/>
              </a:lnSpc>
              <a:defRPr sz="204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Simplified LSTM — merges forget and input gates into a single </a:t>
            </a:r>
            <a:r>
              <a:rPr b="1">
                <a:solidFill>
                  <a:srgbClr val="12294A"/>
                </a:solidFill>
              </a:rPr>
              <a:t>update gate</a:t>
            </a:r>
          </a:p>
        </p:txBody>
      </p:sp>
      <p:sp>
        <p:nvSpPr>
          <p:cNvPr id="923" name="Text 5"/>
          <p:cNvSpPr txBox="1"/>
          <p:nvPr/>
        </p:nvSpPr>
        <p:spPr>
          <a:xfrm>
            <a:off x="1371600" y="3467100"/>
            <a:ext cx="4486275" cy="1238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40000"/>
              </a:lnSpc>
              <a:defRPr sz="2002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Fewer parameters → faster training, often comparable performance to LSTM</a:t>
            </a:r>
          </a:p>
        </p:txBody>
      </p:sp>
      <p:sp>
        <p:nvSpPr>
          <p:cNvPr id="924" name="Text 6"/>
          <p:cNvSpPr txBox="1"/>
          <p:nvPr/>
        </p:nvSpPr>
        <p:spPr>
          <a:xfrm>
            <a:off x="1371600" y="4819650"/>
            <a:ext cx="4486275" cy="1238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96111">
              <a:lnSpc>
                <a:spcPct val="140000"/>
              </a:lnSpc>
              <a:defRPr sz="21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Strong choice for shorter sequences or when training time is a constraint</a:t>
            </a:r>
          </a:p>
        </p:txBody>
      </p:sp>
      <p:sp>
        <p:nvSpPr>
          <p:cNvPr id="925" name="Shape 7"/>
          <p:cNvSpPr/>
          <p:nvPr/>
        </p:nvSpPr>
        <p:spPr>
          <a:xfrm>
            <a:off x="952500" y="6210300"/>
            <a:ext cx="4762500" cy="3505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26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76325" y="6334125"/>
            <a:ext cx="4514850" cy="3257550"/>
          </a:xfrm>
          <a:prstGeom prst="rect">
            <a:avLst/>
          </a:prstGeom>
          <a:ln w="12700">
            <a:miter lim="400000"/>
          </a:ln>
        </p:spPr>
      </p:pic>
      <p:sp>
        <p:nvSpPr>
          <p:cNvPr id="927" name="Shape 8"/>
          <p:cNvSpPr/>
          <p:nvPr/>
        </p:nvSpPr>
        <p:spPr>
          <a:xfrm>
            <a:off x="6210300" y="2114550"/>
            <a:ext cx="111252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28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34125" y="2238375"/>
            <a:ext cx="10877550" cy="73533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31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DEEP LEARNING</a:t>
            </a:r>
          </a:p>
        </p:txBody>
      </p:sp>
      <p:sp>
        <p:nvSpPr>
          <p:cNvPr id="932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33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Transformer</a:t>
            </a:r>
          </a:p>
        </p:txBody>
      </p:sp>
      <p:sp>
        <p:nvSpPr>
          <p:cNvPr id="934" name="Text 4"/>
          <p:cNvSpPr txBox="1"/>
          <p:nvPr/>
        </p:nvSpPr>
        <p:spPr>
          <a:xfrm>
            <a:off x="1371600" y="2114550"/>
            <a:ext cx="4486275" cy="1238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32104">
              <a:lnSpc>
                <a:spcPct val="140000"/>
              </a:lnSpc>
              <a:defRPr sz="2002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Uses </a:t>
            </a:r>
            <a:r>
              <a:rPr b="1">
                <a:solidFill>
                  <a:srgbClr val="12294A"/>
                </a:solidFill>
              </a:rPr>
              <a:t>self-attention </a:t>
            </a:r>
            <a:r>
              <a:t>— each cycle can directly attend to any other cycle in the window</a:t>
            </a:r>
          </a:p>
        </p:txBody>
      </p:sp>
      <p:sp>
        <p:nvSpPr>
          <p:cNvPr id="935" name="Text 5"/>
          <p:cNvSpPr txBox="1"/>
          <p:nvPr/>
        </p:nvSpPr>
        <p:spPr>
          <a:xfrm>
            <a:off x="1371600" y="3467100"/>
            <a:ext cx="4486275" cy="1238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0391">
              <a:lnSpc>
                <a:spcPct val="140000"/>
              </a:lnSpc>
              <a:defRPr sz="204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No recurrence — processes sequence in parallel; faster training on GPUs</a:t>
            </a:r>
          </a:p>
        </p:txBody>
      </p:sp>
      <p:sp>
        <p:nvSpPr>
          <p:cNvPr id="936" name="Text 6"/>
          <p:cNvSpPr txBox="1"/>
          <p:nvPr/>
        </p:nvSpPr>
        <p:spPr>
          <a:xfrm>
            <a:off x="1371600" y="4819650"/>
            <a:ext cx="4486275" cy="1238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68680">
              <a:lnSpc>
                <a:spcPct val="140000"/>
              </a:lnSpc>
              <a:defRPr sz="209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Best at capturing long-range dependencies without gradient issues</a:t>
            </a:r>
          </a:p>
        </p:txBody>
      </p:sp>
      <p:sp>
        <p:nvSpPr>
          <p:cNvPr id="937" name="Text 7"/>
          <p:cNvSpPr txBox="1"/>
          <p:nvPr/>
        </p:nvSpPr>
        <p:spPr>
          <a:xfrm>
            <a:off x="1371600" y="6172200"/>
            <a:ext cx="4486275" cy="83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More parameters → needs more data to generalise well</a:t>
            </a:r>
          </a:p>
        </p:txBody>
      </p:sp>
      <p:sp>
        <p:nvSpPr>
          <p:cNvPr id="938" name="Shape 8"/>
          <p:cNvSpPr/>
          <p:nvPr/>
        </p:nvSpPr>
        <p:spPr>
          <a:xfrm>
            <a:off x="952500" y="7162800"/>
            <a:ext cx="4762500" cy="2552700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3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76325" y="7286625"/>
            <a:ext cx="4514850" cy="2305050"/>
          </a:xfrm>
          <a:prstGeom prst="rect">
            <a:avLst/>
          </a:prstGeom>
          <a:ln w="12700">
            <a:miter lim="400000"/>
          </a:ln>
        </p:spPr>
      </p:pic>
      <p:sp>
        <p:nvSpPr>
          <p:cNvPr id="940" name="Shape 9"/>
          <p:cNvSpPr/>
          <p:nvPr/>
        </p:nvSpPr>
        <p:spPr>
          <a:xfrm>
            <a:off x="6210300" y="2114550"/>
            <a:ext cx="11125200" cy="7600950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41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34125" y="2238375"/>
            <a:ext cx="10877550" cy="73533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2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Text 0"/>
          <p:cNvSpPr txBox="1"/>
          <p:nvPr/>
        </p:nvSpPr>
        <p:spPr>
          <a:xfrm>
            <a:off x="8611641" y="4156695"/>
            <a:ext cx="106471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pc="291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PART 5</a:t>
            </a:r>
          </a:p>
        </p:txBody>
      </p:sp>
      <p:sp>
        <p:nvSpPr>
          <p:cNvPr id="944" name="Text 1"/>
          <p:cNvSpPr txBox="1"/>
          <p:nvPr/>
        </p:nvSpPr>
        <p:spPr>
          <a:xfrm>
            <a:off x="4647227" y="4690095"/>
            <a:ext cx="8993546" cy="792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22959">
              <a:lnSpc>
                <a:spcPct val="110000"/>
              </a:lnSpc>
              <a:defRPr b="1" sz="486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Quantile Regression Models</a:t>
            </a:r>
          </a:p>
        </p:txBody>
      </p:sp>
      <p:sp>
        <p:nvSpPr>
          <p:cNvPr id="945" name="Text 2"/>
          <p:cNvSpPr txBox="1"/>
          <p:nvPr/>
        </p:nvSpPr>
        <p:spPr>
          <a:xfrm>
            <a:off x="5685021" y="5749230"/>
            <a:ext cx="69178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77823">
              <a:defRPr sz="2400">
                <a:solidFill>
                  <a:srgbClr val="FFFFFF">
                    <a:alpha val="64999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Probabilistic forecasting with uncertainty bounds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48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QUANTILE MODELS</a:t>
            </a:r>
          </a:p>
        </p:txBody>
      </p:sp>
      <p:sp>
        <p:nvSpPr>
          <p:cNvPr id="949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50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Quantile Regression: Beyond Point Estimates</a:t>
            </a:r>
          </a:p>
        </p:txBody>
      </p:sp>
      <p:sp>
        <p:nvSpPr>
          <p:cNvPr id="951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Classical &amp; DL models give a </a:t>
            </a:r>
            <a:r>
              <a:rPr b="1">
                <a:solidFill>
                  <a:srgbClr val="12294A"/>
                </a:solidFill>
              </a:rPr>
              <a:t>single point estimate </a:t>
            </a:r>
            <a:r>
              <a:t>of RUL</a:t>
            </a:r>
          </a:p>
        </p:txBody>
      </p:sp>
      <p:sp>
        <p:nvSpPr>
          <p:cNvPr id="952" name="Text 5"/>
          <p:cNvSpPr txBox="1"/>
          <p:nvPr/>
        </p:nvSpPr>
        <p:spPr>
          <a:xfrm>
            <a:off x="1562100" y="354129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Quantile regression gives a </a:t>
            </a:r>
            <a:r>
              <a:rPr b="1">
                <a:solidFill>
                  <a:srgbClr val="12294A"/>
                </a:solidFill>
              </a:rPr>
              <a:t>distribution </a:t>
            </a:r>
            <a:r>
              <a:t>— lower bound, median, upper bound</a:t>
            </a:r>
          </a:p>
        </p:txBody>
      </p:sp>
      <p:sp>
        <p:nvSpPr>
          <p:cNvPr id="953" name="Text 6"/>
          <p:cNvSpPr txBox="1"/>
          <p:nvPr/>
        </p:nvSpPr>
        <p:spPr>
          <a:xfrm>
            <a:off x="1562100" y="460422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Critical for safety: "We are 90% confident the engine will last at least X more cycles"</a:t>
            </a:r>
          </a:p>
        </p:txBody>
      </p:sp>
      <p:sp>
        <p:nvSpPr>
          <p:cNvPr id="954" name="Text 7"/>
          <p:cNvSpPr txBox="1"/>
          <p:nvPr/>
        </p:nvSpPr>
        <p:spPr>
          <a:xfrm>
            <a:off x="1562100" y="566715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40000"/>
              </a:lnSpc>
              <a:defRPr sz="2256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Conservative (lower quantile) predictions → schedule maintenance with a safety margin</a:t>
            </a:r>
          </a:p>
        </p:txBody>
      </p:sp>
      <p:sp>
        <p:nvSpPr>
          <p:cNvPr id="955" name="Text 8"/>
          <p:cNvSpPr txBox="1"/>
          <p:nvPr/>
        </p:nvSpPr>
        <p:spPr>
          <a:xfrm>
            <a:off x="1562100" y="6730082"/>
            <a:ext cx="75668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z="24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Enables risk-aware decision-making across the fleet</a:t>
            </a:r>
          </a:p>
        </p:txBody>
      </p:sp>
      <p:sp>
        <p:nvSpPr>
          <p:cNvPr id="956" name="Shape 9"/>
          <p:cNvSpPr/>
          <p:nvPr/>
        </p:nvSpPr>
        <p:spPr>
          <a:xfrm>
            <a:off x="9391650" y="2478359"/>
            <a:ext cx="7753350" cy="2490790"/>
          </a:xfrm>
          <a:prstGeom prst="roundRect">
            <a:avLst>
              <a:gd name="adj" fmla="val 6119"/>
            </a:avLst>
          </a:prstGeom>
          <a:solidFill>
            <a:srgbClr val="12294A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57" name="Text 10"/>
          <p:cNvSpPr txBox="1"/>
          <p:nvPr/>
        </p:nvSpPr>
        <p:spPr>
          <a:xfrm>
            <a:off x="9782175" y="2868884"/>
            <a:ext cx="718146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F0A50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Why Uncertainty Matters</a:t>
            </a:r>
          </a:p>
        </p:txBody>
      </p:sp>
      <p:sp>
        <p:nvSpPr>
          <p:cNvPr id="958" name="Text 11"/>
          <p:cNvSpPr txBox="1"/>
          <p:nvPr/>
        </p:nvSpPr>
        <p:spPr>
          <a:xfrm>
            <a:off x="9782175" y="3421334"/>
            <a:ext cx="7181468" cy="119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50000"/>
              </a:lnSpc>
              <a:defRPr sz="1879">
                <a:solidFill>
                  <a:srgbClr val="FFFFFF">
                    <a:alpha val="75000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 prediction of "50 cycles" hides whether the true value could be 20 or 80. Quantile models expose this uncertainty so operators can act conservatively.</a:t>
            </a:r>
          </a:p>
        </p:txBody>
      </p:sp>
      <p:sp>
        <p:nvSpPr>
          <p:cNvPr id="959" name="Shape 12"/>
          <p:cNvSpPr/>
          <p:nvPr/>
        </p:nvSpPr>
        <p:spPr>
          <a:xfrm>
            <a:off x="9391650" y="5197747"/>
            <a:ext cx="7753350" cy="2490789"/>
          </a:xfrm>
          <a:prstGeom prst="roundRect">
            <a:avLst>
              <a:gd name="adj" fmla="val 6119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60" name="Text 13"/>
          <p:cNvSpPr txBox="1"/>
          <p:nvPr/>
        </p:nvSpPr>
        <p:spPr>
          <a:xfrm>
            <a:off x="9782175" y="5588272"/>
            <a:ext cx="718146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Pinball Loss</a:t>
            </a:r>
          </a:p>
        </p:txBody>
      </p:sp>
      <p:sp>
        <p:nvSpPr>
          <p:cNvPr id="961" name="Text 14"/>
          <p:cNvSpPr txBox="1"/>
          <p:nvPr/>
        </p:nvSpPr>
        <p:spPr>
          <a:xfrm>
            <a:off x="9782175" y="6140722"/>
            <a:ext cx="7181468" cy="119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50000"/>
              </a:lnSpc>
              <a:defRPr sz="1879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Quantile models are trained with the pinball (quantile) loss — an asymmetric loss that penalises underprediction at upper quantiles and overprediction at lower quantiles.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64" name="Text 1"/>
          <p:cNvSpPr txBox="1"/>
          <p:nvPr/>
        </p:nvSpPr>
        <p:spPr>
          <a:xfrm>
            <a:off x="952500" y="685800"/>
            <a:ext cx="1687449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QUANTILE MODELS</a:t>
            </a:r>
          </a:p>
        </p:txBody>
      </p:sp>
      <p:sp>
        <p:nvSpPr>
          <p:cNvPr id="965" name="Shape 2"/>
          <p:cNvSpPr/>
          <p:nvPr/>
        </p:nvSpPr>
        <p:spPr>
          <a:xfrm>
            <a:off x="952500" y="1819275"/>
            <a:ext cx="16383000" cy="28575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66" name="Text 3"/>
          <p:cNvSpPr txBox="1"/>
          <p:nvPr/>
        </p:nvSpPr>
        <p:spPr>
          <a:xfrm>
            <a:off x="952500" y="1104900"/>
            <a:ext cx="16874490" cy="561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0000"/>
              </a:lnSpc>
              <a:defRPr b="1" sz="3293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Quantile Forecast Examples — Probabilistic RUL Bounds</a:t>
            </a:r>
          </a:p>
        </p:txBody>
      </p:sp>
      <p:sp>
        <p:nvSpPr>
          <p:cNvPr id="967" name="Shape 4"/>
          <p:cNvSpPr/>
          <p:nvPr/>
        </p:nvSpPr>
        <p:spPr>
          <a:xfrm>
            <a:off x="952500" y="2190750"/>
            <a:ext cx="8096250" cy="3667125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6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76325" y="2314575"/>
            <a:ext cx="7848600" cy="3419475"/>
          </a:xfrm>
          <a:prstGeom prst="rect">
            <a:avLst/>
          </a:prstGeom>
          <a:ln w="12700">
            <a:miter lim="400000"/>
          </a:ln>
        </p:spPr>
      </p:pic>
      <p:sp>
        <p:nvSpPr>
          <p:cNvPr id="969" name="Shape 5"/>
          <p:cNvSpPr/>
          <p:nvPr/>
        </p:nvSpPr>
        <p:spPr>
          <a:xfrm>
            <a:off x="9239250" y="2190750"/>
            <a:ext cx="8096250" cy="3667125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70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363075" y="2314575"/>
            <a:ext cx="7848600" cy="3419475"/>
          </a:xfrm>
          <a:prstGeom prst="rect">
            <a:avLst/>
          </a:prstGeom>
          <a:ln w="12700">
            <a:miter lim="400000"/>
          </a:ln>
        </p:spPr>
      </p:pic>
      <p:sp>
        <p:nvSpPr>
          <p:cNvPr id="971" name="Shape 6"/>
          <p:cNvSpPr/>
          <p:nvPr/>
        </p:nvSpPr>
        <p:spPr>
          <a:xfrm>
            <a:off x="952500" y="6048375"/>
            <a:ext cx="8096250" cy="3667125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72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76325" y="6172200"/>
            <a:ext cx="7848600" cy="3419475"/>
          </a:xfrm>
          <a:prstGeom prst="rect">
            <a:avLst/>
          </a:prstGeom>
          <a:ln w="12700">
            <a:miter lim="400000"/>
          </a:ln>
        </p:spPr>
      </p:pic>
      <p:sp>
        <p:nvSpPr>
          <p:cNvPr id="973" name="Shape 7"/>
          <p:cNvSpPr/>
          <p:nvPr/>
        </p:nvSpPr>
        <p:spPr>
          <a:xfrm>
            <a:off x="9239250" y="6048375"/>
            <a:ext cx="8096250" cy="3667125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74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363075" y="6172200"/>
            <a:ext cx="7848600" cy="341947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2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Text 0"/>
          <p:cNvSpPr txBox="1"/>
          <p:nvPr/>
        </p:nvSpPr>
        <p:spPr>
          <a:xfrm>
            <a:off x="8608515" y="4156695"/>
            <a:ext cx="1070968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pc="291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PART 6</a:t>
            </a:r>
          </a:p>
        </p:txBody>
      </p:sp>
      <p:sp>
        <p:nvSpPr>
          <p:cNvPr id="977" name="Text 1"/>
          <p:cNvSpPr txBox="1"/>
          <p:nvPr/>
        </p:nvSpPr>
        <p:spPr>
          <a:xfrm>
            <a:off x="5551963" y="4690095"/>
            <a:ext cx="7183999" cy="792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22959">
              <a:lnSpc>
                <a:spcPct val="110000"/>
              </a:lnSpc>
              <a:defRPr b="1" sz="486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Results &amp; Conclusions</a:t>
            </a:r>
          </a:p>
        </p:txBody>
      </p:sp>
      <p:sp>
        <p:nvSpPr>
          <p:cNvPr id="978" name="Text 2"/>
          <p:cNvSpPr txBox="1"/>
          <p:nvPr/>
        </p:nvSpPr>
        <p:spPr>
          <a:xfrm>
            <a:off x="5276112" y="5749230"/>
            <a:ext cx="7735776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77823">
              <a:defRPr sz="2400">
                <a:solidFill>
                  <a:srgbClr val="FFFFFF">
                    <a:alpha val="64999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Model comparison, key findings, and real-world impact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81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RESULTS</a:t>
            </a:r>
          </a:p>
        </p:txBody>
      </p:sp>
      <p:sp>
        <p:nvSpPr>
          <p:cNvPr id="982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83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Comprehensive Model Comparison</a:t>
            </a:r>
          </a:p>
        </p:txBody>
      </p:sp>
      <p:sp>
        <p:nvSpPr>
          <p:cNvPr id="984" name="Shape 4"/>
          <p:cNvSpPr/>
          <p:nvPr/>
        </p:nvSpPr>
        <p:spPr>
          <a:xfrm>
            <a:off x="1142999" y="2478359"/>
            <a:ext cx="2948064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85" name="Text 5"/>
          <p:cNvSpPr txBox="1"/>
          <p:nvPr/>
        </p:nvSpPr>
        <p:spPr>
          <a:xfrm>
            <a:off x="1352550" y="2630759"/>
            <a:ext cx="2617404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Model</a:t>
            </a:r>
          </a:p>
        </p:txBody>
      </p:sp>
      <p:sp>
        <p:nvSpPr>
          <p:cNvPr id="986" name="Shape 6"/>
          <p:cNvSpPr/>
          <p:nvPr/>
        </p:nvSpPr>
        <p:spPr>
          <a:xfrm>
            <a:off x="4091061" y="2478359"/>
            <a:ext cx="3248026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87" name="Text 7"/>
          <p:cNvSpPr txBox="1"/>
          <p:nvPr/>
        </p:nvSpPr>
        <p:spPr>
          <a:xfrm>
            <a:off x="4300611" y="2630759"/>
            <a:ext cx="2926367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Type</a:t>
            </a:r>
          </a:p>
        </p:txBody>
      </p:sp>
      <p:sp>
        <p:nvSpPr>
          <p:cNvPr id="988" name="Shape 8"/>
          <p:cNvSpPr/>
          <p:nvPr/>
        </p:nvSpPr>
        <p:spPr>
          <a:xfrm>
            <a:off x="7339086" y="2478359"/>
            <a:ext cx="2424338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89" name="Text 9"/>
          <p:cNvSpPr txBox="1"/>
          <p:nvPr/>
        </p:nvSpPr>
        <p:spPr>
          <a:xfrm>
            <a:off x="7548636" y="2630759"/>
            <a:ext cx="2081436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68680">
              <a:defRPr b="1" sz="19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RMSE ↓</a:t>
            </a:r>
          </a:p>
        </p:txBody>
      </p:sp>
      <p:sp>
        <p:nvSpPr>
          <p:cNvPr id="990" name="Shape 10"/>
          <p:cNvSpPr/>
          <p:nvPr/>
        </p:nvSpPr>
        <p:spPr>
          <a:xfrm>
            <a:off x="9763422" y="2478359"/>
            <a:ext cx="3709021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91" name="Text 11"/>
          <p:cNvSpPr txBox="1"/>
          <p:nvPr/>
        </p:nvSpPr>
        <p:spPr>
          <a:xfrm>
            <a:off x="9972972" y="2630759"/>
            <a:ext cx="3401191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68680">
              <a:defRPr b="1" sz="19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NASA Score ↓</a:t>
            </a:r>
          </a:p>
        </p:txBody>
      </p:sp>
      <p:sp>
        <p:nvSpPr>
          <p:cNvPr id="992" name="Shape 12"/>
          <p:cNvSpPr/>
          <p:nvPr/>
        </p:nvSpPr>
        <p:spPr>
          <a:xfrm>
            <a:off x="13472442" y="2478359"/>
            <a:ext cx="1903437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93" name="Text 13"/>
          <p:cNvSpPr txBox="1"/>
          <p:nvPr/>
        </p:nvSpPr>
        <p:spPr>
          <a:xfrm>
            <a:off x="13681992" y="2630759"/>
            <a:ext cx="1560538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68680">
              <a:defRPr b="1" sz="190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R² ↑</a:t>
            </a:r>
          </a:p>
        </p:txBody>
      </p:sp>
      <p:sp>
        <p:nvSpPr>
          <p:cNvPr id="994" name="Shape 14"/>
          <p:cNvSpPr/>
          <p:nvPr/>
        </p:nvSpPr>
        <p:spPr>
          <a:xfrm>
            <a:off x="15375880" y="2478359"/>
            <a:ext cx="1769120" cy="604839"/>
          </a:xfrm>
          <a:prstGeom prst="rect">
            <a:avLst/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95" name="Text 15"/>
          <p:cNvSpPr txBox="1"/>
          <p:nvPr/>
        </p:nvSpPr>
        <p:spPr>
          <a:xfrm>
            <a:off x="15585430" y="2630759"/>
            <a:ext cx="1426221" cy="338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886968">
              <a:defRPr b="1" sz="1940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Bias</a:t>
            </a:r>
          </a:p>
        </p:txBody>
      </p:sp>
      <p:sp>
        <p:nvSpPr>
          <p:cNvPr id="996" name="Shape 16"/>
          <p:cNvSpPr/>
          <p:nvPr/>
        </p:nvSpPr>
        <p:spPr>
          <a:xfrm>
            <a:off x="1142999" y="3634060"/>
            <a:ext cx="2948064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97" name="Text 17"/>
          <p:cNvSpPr txBox="1"/>
          <p:nvPr/>
        </p:nvSpPr>
        <p:spPr>
          <a:xfrm>
            <a:off x="1352550" y="3216548"/>
            <a:ext cx="2617404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AR(10,2,0)</a:t>
            </a:r>
          </a:p>
        </p:txBody>
      </p:sp>
      <p:sp>
        <p:nvSpPr>
          <p:cNvPr id="998" name="Shape 18"/>
          <p:cNvSpPr/>
          <p:nvPr/>
        </p:nvSpPr>
        <p:spPr>
          <a:xfrm>
            <a:off x="4091061" y="3634060"/>
            <a:ext cx="3248026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99" name="Text 19"/>
          <p:cNvSpPr txBox="1"/>
          <p:nvPr/>
        </p:nvSpPr>
        <p:spPr>
          <a:xfrm>
            <a:off x="4300611" y="3216548"/>
            <a:ext cx="2926367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Classical</a:t>
            </a:r>
          </a:p>
        </p:txBody>
      </p:sp>
      <p:sp>
        <p:nvSpPr>
          <p:cNvPr id="1000" name="Shape 20"/>
          <p:cNvSpPr/>
          <p:nvPr/>
        </p:nvSpPr>
        <p:spPr>
          <a:xfrm>
            <a:off x="7339086" y="3634060"/>
            <a:ext cx="242433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01" name="Text 21"/>
          <p:cNvSpPr txBox="1"/>
          <p:nvPr/>
        </p:nvSpPr>
        <p:spPr>
          <a:xfrm>
            <a:off x="7548636" y="3216548"/>
            <a:ext cx="2081436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27.67</a:t>
            </a:r>
          </a:p>
        </p:txBody>
      </p:sp>
      <p:sp>
        <p:nvSpPr>
          <p:cNvPr id="1002" name="Shape 22"/>
          <p:cNvSpPr/>
          <p:nvPr/>
        </p:nvSpPr>
        <p:spPr>
          <a:xfrm>
            <a:off x="9763422" y="3634060"/>
            <a:ext cx="3709021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03" name="Text 23"/>
          <p:cNvSpPr txBox="1"/>
          <p:nvPr/>
        </p:nvSpPr>
        <p:spPr>
          <a:xfrm>
            <a:off x="9972972" y="3216548"/>
            <a:ext cx="3401191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25,742</a:t>
            </a:r>
          </a:p>
        </p:txBody>
      </p:sp>
      <p:sp>
        <p:nvSpPr>
          <p:cNvPr id="1004" name="Shape 24"/>
          <p:cNvSpPr/>
          <p:nvPr/>
        </p:nvSpPr>
        <p:spPr>
          <a:xfrm>
            <a:off x="13472442" y="3634060"/>
            <a:ext cx="190343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05" name="Text 25"/>
          <p:cNvSpPr txBox="1"/>
          <p:nvPr/>
        </p:nvSpPr>
        <p:spPr>
          <a:xfrm>
            <a:off x="13681992" y="3216548"/>
            <a:ext cx="1560538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0.586</a:t>
            </a:r>
          </a:p>
        </p:txBody>
      </p:sp>
      <p:sp>
        <p:nvSpPr>
          <p:cNvPr id="1006" name="Shape 26"/>
          <p:cNvSpPr/>
          <p:nvPr/>
        </p:nvSpPr>
        <p:spPr>
          <a:xfrm>
            <a:off x="15375880" y="3634060"/>
            <a:ext cx="176912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07" name="Text 27"/>
          <p:cNvSpPr txBox="1"/>
          <p:nvPr/>
        </p:nvSpPr>
        <p:spPr>
          <a:xfrm>
            <a:off x="15585430" y="3216548"/>
            <a:ext cx="1426221" cy="323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−4.74</a:t>
            </a:r>
          </a:p>
        </p:txBody>
      </p:sp>
      <p:sp>
        <p:nvSpPr>
          <p:cNvPr id="1008" name="Shape 28"/>
          <p:cNvSpPr/>
          <p:nvPr/>
        </p:nvSpPr>
        <p:spPr>
          <a:xfrm>
            <a:off x="1142999" y="3645172"/>
            <a:ext cx="2948064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09" name="Shape 29"/>
          <p:cNvSpPr/>
          <p:nvPr/>
        </p:nvSpPr>
        <p:spPr>
          <a:xfrm>
            <a:off x="1142999" y="4200797"/>
            <a:ext cx="2948064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10" name="Text 30"/>
          <p:cNvSpPr txBox="1"/>
          <p:nvPr/>
        </p:nvSpPr>
        <p:spPr>
          <a:xfrm>
            <a:off x="1352550" y="3778522"/>
            <a:ext cx="2617404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ARMA(1,2,1)</a:t>
            </a:r>
          </a:p>
        </p:txBody>
      </p:sp>
      <p:sp>
        <p:nvSpPr>
          <p:cNvPr id="1011" name="Shape 31"/>
          <p:cNvSpPr/>
          <p:nvPr/>
        </p:nvSpPr>
        <p:spPr>
          <a:xfrm>
            <a:off x="4091061" y="3645172"/>
            <a:ext cx="3248026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12" name="Shape 32"/>
          <p:cNvSpPr/>
          <p:nvPr/>
        </p:nvSpPr>
        <p:spPr>
          <a:xfrm>
            <a:off x="4091061" y="4200797"/>
            <a:ext cx="3248026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13" name="Text 33"/>
          <p:cNvSpPr txBox="1"/>
          <p:nvPr/>
        </p:nvSpPr>
        <p:spPr>
          <a:xfrm>
            <a:off x="4300611" y="3778522"/>
            <a:ext cx="29263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Classical</a:t>
            </a:r>
          </a:p>
        </p:txBody>
      </p:sp>
      <p:sp>
        <p:nvSpPr>
          <p:cNvPr id="1014" name="Shape 34"/>
          <p:cNvSpPr/>
          <p:nvPr/>
        </p:nvSpPr>
        <p:spPr>
          <a:xfrm>
            <a:off x="7339086" y="3645172"/>
            <a:ext cx="2424338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15" name="Shape 35"/>
          <p:cNvSpPr/>
          <p:nvPr/>
        </p:nvSpPr>
        <p:spPr>
          <a:xfrm>
            <a:off x="7339086" y="4200797"/>
            <a:ext cx="242433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16" name="Text 36"/>
          <p:cNvSpPr txBox="1"/>
          <p:nvPr/>
        </p:nvSpPr>
        <p:spPr>
          <a:xfrm>
            <a:off x="7548636" y="3778522"/>
            <a:ext cx="2081436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26.19</a:t>
            </a:r>
          </a:p>
        </p:txBody>
      </p:sp>
      <p:sp>
        <p:nvSpPr>
          <p:cNvPr id="1017" name="Shape 37"/>
          <p:cNvSpPr/>
          <p:nvPr/>
        </p:nvSpPr>
        <p:spPr>
          <a:xfrm>
            <a:off x="9763422" y="3645172"/>
            <a:ext cx="3709021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18" name="Shape 38"/>
          <p:cNvSpPr/>
          <p:nvPr/>
        </p:nvSpPr>
        <p:spPr>
          <a:xfrm>
            <a:off x="9763422" y="4200797"/>
            <a:ext cx="3709021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19" name="Text 39"/>
          <p:cNvSpPr txBox="1"/>
          <p:nvPr/>
        </p:nvSpPr>
        <p:spPr>
          <a:xfrm>
            <a:off x="9972972" y="3778522"/>
            <a:ext cx="3401191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17,514</a:t>
            </a:r>
          </a:p>
        </p:txBody>
      </p:sp>
      <p:sp>
        <p:nvSpPr>
          <p:cNvPr id="1020" name="Shape 40"/>
          <p:cNvSpPr/>
          <p:nvPr/>
        </p:nvSpPr>
        <p:spPr>
          <a:xfrm>
            <a:off x="13472442" y="3645172"/>
            <a:ext cx="1903437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21" name="Shape 41"/>
          <p:cNvSpPr/>
          <p:nvPr/>
        </p:nvSpPr>
        <p:spPr>
          <a:xfrm>
            <a:off x="13472442" y="4200797"/>
            <a:ext cx="190343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22" name="Text 42"/>
          <p:cNvSpPr txBox="1"/>
          <p:nvPr/>
        </p:nvSpPr>
        <p:spPr>
          <a:xfrm>
            <a:off x="13681992" y="3778522"/>
            <a:ext cx="156053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0.629</a:t>
            </a:r>
          </a:p>
        </p:txBody>
      </p:sp>
      <p:sp>
        <p:nvSpPr>
          <p:cNvPr id="1023" name="Shape 43"/>
          <p:cNvSpPr/>
          <p:nvPr/>
        </p:nvSpPr>
        <p:spPr>
          <a:xfrm>
            <a:off x="15375880" y="3645172"/>
            <a:ext cx="1769120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24" name="Shape 44"/>
          <p:cNvSpPr/>
          <p:nvPr/>
        </p:nvSpPr>
        <p:spPr>
          <a:xfrm>
            <a:off x="15375880" y="4200797"/>
            <a:ext cx="176912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25" name="Text 45"/>
          <p:cNvSpPr txBox="1"/>
          <p:nvPr/>
        </p:nvSpPr>
        <p:spPr>
          <a:xfrm>
            <a:off x="15585430" y="3778522"/>
            <a:ext cx="1426221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−1.53</a:t>
            </a:r>
          </a:p>
        </p:txBody>
      </p:sp>
      <p:sp>
        <p:nvSpPr>
          <p:cNvPr id="1026" name="Shape 46"/>
          <p:cNvSpPr/>
          <p:nvPr/>
        </p:nvSpPr>
        <p:spPr>
          <a:xfrm>
            <a:off x="1142999" y="4767535"/>
            <a:ext cx="2948064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27" name="Text 47"/>
          <p:cNvSpPr txBox="1"/>
          <p:nvPr/>
        </p:nvSpPr>
        <p:spPr>
          <a:xfrm>
            <a:off x="1352550" y="4345259"/>
            <a:ext cx="2617404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ARIMA(1,2,1)</a:t>
            </a:r>
          </a:p>
        </p:txBody>
      </p:sp>
      <p:sp>
        <p:nvSpPr>
          <p:cNvPr id="1028" name="Shape 48"/>
          <p:cNvSpPr/>
          <p:nvPr/>
        </p:nvSpPr>
        <p:spPr>
          <a:xfrm>
            <a:off x="4091061" y="4767535"/>
            <a:ext cx="3248026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29" name="Text 49"/>
          <p:cNvSpPr txBox="1"/>
          <p:nvPr/>
        </p:nvSpPr>
        <p:spPr>
          <a:xfrm>
            <a:off x="4300611" y="4345259"/>
            <a:ext cx="29263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Classical</a:t>
            </a:r>
          </a:p>
        </p:txBody>
      </p:sp>
      <p:sp>
        <p:nvSpPr>
          <p:cNvPr id="1030" name="Shape 50"/>
          <p:cNvSpPr/>
          <p:nvPr/>
        </p:nvSpPr>
        <p:spPr>
          <a:xfrm>
            <a:off x="7339086" y="4767535"/>
            <a:ext cx="2424338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31" name="Text 51"/>
          <p:cNvSpPr txBox="1"/>
          <p:nvPr/>
        </p:nvSpPr>
        <p:spPr>
          <a:xfrm>
            <a:off x="7548636" y="4345259"/>
            <a:ext cx="2081436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24.76</a:t>
            </a:r>
          </a:p>
        </p:txBody>
      </p:sp>
      <p:sp>
        <p:nvSpPr>
          <p:cNvPr id="1032" name="Shape 52"/>
          <p:cNvSpPr/>
          <p:nvPr/>
        </p:nvSpPr>
        <p:spPr>
          <a:xfrm>
            <a:off x="9763422" y="4767535"/>
            <a:ext cx="3709021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33" name="Text 53"/>
          <p:cNvSpPr txBox="1"/>
          <p:nvPr/>
        </p:nvSpPr>
        <p:spPr>
          <a:xfrm>
            <a:off x="9972972" y="4345259"/>
            <a:ext cx="3401191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13,791</a:t>
            </a:r>
          </a:p>
        </p:txBody>
      </p:sp>
      <p:sp>
        <p:nvSpPr>
          <p:cNvPr id="1034" name="Shape 54"/>
          <p:cNvSpPr/>
          <p:nvPr/>
        </p:nvSpPr>
        <p:spPr>
          <a:xfrm>
            <a:off x="13472442" y="4767535"/>
            <a:ext cx="1903437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35" name="Text 55"/>
          <p:cNvSpPr txBox="1"/>
          <p:nvPr/>
        </p:nvSpPr>
        <p:spPr>
          <a:xfrm>
            <a:off x="13681992" y="4345259"/>
            <a:ext cx="156053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0.668</a:t>
            </a:r>
          </a:p>
        </p:txBody>
      </p:sp>
      <p:sp>
        <p:nvSpPr>
          <p:cNvPr id="1036" name="Shape 56"/>
          <p:cNvSpPr/>
          <p:nvPr/>
        </p:nvSpPr>
        <p:spPr>
          <a:xfrm>
            <a:off x="15375880" y="4767535"/>
            <a:ext cx="176912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37" name="Text 57"/>
          <p:cNvSpPr txBox="1"/>
          <p:nvPr/>
        </p:nvSpPr>
        <p:spPr>
          <a:xfrm>
            <a:off x="15585430" y="4345259"/>
            <a:ext cx="1426221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−3.58</a:t>
            </a:r>
          </a:p>
        </p:txBody>
      </p:sp>
      <p:sp>
        <p:nvSpPr>
          <p:cNvPr id="1038" name="Shape 58"/>
          <p:cNvSpPr/>
          <p:nvPr/>
        </p:nvSpPr>
        <p:spPr>
          <a:xfrm>
            <a:off x="1142999" y="4778647"/>
            <a:ext cx="2948064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39" name="Shape 59"/>
          <p:cNvSpPr/>
          <p:nvPr/>
        </p:nvSpPr>
        <p:spPr>
          <a:xfrm>
            <a:off x="1142999" y="5334272"/>
            <a:ext cx="2948064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40" name="Text 60"/>
          <p:cNvSpPr txBox="1"/>
          <p:nvPr/>
        </p:nvSpPr>
        <p:spPr>
          <a:xfrm>
            <a:off x="1352550" y="4911997"/>
            <a:ext cx="2617404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RNN</a:t>
            </a:r>
          </a:p>
        </p:txBody>
      </p:sp>
      <p:sp>
        <p:nvSpPr>
          <p:cNvPr id="1041" name="Shape 61"/>
          <p:cNvSpPr/>
          <p:nvPr/>
        </p:nvSpPr>
        <p:spPr>
          <a:xfrm>
            <a:off x="4091061" y="4778647"/>
            <a:ext cx="3248026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42" name="Shape 62"/>
          <p:cNvSpPr/>
          <p:nvPr/>
        </p:nvSpPr>
        <p:spPr>
          <a:xfrm>
            <a:off x="4091061" y="5334272"/>
            <a:ext cx="3248026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43" name="Text 63"/>
          <p:cNvSpPr txBox="1"/>
          <p:nvPr/>
        </p:nvSpPr>
        <p:spPr>
          <a:xfrm>
            <a:off x="4300611" y="4911997"/>
            <a:ext cx="29263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Deep Learning</a:t>
            </a:r>
          </a:p>
        </p:txBody>
      </p:sp>
      <p:sp>
        <p:nvSpPr>
          <p:cNvPr id="1044" name="Shape 64"/>
          <p:cNvSpPr/>
          <p:nvPr/>
        </p:nvSpPr>
        <p:spPr>
          <a:xfrm>
            <a:off x="7339086" y="4778647"/>
            <a:ext cx="8036795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45" name="Shape 65"/>
          <p:cNvSpPr/>
          <p:nvPr/>
        </p:nvSpPr>
        <p:spPr>
          <a:xfrm>
            <a:off x="7339086" y="5334272"/>
            <a:ext cx="803679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46" name="Text 66"/>
          <p:cNvSpPr txBox="1"/>
          <p:nvPr/>
        </p:nvSpPr>
        <p:spPr>
          <a:xfrm>
            <a:off x="7548636" y="4911997"/>
            <a:ext cx="785879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i="1" sz="1881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See per-model result plots (slides 41–44)</a:t>
            </a:r>
          </a:p>
        </p:txBody>
      </p:sp>
      <p:sp>
        <p:nvSpPr>
          <p:cNvPr id="1047" name="Shape 67"/>
          <p:cNvSpPr/>
          <p:nvPr/>
        </p:nvSpPr>
        <p:spPr>
          <a:xfrm>
            <a:off x="15375880" y="4778647"/>
            <a:ext cx="1769120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48" name="Shape 68"/>
          <p:cNvSpPr/>
          <p:nvPr/>
        </p:nvSpPr>
        <p:spPr>
          <a:xfrm>
            <a:off x="15375880" y="5334272"/>
            <a:ext cx="176912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49" name="Text 69"/>
          <p:cNvSpPr txBox="1"/>
          <p:nvPr/>
        </p:nvSpPr>
        <p:spPr>
          <a:xfrm>
            <a:off x="15585430" y="4911997"/>
            <a:ext cx="1426221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1050" name="Shape 70"/>
          <p:cNvSpPr/>
          <p:nvPr/>
        </p:nvSpPr>
        <p:spPr>
          <a:xfrm>
            <a:off x="1142999" y="5901010"/>
            <a:ext cx="2948064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51" name="Text 71"/>
          <p:cNvSpPr txBox="1"/>
          <p:nvPr/>
        </p:nvSpPr>
        <p:spPr>
          <a:xfrm>
            <a:off x="1352550" y="5478734"/>
            <a:ext cx="2617404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LSTM</a:t>
            </a:r>
          </a:p>
        </p:txBody>
      </p:sp>
      <p:sp>
        <p:nvSpPr>
          <p:cNvPr id="1052" name="Shape 72"/>
          <p:cNvSpPr/>
          <p:nvPr/>
        </p:nvSpPr>
        <p:spPr>
          <a:xfrm>
            <a:off x="4091061" y="5901010"/>
            <a:ext cx="3248026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53" name="Text 73"/>
          <p:cNvSpPr txBox="1"/>
          <p:nvPr/>
        </p:nvSpPr>
        <p:spPr>
          <a:xfrm>
            <a:off x="4300611" y="5478734"/>
            <a:ext cx="29263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Deep Learning</a:t>
            </a:r>
          </a:p>
        </p:txBody>
      </p:sp>
      <p:sp>
        <p:nvSpPr>
          <p:cNvPr id="1054" name="Shape 74"/>
          <p:cNvSpPr/>
          <p:nvPr/>
        </p:nvSpPr>
        <p:spPr>
          <a:xfrm>
            <a:off x="7339086" y="5901010"/>
            <a:ext cx="803679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55" name="Text 75"/>
          <p:cNvSpPr txBox="1"/>
          <p:nvPr/>
        </p:nvSpPr>
        <p:spPr>
          <a:xfrm>
            <a:off x="7548636" y="5478734"/>
            <a:ext cx="785879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i="1" sz="1881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See per-model result plots (slides 41–44)</a:t>
            </a:r>
          </a:p>
        </p:txBody>
      </p:sp>
      <p:sp>
        <p:nvSpPr>
          <p:cNvPr id="1056" name="Shape 76"/>
          <p:cNvSpPr/>
          <p:nvPr/>
        </p:nvSpPr>
        <p:spPr>
          <a:xfrm>
            <a:off x="15375880" y="5901010"/>
            <a:ext cx="176912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57" name="Text 77"/>
          <p:cNvSpPr txBox="1"/>
          <p:nvPr/>
        </p:nvSpPr>
        <p:spPr>
          <a:xfrm>
            <a:off x="15585430" y="5478734"/>
            <a:ext cx="1426221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1058" name="Shape 78"/>
          <p:cNvSpPr/>
          <p:nvPr/>
        </p:nvSpPr>
        <p:spPr>
          <a:xfrm>
            <a:off x="1142999" y="5912122"/>
            <a:ext cx="2948064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59" name="Shape 79"/>
          <p:cNvSpPr/>
          <p:nvPr/>
        </p:nvSpPr>
        <p:spPr>
          <a:xfrm>
            <a:off x="1142999" y="6467747"/>
            <a:ext cx="2948064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60" name="Text 80"/>
          <p:cNvSpPr txBox="1"/>
          <p:nvPr/>
        </p:nvSpPr>
        <p:spPr>
          <a:xfrm>
            <a:off x="1352550" y="6045472"/>
            <a:ext cx="2617404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GRU</a:t>
            </a:r>
          </a:p>
        </p:txBody>
      </p:sp>
      <p:sp>
        <p:nvSpPr>
          <p:cNvPr id="1061" name="Shape 81"/>
          <p:cNvSpPr/>
          <p:nvPr/>
        </p:nvSpPr>
        <p:spPr>
          <a:xfrm>
            <a:off x="4091061" y="5912122"/>
            <a:ext cx="3248026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62" name="Shape 82"/>
          <p:cNvSpPr/>
          <p:nvPr/>
        </p:nvSpPr>
        <p:spPr>
          <a:xfrm>
            <a:off x="4091061" y="6467747"/>
            <a:ext cx="3248026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63" name="Text 83"/>
          <p:cNvSpPr txBox="1"/>
          <p:nvPr/>
        </p:nvSpPr>
        <p:spPr>
          <a:xfrm>
            <a:off x="4300611" y="6045472"/>
            <a:ext cx="29263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Deep Learning</a:t>
            </a:r>
          </a:p>
        </p:txBody>
      </p:sp>
      <p:sp>
        <p:nvSpPr>
          <p:cNvPr id="1064" name="Shape 84"/>
          <p:cNvSpPr/>
          <p:nvPr/>
        </p:nvSpPr>
        <p:spPr>
          <a:xfrm>
            <a:off x="7339086" y="5912122"/>
            <a:ext cx="8036795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65" name="Shape 85"/>
          <p:cNvSpPr/>
          <p:nvPr/>
        </p:nvSpPr>
        <p:spPr>
          <a:xfrm>
            <a:off x="7339086" y="6467747"/>
            <a:ext cx="803679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66" name="Text 86"/>
          <p:cNvSpPr txBox="1"/>
          <p:nvPr/>
        </p:nvSpPr>
        <p:spPr>
          <a:xfrm>
            <a:off x="7548636" y="6045472"/>
            <a:ext cx="785879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i="1" sz="1881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See per-model result plots (slides 41–44)</a:t>
            </a:r>
          </a:p>
        </p:txBody>
      </p:sp>
      <p:sp>
        <p:nvSpPr>
          <p:cNvPr id="1067" name="Shape 87"/>
          <p:cNvSpPr/>
          <p:nvPr/>
        </p:nvSpPr>
        <p:spPr>
          <a:xfrm>
            <a:off x="15375880" y="5912122"/>
            <a:ext cx="1769120" cy="566739"/>
          </a:xfrm>
          <a:prstGeom prst="rect">
            <a:avLst/>
          </a:prstGeom>
          <a:solidFill>
            <a:srgbClr val="1F5FA6">
              <a:alpha val="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68" name="Shape 88"/>
          <p:cNvSpPr/>
          <p:nvPr/>
        </p:nvSpPr>
        <p:spPr>
          <a:xfrm>
            <a:off x="15375880" y="6467747"/>
            <a:ext cx="176912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69" name="Text 89"/>
          <p:cNvSpPr txBox="1"/>
          <p:nvPr/>
        </p:nvSpPr>
        <p:spPr>
          <a:xfrm>
            <a:off x="15585430" y="6045472"/>
            <a:ext cx="1426221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1070" name="Shape 90"/>
          <p:cNvSpPr/>
          <p:nvPr/>
        </p:nvSpPr>
        <p:spPr>
          <a:xfrm>
            <a:off x="1142999" y="7034485"/>
            <a:ext cx="2948064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71" name="Text 91"/>
          <p:cNvSpPr txBox="1"/>
          <p:nvPr/>
        </p:nvSpPr>
        <p:spPr>
          <a:xfrm>
            <a:off x="1352550" y="6612210"/>
            <a:ext cx="2617404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Transformer</a:t>
            </a:r>
          </a:p>
        </p:txBody>
      </p:sp>
      <p:sp>
        <p:nvSpPr>
          <p:cNvPr id="1072" name="Shape 92"/>
          <p:cNvSpPr/>
          <p:nvPr/>
        </p:nvSpPr>
        <p:spPr>
          <a:xfrm>
            <a:off x="4091061" y="7034485"/>
            <a:ext cx="3248026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73" name="Text 93"/>
          <p:cNvSpPr txBox="1"/>
          <p:nvPr/>
        </p:nvSpPr>
        <p:spPr>
          <a:xfrm>
            <a:off x="4300611" y="6612210"/>
            <a:ext cx="2926367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Deep Learning</a:t>
            </a:r>
          </a:p>
        </p:txBody>
      </p:sp>
      <p:sp>
        <p:nvSpPr>
          <p:cNvPr id="1074" name="Shape 94"/>
          <p:cNvSpPr/>
          <p:nvPr/>
        </p:nvSpPr>
        <p:spPr>
          <a:xfrm>
            <a:off x="7339086" y="7034485"/>
            <a:ext cx="8036795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75" name="Text 95"/>
          <p:cNvSpPr txBox="1"/>
          <p:nvPr/>
        </p:nvSpPr>
        <p:spPr>
          <a:xfrm>
            <a:off x="7548636" y="6612210"/>
            <a:ext cx="7858798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i="1" sz="1881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See per-model result plots (slides 41–44)</a:t>
            </a:r>
          </a:p>
        </p:txBody>
      </p:sp>
      <p:sp>
        <p:nvSpPr>
          <p:cNvPr id="1076" name="Shape 96"/>
          <p:cNvSpPr/>
          <p:nvPr/>
        </p:nvSpPr>
        <p:spPr>
          <a:xfrm>
            <a:off x="15375880" y="7034485"/>
            <a:ext cx="1769120" cy="12701"/>
          </a:xfrm>
          <a:prstGeom prst="rect">
            <a:avLst/>
          </a:prstGeom>
          <a:solidFill>
            <a:srgbClr val="D0DC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77" name="Text 97"/>
          <p:cNvSpPr txBox="1"/>
          <p:nvPr/>
        </p:nvSpPr>
        <p:spPr>
          <a:xfrm>
            <a:off x="15585430" y="6612210"/>
            <a:ext cx="1426221" cy="328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defTabSz="905255">
              <a:defRPr sz="1881">
                <a:solidFill>
                  <a:srgbClr val="2A3F58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1078" name="Shape 98"/>
          <p:cNvSpPr/>
          <p:nvPr/>
        </p:nvSpPr>
        <p:spPr>
          <a:xfrm>
            <a:off x="1143000" y="7317060"/>
            <a:ext cx="16002000" cy="1200151"/>
          </a:xfrm>
          <a:prstGeom prst="rect">
            <a:avLst/>
          </a:prstGeom>
          <a:solidFill>
            <a:srgbClr val="1F5FA6">
              <a:alpha val="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79" name="Shape 99"/>
          <p:cNvSpPr/>
          <p:nvPr/>
        </p:nvSpPr>
        <p:spPr>
          <a:xfrm>
            <a:off x="1143000" y="7317060"/>
            <a:ext cx="57150" cy="1200151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80" name="Text 100"/>
          <p:cNvSpPr txBox="1"/>
          <p:nvPr/>
        </p:nvSpPr>
        <p:spPr>
          <a:xfrm>
            <a:off x="1504950" y="7545660"/>
            <a:ext cx="15815311" cy="78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0000"/>
              </a:lnSpc>
              <a:defRPr sz="19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↓ Lower is better for RMSE and NASA Score. ↑ Higher is better for R². DL models operate on full 14-sensor feature space — no health-index compression.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83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RESULTS</a:t>
            </a:r>
          </a:p>
        </p:txBody>
      </p:sp>
      <p:sp>
        <p:nvSpPr>
          <p:cNvPr id="1084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85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Key Findings</a:t>
            </a:r>
          </a:p>
        </p:txBody>
      </p:sp>
      <p:sp>
        <p:nvSpPr>
          <p:cNvPr id="1086" name="Text 4"/>
          <p:cNvSpPr txBox="1"/>
          <p:nvPr/>
        </p:nvSpPr>
        <p:spPr>
          <a:xfrm>
            <a:off x="1562100" y="2478359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ARIMA beats AR and ARMA </a:t>
            </a:r>
            <a:r>
              <a:rPr b="0">
                <a:solidFill>
                  <a:srgbClr val="1C3150"/>
                </a:solidFill>
              </a:rPr>
              <a:t>— the MA error-correction term is critical for FD004's accelerating degradation</a:t>
            </a:r>
          </a:p>
        </p:txBody>
      </p:sp>
      <p:sp>
        <p:nvSpPr>
          <p:cNvPr id="1087" name="Text 5"/>
          <p:cNvSpPr txBox="1"/>
          <p:nvPr/>
        </p:nvSpPr>
        <p:spPr>
          <a:xfrm>
            <a:off x="1562100" y="3430859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d=2 is essential </a:t>
            </a:r>
            <a:r>
              <a:rPr b="0">
                <a:solidFill>
                  <a:srgbClr val="1C3150"/>
                </a:solidFill>
              </a:rPr>
              <a:t>— FD004 degradation accelerates, not just trends — two differences required for stationarity</a:t>
            </a:r>
          </a:p>
        </p:txBody>
      </p:sp>
      <p:sp>
        <p:nvSpPr>
          <p:cNvPr id="1088" name="Text 6"/>
          <p:cNvSpPr txBox="1"/>
          <p:nvPr/>
        </p:nvSpPr>
        <p:spPr>
          <a:xfrm>
            <a:off x="1562100" y="4383359"/>
            <a:ext cx="7566850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41247">
              <a:lnSpc>
                <a:spcPct val="140000"/>
              </a:lnSpc>
              <a:defRPr b="1" sz="202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Per-cluster detrending </a:t>
            </a:r>
            <a:r>
              <a:rPr b="0">
                <a:solidFill>
                  <a:srgbClr val="1C3150"/>
                </a:solidFill>
              </a:rPr>
              <a:t>is the most important preprocessing step — without it, PCA captures operating conditions, not degradation</a:t>
            </a:r>
          </a:p>
        </p:txBody>
      </p:sp>
      <p:sp>
        <p:nvSpPr>
          <p:cNvPr id="1089" name="Text 7"/>
          <p:cNvSpPr txBox="1"/>
          <p:nvPr/>
        </p:nvSpPr>
        <p:spPr>
          <a:xfrm>
            <a:off x="1562100" y="5735909"/>
            <a:ext cx="7566850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905255">
              <a:lnSpc>
                <a:spcPct val="140000"/>
              </a:lnSpc>
              <a:defRPr b="1" sz="2178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91% of test engines use the fallback </a:t>
            </a:r>
            <a:r>
              <a:rPr b="0">
                <a:solidFill>
                  <a:srgbClr val="1C3150"/>
                </a:solidFill>
              </a:rPr>
              <a:t>— most are truncated in the healthy phase; ARIMA forecasts flat health indexes</a:t>
            </a:r>
          </a:p>
        </p:txBody>
      </p:sp>
      <p:sp>
        <p:nvSpPr>
          <p:cNvPr id="1090" name="Text 8"/>
          <p:cNvSpPr txBox="1"/>
          <p:nvPr/>
        </p:nvSpPr>
        <p:spPr>
          <a:xfrm>
            <a:off x="9810750" y="2478359"/>
            <a:ext cx="7566850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32104">
              <a:lnSpc>
                <a:spcPct val="140000"/>
              </a:lnSpc>
              <a:defRPr b="1" sz="2002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Conservative bias (safety factor 0.88) </a:t>
            </a:r>
            <a:r>
              <a:rPr b="0">
                <a:solidFill>
                  <a:srgbClr val="1C3150"/>
                </a:solidFill>
              </a:rPr>
              <a:t>aligns with NASA's asymmetric scoring — early predictions penalised less than late ones</a:t>
            </a:r>
          </a:p>
        </p:txBody>
      </p:sp>
      <p:sp>
        <p:nvSpPr>
          <p:cNvPr id="1091" name="Text 9"/>
          <p:cNvSpPr txBox="1"/>
          <p:nvPr/>
        </p:nvSpPr>
        <p:spPr>
          <a:xfrm>
            <a:off x="9810750" y="3830909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RMSE ~25 cycles </a:t>
            </a:r>
            <a:r>
              <a:rPr b="0">
                <a:solidFill>
                  <a:srgbClr val="1C3150"/>
                </a:solidFill>
              </a:rPr>
              <a:t>on mean true RUL of 78 — ~32% average error, reasonable for the hardest CMAPSS subset</a:t>
            </a:r>
          </a:p>
        </p:txBody>
      </p:sp>
      <p:sp>
        <p:nvSpPr>
          <p:cNvPr id="1092" name="Text 10"/>
          <p:cNvSpPr txBox="1"/>
          <p:nvPr/>
        </p:nvSpPr>
        <p:spPr>
          <a:xfrm>
            <a:off x="9810750" y="4783409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Health index R² = −5.188 </a:t>
            </a:r>
            <a:r>
              <a:rPr b="0">
                <a:solidFill>
                  <a:srgbClr val="1C3150"/>
                </a:solidFill>
              </a:rPr>
              <a:t>is not a failure — nonlinear relationship; plots confirm monotonic rise</a:t>
            </a:r>
          </a:p>
        </p:txBody>
      </p:sp>
      <p:sp>
        <p:nvSpPr>
          <p:cNvPr id="1093" name="Text 11"/>
          <p:cNvSpPr txBox="1"/>
          <p:nvPr/>
        </p:nvSpPr>
        <p:spPr>
          <a:xfrm>
            <a:off x="9810750" y="5735909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Deep learning captures multi-sensor interactions </a:t>
            </a:r>
            <a:r>
              <a:rPr b="0">
                <a:solidFill>
                  <a:srgbClr val="1C3150"/>
                </a:solidFill>
              </a:rPr>
              <a:t>that classical univariate models fundamentally cannot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96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RESULTS</a:t>
            </a:r>
          </a:p>
        </p:txBody>
      </p:sp>
      <p:sp>
        <p:nvSpPr>
          <p:cNvPr id="1097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98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Evaluation Metrics</a:t>
            </a:r>
          </a:p>
        </p:txBody>
      </p:sp>
      <p:sp>
        <p:nvSpPr>
          <p:cNvPr id="1099" name="Shape 4"/>
          <p:cNvSpPr/>
          <p:nvPr/>
        </p:nvSpPr>
        <p:spPr>
          <a:xfrm>
            <a:off x="1143000" y="2478359"/>
            <a:ext cx="5079951" cy="3996632"/>
          </a:xfrm>
          <a:prstGeom prst="roundRect">
            <a:avLst>
              <a:gd name="adj" fmla="val 3813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00" name="Text 5"/>
          <p:cNvSpPr txBox="1"/>
          <p:nvPr/>
        </p:nvSpPr>
        <p:spPr>
          <a:xfrm>
            <a:off x="1469041" y="2868884"/>
            <a:ext cx="4427867" cy="709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77823">
              <a:defRPr b="1" sz="4320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RMSE</a:t>
            </a:r>
          </a:p>
        </p:txBody>
      </p:sp>
      <p:sp>
        <p:nvSpPr>
          <p:cNvPr id="1101" name="Shape 6"/>
          <p:cNvSpPr/>
          <p:nvPr/>
        </p:nvSpPr>
        <p:spPr>
          <a:xfrm>
            <a:off x="1533525" y="3692797"/>
            <a:ext cx="4298901" cy="814389"/>
          </a:xfrm>
          <a:prstGeom prst="roundRect">
            <a:avLst>
              <a:gd name="adj" fmla="val 14035"/>
            </a:avLst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02" name="Text 7"/>
          <p:cNvSpPr txBox="1"/>
          <p:nvPr/>
        </p:nvSpPr>
        <p:spPr>
          <a:xfrm>
            <a:off x="1850040" y="3959497"/>
            <a:ext cx="3665868" cy="319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sz="1843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√(Σ(pred−true)²/n)</a:t>
            </a:r>
          </a:p>
        </p:txBody>
      </p:sp>
      <p:sp>
        <p:nvSpPr>
          <p:cNvPr id="1103" name="Text 8"/>
          <p:cNvSpPr txBox="1"/>
          <p:nvPr/>
        </p:nvSpPr>
        <p:spPr>
          <a:xfrm>
            <a:off x="1469041" y="4659584"/>
            <a:ext cx="4427867" cy="8159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lnSpc>
                <a:spcPct val="150000"/>
              </a:lnSpc>
              <a:defRPr sz="2000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Standard measure of prediction error in cycle units. Lower is better.</a:t>
            </a:r>
          </a:p>
        </p:txBody>
      </p:sp>
      <p:sp>
        <p:nvSpPr>
          <p:cNvPr id="1104" name="Shape 9"/>
          <p:cNvSpPr/>
          <p:nvPr/>
        </p:nvSpPr>
        <p:spPr>
          <a:xfrm>
            <a:off x="6603949" y="2478359"/>
            <a:ext cx="5080026" cy="3996632"/>
          </a:xfrm>
          <a:prstGeom prst="roundRect">
            <a:avLst>
              <a:gd name="adj" fmla="val 3813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05" name="Text 10"/>
          <p:cNvSpPr txBox="1"/>
          <p:nvPr/>
        </p:nvSpPr>
        <p:spPr>
          <a:xfrm>
            <a:off x="6929990" y="2868884"/>
            <a:ext cx="4427946" cy="709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77823">
              <a:defRPr b="1" sz="4320">
                <a:solidFill>
                  <a:srgbClr val="F0A50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NASA</a:t>
            </a:r>
          </a:p>
        </p:txBody>
      </p:sp>
      <p:sp>
        <p:nvSpPr>
          <p:cNvPr id="1106" name="Shape 11"/>
          <p:cNvSpPr/>
          <p:nvPr/>
        </p:nvSpPr>
        <p:spPr>
          <a:xfrm>
            <a:off x="6994474" y="3692797"/>
            <a:ext cx="4298976" cy="1081981"/>
          </a:xfrm>
          <a:prstGeom prst="roundRect">
            <a:avLst>
              <a:gd name="adj" fmla="val 7043"/>
            </a:avLst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07" name="Text 12"/>
          <p:cNvSpPr txBox="1"/>
          <p:nvPr/>
        </p:nvSpPr>
        <p:spPr>
          <a:xfrm>
            <a:off x="7082390" y="3845197"/>
            <a:ext cx="4123146" cy="8152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lnSpc>
                <a:spcPct val="170000"/>
              </a:lnSpc>
              <a:defRPr>
                <a:solidFill>
                  <a:srgbClr val="FFFFFF"/>
                </a:solidFill>
                <a:latin typeface="monospace"/>
                <a:ea typeface="monospace"/>
                <a:cs typeface="monospace"/>
                <a:sym typeface="monospace"/>
              </a:defRPr>
            </a:lvl1pPr>
          </a:lstStyle>
          <a:p>
            <a:pPr/>
            <a:r>
              <a:t>late: e^(d/10)−1 early: e^(−d/13)−1</a:t>
            </a:r>
          </a:p>
        </p:txBody>
      </p:sp>
      <p:sp>
        <p:nvSpPr>
          <p:cNvPr id="1108" name="Text 13"/>
          <p:cNvSpPr txBox="1"/>
          <p:nvPr/>
        </p:nvSpPr>
        <p:spPr>
          <a:xfrm>
            <a:off x="6929990" y="4927177"/>
            <a:ext cx="4427946" cy="119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algn="ctr" defTabSz="859536">
              <a:lnSpc>
                <a:spcPct val="150000"/>
              </a:lnSpc>
              <a:defRPr b="1" sz="1879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Asymmetric </a:t>
            </a:r>
            <a:r>
              <a:rPr b="0"/>
              <a:t>— late predictions penalised more than early. Reflects real safety cost of missing a failure.</a:t>
            </a:r>
          </a:p>
        </p:txBody>
      </p:sp>
      <p:sp>
        <p:nvSpPr>
          <p:cNvPr id="1109" name="Shape 14"/>
          <p:cNvSpPr/>
          <p:nvPr/>
        </p:nvSpPr>
        <p:spPr>
          <a:xfrm>
            <a:off x="12064975" y="2478359"/>
            <a:ext cx="5079951" cy="3996632"/>
          </a:xfrm>
          <a:prstGeom prst="roundRect">
            <a:avLst>
              <a:gd name="adj" fmla="val 3813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10" name="Text 15"/>
          <p:cNvSpPr txBox="1"/>
          <p:nvPr/>
        </p:nvSpPr>
        <p:spPr>
          <a:xfrm>
            <a:off x="12391017" y="2868884"/>
            <a:ext cx="4427868" cy="709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77823">
              <a:defRPr b="1" sz="4320">
                <a:solidFill>
                  <a:srgbClr val="27AE6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R²</a:t>
            </a:r>
          </a:p>
        </p:txBody>
      </p:sp>
      <p:sp>
        <p:nvSpPr>
          <p:cNvPr id="1111" name="Shape 16"/>
          <p:cNvSpPr/>
          <p:nvPr/>
        </p:nvSpPr>
        <p:spPr>
          <a:xfrm>
            <a:off x="12455500" y="3692797"/>
            <a:ext cx="4298901" cy="814389"/>
          </a:xfrm>
          <a:prstGeom prst="roundRect">
            <a:avLst>
              <a:gd name="adj" fmla="val 14035"/>
            </a:avLst>
          </a:prstGeom>
          <a:solidFill>
            <a:srgbClr val="1229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12" name="Text 17"/>
          <p:cNvSpPr txBox="1"/>
          <p:nvPr/>
        </p:nvSpPr>
        <p:spPr>
          <a:xfrm>
            <a:off x="12772017" y="3959497"/>
            <a:ext cx="3665868" cy="319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sz="1843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1 − SS_res/SS_tot</a:t>
            </a:r>
          </a:p>
        </p:txBody>
      </p:sp>
      <p:sp>
        <p:nvSpPr>
          <p:cNvPr id="1113" name="Text 18"/>
          <p:cNvSpPr txBox="1"/>
          <p:nvPr/>
        </p:nvSpPr>
        <p:spPr>
          <a:xfrm>
            <a:off x="12391017" y="4659584"/>
            <a:ext cx="4427868" cy="119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59536">
              <a:lnSpc>
                <a:spcPct val="150000"/>
              </a:lnSpc>
              <a:defRPr sz="1879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Proportion of variance explained. 1.0 = perfect; &lt;0 = worse than predicting the mean.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16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IMPACT</a:t>
            </a:r>
          </a:p>
        </p:txBody>
      </p:sp>
      <p:sp>
        <p:nvSpPr>
          <p:cNvPr id="1117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18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Real-World Impact</a:t>
            </a:r>
          </a:p>
        </p:txBody>
      </p:sp>
      <p:sp>
        <p:nvSpPr>
          <p:cNvPr id="1119" name="Text 4"/>
          <p:cNvSpPr txBox="1"/>
          <p:nvPr/>
        </p:nvSpPr>
        <p:spPr>
          <a:xfrm>
            <a:off x="1562100" y="2478359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Condition-based maintenance </a:t>
            </a:r>
            <a:r>
              <a:rPr b="0">
                <a:solidFill>
                  <a:srgbClr val="1C3150"/>
                </a:solidFill>
              </a:rPr>
              <a:t>— schedule engine removal based on actual health, not arbitrary intervals</a:t>
            </a:r>
          </a:p>
        </p:txBody>
      </p:sp>
      <p:sp>
        <p:nvSpPr>
          <p:cNvPr id="1120" name="Text 5"/>
          <p:cNvSpPr txBox="1"/>
          <p:nvPr/>
        </p:nvSpPr>
        <p:spPr>
          <a:xfrm>
            <a:off x="1562100" y="354129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Early warning system </a:t>
            </a:r>
            <a:r>
              <a:rPr b="0">
                <a:solidFill>
                  <a:srgbClr val="1C3150"/>
                </a:solidFill>
              </a:rPr>
              <a:t>— flag engines entering the acceleration phase 50–100 cycles before failure</a:t>
            </a:r>
          </a:p>
        </p:txBody>
      </p:sp>
      <p:sp>
        <p:nvSpPr>
          <p:cNvPr id="1121" name="Text 6"/>
          <p:cNvSpPr txBox="1"/>
          <p:nvPr/>
        </p:nvSpPr>
        <p:spPr>
          <a:xfrm>
            <a:off x="1562100" y="4604220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Fleet-wide optimisation </a:t>
            </a:r>
            <a:r>
              <a:rPr b="0">
                <a:solidFill>
                  <a:srgbClr val="1C3150"/>
                </a:solidFill>
              </a:rPr>
              <a:t>— rank 248 engines by predicted RUL; prioritise the most at-risk</a:t>
            </a:r>
          </a:p>
        </p:txBody>
      </p:sp>
      <p:sp>
        <p:nvSpPr>
          <p:cNvPr id="1122" name="Text 7"/>
          <p:cNvSpPr txBox="1"/>
          <p:nvPr/>
        </p:nvSpPr>
        <p:spPr>
          <a:xfrm>
            <a:off x="1562100" y="5667152"/>
            <a:ext cx="7566850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40000"/>
              </a:lnSpc>
              <a:defRPr b="1" sz="225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Cost reduction </a:t>
            </a:r>
            <a:r>
              <a:rPr b="0">
                <a:solidFill>
                  <a:srgbClr val="1C3150"/>
                </a:solidFill>
              </a:rPr>
              <a:t>— eliminate unnecessary preventive overhauls; avoid costly emergency removals</a:t>
            </a:r>
          </a:p>
        </p:txBody>
      </p:sp>
      <p:sp>
        <p:nvSpPr>
          <p:cNvPr id="1123" name="Shape 8"/>
          <p:cNvSpPr/>
          <p:nvPr/>
        </p:nvSpPr>
        <p:spPr>
          <a:xfrm>
            <a:off x="9391650" y="2478359"/>
            <a:ext cx="7753350" cy="2328865"/>
          </a:xfrm>
          <a:prstGeom prst="roundRect">
            <a:avLst>
              <a:gd name="adj" fmla="val 6544"/>
            </a:avLst>
          </a:prstGeom>
          <a:solidFill>
            <a:srgbClr val="12294A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24" name="Text 9"/>
          <p:cNvSpPr txBox="1"/>
          <p:nvPr/>
        </p:nvSpPr>
        <p:spPr>
          <a:xfrm>
            <a:off x="9677589" y="2868884"/>
            <a:ext cx="7181469" cy="8429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z="5238">
                <a:solidFill>
                  <a:srgbClr val="F0A50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~32%</a:t>
            </a:r>
          </a:p>
        </p:txBody>
      </p:sp>
      <p:sp>
        <p:nvSpPr>
          <p:cNvPr id="1125" name="Text 10"/>
          <p:cNvSpPr txBox="1"/>
          <p:nvPr/>
        </p:nvSpPr>
        <p:spPr>
          <a:xfrm>
            <a:off x="9677589" y="3673747"/>
            <a:ext cx="7181469" cy="78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lnSpc>
                <a:spcPct val="150000"/>
              </a:lnSpc>
              <a:defRPr sz="1900">
                <a:solidFill>
                  <a:srgbClr val="FFFFFF">
                    <a:alpha val="75000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Average prediction error as fraction of mean RUL — reasonable for FD004 complexity</a:t>
            </a:r>
          </a:p>
        </p:txBody>
      </p:sp>
      <p:sp>
        <p:nvSpPr>
          <p:cNvPr id="1126" name="Shape 11"/>
          <p:cNvSpPr/>
          <p:nvPr/>
        </p:nvSpPr>
        <p:spPr>
          <a:xfrm>
            <a:off x="9391650" y="5073922"/>
            <a:ext cx="7753350" cy="2490789"/>
          </a:xfrm>
          <a:prstGeom prst="roundRect">
            <a:avLst>
              <a:gd name="adj" fmla="val 6119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27" name="Text 12"/>
          <p:cNvSpPr txBox="1"/>
          <p:nvPr/>
        </p:nvSpPr>
        <p:spPr>
          <a:xfrm>
            <a:off x="9782175" y="5464447"/>
            <a:ext cx="718146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From Research to Production</a:t>
            </a:r>
          </a:p>
        </p:txBody>
      </p:sp>
      <p:sp>
        <p:nvSpPr>
          <p:cNvPr id="1128" name="Text 13"/>
          <p:cNvSpPr txBox="1"/>
          <p:nvPr/>
        </p:nvSpPr>
        <p:spPr>
          <a:xfrm>
            <a:off x="9782175" y="6016897"/>
            <a:ext cx="7181468" cy="119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50000"/>
              </a:lnSpc>
              <a:defRPr sz="1879">
                <a:solidFill>
                  <a:srgbClr val="344A63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Pipeline is modular (T01→T02→T03→model) with artifact persistence (KMeans, scalers saved) — ready for integration into a real-time health monitoring system.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31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LIMITATIONS</a:t>
            </a:r>
          </a:p>
        </p:txBody>
      </p:sp>
      <p:sp>
        <p:nvSpPr>
          <p:cNvPr id="1132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33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Limitations</a:t>
            </a:r>
          </a:p>
        </p:txBody>
      </p:sp>
      <p:sp>
        <p:nvSpPr>
          <p:cNvPr id="1134" name="Text 4"/>
          <p:cNvSpPr txBox="1"/>
          <p:nvPr/>
        </p:nvSpPr>
        <p:spPr>
          <a:xfrm>
            <a:off x="1562100" y="2478359"/>
            <a:ext cx="7566850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0391">
              <a:lnSpc>
                <a:spcPct val="140000"/>
              </a:lnSpc>
              <a:defRPr b="1" sz="2046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Information loss in health index </a:t>
            </a:r>
            <a:r>
              <a:rPr b="0">
                <a:solidFill>
                  <a:srgbClr val="1C3150"/>
                </a:solidFill>
              </a:rPr>
              <a:t>— compressing 14 sensors into one loses information about each failure mode independently</a:t>
            </a:r>
          </a:p>
        </p:txBody>
      </p:sp>
      <p:sp>
        <p:nvSpPr>
          <p:cNvPr id="1135" name="Text 5"/>
          <p:cNvSpPr txBox="1"/>
          <p:nvPr/>
        </p:nvSpPr>
        <p:spPr>
          <a:xfrm>
            <a:off x="1562100" y="3830909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Long-horizon ARIMA forecasts are unreliable </a:t>
            </a:r>
            <a:r>
              <a:rPr b="0">
                <a:solidFill>
                  <a:srgbClr val="1C3150"/>
                </a:solidFill>
              </a:rPr>
              <a:t>— confidence intervals fan out exponentially</a:t>
            </a:r>
          </a:p>
        </p:txBody>
      </p:sp>
      <p:sp>
        <p:nvSpPr>
          <p:cNvPr id="1136" name="Text 6"/>
          <p:cNvSpPr txBox="1"/>
          <p:nvPr/>
        </p:nvSpPr>
        <p:spPr>
          <a:xfrm>
            <a:off x="1562100" y="4783409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91% fallback rate </a:t>
            </a:r>
            <a:r>
              <a:rPr b="0">
                <a:solidFill>
                  <a:srgbClr val="1C3150"/>
                </a:solidFill>
              </a:rPr>
              <a:t>— most test engines rely on a linear regressor rather than ARIMA's full capabilities</a:t>
            </a:r>
          </a:p>
        </p:txBody>
      </p:sp>
      <p:sp>
        <p:nvSpPr>
          <p:cNvPr id="1137" name="Text 7"/>
          <p:cNvSpPr txBox="1"/>
          <p:nvPr/>
        </p:nvSpPr>
        <p:spPr>
          <a:xfrm>
            <a:off x="1562100" y="5735909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Simulation data </a:t>
            </a:r>
            <a:r>
              <a:rPr b="0">
                <a:solidFill>
                  <a:srgbClr val="1C3150"/>
                </a:solidFill>
              </a:rPr>
              <a:t>— CMAPSS is a simulator; real-world degradation patterns may differ</a:t>
            </a:r>
          </a:p>
        </p:txBody>
      </p:sp>
      <p:sp>
        <p:nvSpPr>
          <p:cNvPr id="1138" name="Text 8"/>
          <p:cNvSpPr txBox="1"/>
          <p:nvPr/>
        </p:nvSpPr>
        <p:spPr>
          <a:xfrm>
            <a:off x="9810750" y="2478359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Single health index conflates two fault modes </a:t>
            </a:r>
            <a:r>
              <a:rPr b="0">
                <a:solidFill>
                  <a:srgbClr val="1C3150"/>
                </a:solidFill>
              </a:rPr>
              <a:t>— PCA may be better-calibrated for the dominant fault mode</a:t>
            </a:r>
          </a:p>
        </p:txBody>
      </p:sp>
      <p:sp>
        <p:nvSpPr>
          <p:cNvPr id="1139" name="Text 9"/>
          <p:cNvSpPr txBox="1"/>
          <p:nvPr/>
        </p:nvSpPr>
        <p:spPr>
          <a:xfrm>
            <a:off x="9810750" y="3430859"/>
            <a:ext cx="7566850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68680">
              <a:lnSpc>
                <a:spcPct val="140000"/>
              </a:lnSpc>
              <a:defRPr b="1" sz="209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Residual autocorrelation </a:t>
            </a:r>
            <a:r>
              <a:rPr b="0">
                <a:solidFill>
                  <a:srgbClr val="1C3150"/>
                </a:solidFill>
              </a:rPr>
              <a:t>— Ljung-Box test fails; ARIMA(1,2,1) does not fully capture FD004's nonlinear dynamics</a:t>
            </a:r>
          </a:p>
        </p:txBody>
      </p:sp>
      <p:sp>
        <p:nvSpPr>
          <p:cNvPr id="1140" name="Text 10"/>
          <p:cNvSpPr txBox="1"/>
          <p:nvPr/>
        </p:nvSpPr>
        <p:spPr>
          <a:xfrm>
            <a:off x="9810750" y="4783409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No real-time adaptation </a:t>
            </a:r>
            <a:r>
              <a:rPr b="0">
                <a:solidFill>
                  <a:srgbClr val="1C3150"/>
                </a:solidFill>
              </a:rPr>
              <a:t>— models are fitted offline; no online updating as new data arrives</a:t>
            </a:r>
          </a:p>
        </p:txBody>
      </p:sp>
      <p:sp>
        <p:nvSpPr>
          <p:cNvPr id="1141" name="Text 11"/>
          <p:cNvSpPr txBox="1"/>
          <p:nvPr/>
        </p:nvSpPr>
        <p:spPr>
          <a:xfrm>
            <a:off x="9810750" y="5735909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Interpretability trade-off </a:t>
            </a:r>
            <a:r>
              <a:rPr b="0">
                <a:solidFill>
                  <a:srgbClr val="1C3150"/>
                </a:solidFill>
              </a:rPr>
              <a:t>— deep learning is more accurate but harder to explain to operators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3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44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FUTURE WORK</a:t>
            </a:r>
          </a:p>
        </p:txBody>
      </p:sp>
      <p:sp>
        <p:nvSpPr>
          <p:cNvPr id="1145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46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Future Improvements</a:t>
            </a:r>
          </a:p>
        </p:txBody>
      </p:sp>
      <p:sp>
        <p:nvSpPr>
          <p:cNvPr id="1147" name="Shape 4"/>
          <p:cNvSpPr/>
          <p:nvPr/>
        </p:nvSpPr>
        <p:spPr>
          <a:xfrm>
            <a:off x="1143000" y="2478359"/>
            <a:ext cx="5079951" cy="539115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48" name="Text 5"/>
          <p:cNvSpPr txBox="1"/>
          <p:nvPr/>
        </p:nvSpPr>
        <p:spPr>
          <a:xfrm>
            <a:off x="1533525" y="2868884"/>
            <a:ext cx="4427867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Modelling</a:t>
            </a:r>
          </a:p>
        </p:txBody>
      </p:sp>
      <p:sp>
        <p:nvSpPr>
          <p:cNvPr id="1149" name="Text 6"/>
          <p:cNvSpPr txBox="1"/>
          <p:nvPr/>
        </p:nvSpPr>
        <p:spPr>
          <a:xfrm>
            <a:off x="1333500" y="3421334"/>
            <a:ext cx="4575126" cy="4095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sz="22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Separate health indices per failure mode (HPC vs. fan)</a:t>
            </a:r>
          </a:p>
          <a:p>
            <a:pPr>
              <a:lnSpc>
                <a:spcPct val="140000"/>
              </a:lnSpc>
              <a:defRPr sz="22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Bayesian ARIMA with uncertainty quantification</a:t>
            </a:r>
          </a:p>
          <a:p>
            <a:pPr>
              <a:lnSpc>
                <a:spcPct val="140000"/>
              </a:lnSpc>
              <a:defRPr sz="22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Temporal Fusion Transformer (TFT) for multi-horizon forecasting</a:t>
            </a:r>
          </a:p>
          <a:p>
            <a:pPr>
              <a:lnSpc>
                <a:spcPct val="140000"/>
              </a:lnSpc>
              <a:defRPr sz="22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Conformal prediction intervals for coverage guarantees</a:t>
            </a:r>
          </a:p>
        </p:txBody>
      </p:sp>
      <p:sp>
        <p:nvSpPr>
          <p:cNvPr id="1150" name="Shape 7"/>
          <p:cNvSpPr/>
          <p:nvPr/>
        </p:nvSpPr>
        <p:spPr>
          <a:xfrm>
            <a:off x="6603949" y="2478359"/>
            <a:ext cx="5080026" cy="539115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51" name="Text 8"/>
          <p:cNvSpPr txBox="1"/>
          <p:nvPr/>
        </p:nvSpPr>
        <p:spPr>
          <a:xfrm>
            <a:off x="6994474" y="2868884"/>
            <a:ext cx="4427945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Engineering</a:t>
            </a:r>
          </a:p>
        </p:txBody>
      </p:sp>
      <p:sp>
        <p:nvSpPr>
          <p:cNvPr id="1152" name="Text 9"/>
          <p:cNvSpPr txBox="1"/>
          <p:nvPr/>
        </p:nvSpPr>
        <p:spPr>
          <a:xfrm>
            <a:off x="7413574" y="3421334"/>
            <a:ext cx="4008845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Online ARIMA with rolling refit as new data arrives</a:t>
            </a:r>
          </a:p>
        </p:txBody>
      </p:sp>
      <p:sp>
        <p:nvSpPr>
          <p:cNvPr id="1153" name="Text 10"/>
          <p:cNvSpPr txBox="1"/>
          <p:nvPr/>
        </p:nvSpPr>
        <p:spPr>
          <a:xfrm>
            <a:off x="7413574" y="4373834"/>
            <a:ext cx="4008845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Automated p,d,q selection via </a:t>
            </a:r>
            <a:r>
              <a:rPr>
                <a:latin typeface="monospace"/>
                <a:ea typeface="monospace"/>
                <a:cs typeface="monospace"/>
                <a:sym typeface="monospace"/>
              </a:rPr>
              <a:t>auto_arima</a:t>
            </a:r>
          </a:p>
        </p:txBody>
      </p:sp>
      <p:sp>
        <p:nvSpPr>
          <p:cNvPr id="1154" name="Text 11"/>
          <p:cNvSpPr txBox="1"/>
          <p:nvPr/>
        </p:nvSpPr>
        <p:spPr>
          <a:xfrm>
            <a:off x="7413574" y="5331097"/>
            <a:ext cx="4008845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Larger grid search (p,q up to 10×10)</a:t>
            </a:r>
          </a:p>
        </p:txBody>
      </p:sp>
      <p:sp>
        <p:nvSpPr>
          <p:cNvPr id="1155" name="Text 12"/>
          <p:cNvSpPr txBox="1"/>
          <p:nvPr/>
        </p:nvSpPr>
        <p:spPr>
          <a:xfrm>
            <a:off x="7413574" y="6283597"/>
            <a:ext cx="4008845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Cross-dataset generalisation (train FD001, test FD004)</a:t>
            </a:r>
          </a:p>
        </p:txBody>
      </p:sp>
      <p:sp>
        <p:nvSpPr>
          <p:cNvPr id="1156" name="Shape 13"/>
          <p:cNvSpPr/>
          <p:nvPr/>
        </p:nvSpPr>
        <p:spPr>
          <a:xfrm>
            <a:off x="12064975" y="2478359"/>
            <a:ext cx="5079951" cy="539115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57" name="Text 14"/>
          <p:cNvSpPr txBox="1"/>
          <p:nvPr/>
        </p:nvSpPr>
        <p:spPr>
          <a:xfrm>
            <a:off x="12455500" y="2868884"/>
            <a:ext cx="442786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Deployment</a:t>
            </a:r>
          </a:p>
        </p:txBody>
      </p:sp>
      <p:sp>
        <p:nvSpPr>
          <p:cNvPr id="1158" name="Text 15"/>
          <p:cNvSpPr txBox="1"/>
          <p:nvPr/>
        </p:nvSpPr>
        <p:spPr>
          <a:xfrm>
            <a:off x="12255475" y="3421334"/>
            <a:ext cx="4575126" cy="3695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sz="22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Real-time inference pipeline with streaming sensor data</a:t>
            </a:r>
          </a:p>
          <a:p>
            <a:pPr>
              <a:lnSpc>
                <a:spcPct val="140000"/>
              </a:lnSpc>
              <a:defRPr sz="22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Alerting system: flag engines with predicted RUL &lt; threshold</a:t>
            </a:r>
          </a:p>
          <a:p>
            <a:pPr>
              <a:lnSpc>
                <a:spcPct val="140000"/>
              </a:lnSpc>
              <a:defRPr sz="22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Fleet-level dashboard ranking engines by health state</a:t>
            </a:r>
          </a:p>
          <a:p>
            <a:pPr>
              <a:lnSpc>
                <a:spcPct val="140000"/>
              </a:lnSpc>
              <a:defRPr sz="2200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Validate on real turbofan maintenance records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Shape 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61" name="Text 1"/>
          <p:cNvSpPr txBox="1"/>
          <p:nvPr/>
        </p:nvSpPr>
        <p:spPr>
          <a:xfrm>
            <a:off x="1143000" y="838200"/>
            <a:ext cx="1648206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defRPr b="1" spc="194" sz="1746">
                <a:solidFill>
                  <a:srgbClr val="3A87CB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CONCLUSION</a:t>
            </a:r>
          </a:p>
        </p:txBody>
      </p:sp>
      <p:sp>
        <p:nvSpPr>
          <p:cNvPr id="1162" name="Shape 2"/>
          <p:cNvSpPr/>
          <p:nvPr/>
        </p:nvSpPr>
        <p:spPr>
          <a:xfrm>
            <a:off x="1143000" y="2030684"/>
            <a:ext cx="16002000" cy="28576"/>
          </a:xfrm>
          <a:prstGeom prst="rect">
            <a:avLst/>
          </a:prstGeom>
          <a:solidFill>
            <a:srgbClr val="1F5FA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63" name="Text 3"/>
          <p:cNvSpPr txBox="1"/>
          <p:nvPr/>
        </p:nvSpPr>
        <p:spPr>
          <a:xfrm>
            <a:off x="1143000" y="1257300"/>
            <a:ext cx="16482061" cy="582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0000"/>
              </a:lnSpc>
              <a:defRPr b="1" sz="3549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Conclusion</a:t>
            </a:r>
          </a:p>
        </p:txBody>
      </p:sp>
      <p:sp>
        <p:nvSpPr>
          <p:cNvPr id="1164" name="Text 4"/>
          <p:cNvSpPr txBox="1"/>
          <p:nvPr/>
        </p:nvSpPr>
        <p:spPr>
          <a:xfrm>
            <a:off x="1562100" y="2478359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FD004 is the </a:t>
            </a:r>
            <a:r>
              <a:rPr b="1">
                <a:solidFill>
                  <a:srgbClr val="12294A"/>
                </a:solidFill>
              </a:rPr>
              <a:t>hardest CMAPSS subset </a:t>
            </a:r>
            <a:r>
              <a:t>— 6 operating conditions + 2 failure modes demand careful preprocessing</a:t>
            </a:r>
          </a:p>
        </p:txBody>
      </p:sp>
      <p:sp>
        <p:nvSpPr>
          <p:cNvPr id="1165" name="Text 5"/>
          <p:cNvSpPr txBox="1"/>
          <p:nvPr/>
        </p:nvSpPr>
        <p:spPr>
          <a:xfrm>
            <a:off x="1562100" y="3430859"/>
            <a:ext cx="7566850" cy="123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32104">
              <a:lnSpc>
                <a:spcPct val="140000"/>
              </a:lnSpc>
              <a:defRPr sz="2002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The </a:t>
            </a:r>
            <a:r>
              <a:rPr b="1">
                <a:solidFill>
                  <a:srgbClr val="12294A"/>
                </a:solidFill>
              </a:rPr>
              <a:t>per-cluster detrending + PCA health index </a:t>
            </a:r>
            <a:r>
              <a:t>is the core technical contribution — enables univariate time series modelling on multi-condition data</a:t>
            </a:r>
          </a:p>
        </p:txBody>
      </p:sp>
      <p:sp>
        <p:nvSpPr>
          <p:cNvPr id="1166" name="Text 6"/>
          <p:cNvSpPr txBox="1"/>
          <p:nvPr/>
        </p:nvSpPr>
        <p:spPr>
          <a:xfrm>
            <a:off x="1562100" y="4783409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b="1" sz="2134">
                <a:solidFill>
                  <a:srgbClr val="12294A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ARIMA(1,2,1) is the best classical model </a:t>
            </a:r>
            <a:r>
              <a:rPr b="0">
                <a:solidFill>
                  <a:srgbClr val="1C3150"/>
                </a:solidFill>
              </a:rPr>
              <a:t>with RMSE=24.76, R²=0.668, NASA score=13,791</a:t>
            </a:r>
          </a:p>
        </p:txBody>
      </p:sp>
      <p:sp>
        <p:nvSpPr>
          <p:cNvPr id="1167" name="Text 7"/>
          <p:cNvSpPr txBox="1"/>
          <p:nvPr/>
        </p:nvSpPr>
        <p:spPr>
          <a:xfrm>
            <a:off x="1562100" y="5735909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Deep learning models operate on full sensor space — higher expressivity for multi-fault, multi-condition data</a:t>
            </a:r>
          </a:p>
        </p:txBody>
      </p:sp>
      <p:sp>
        <p:nvSpPr>
          <p:cNvPr id="1168" name="Text 8"/>
          <p:cNvSpPr txBox="1"/>
          <p:nvPr/>
        </p:nvSpPr>
        <p:spPr>
          <a:xfrm>
            <a:off x="1562100" y="6688410"/>
            <a:ext cx="7566850" cy="846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86968">
              <a:lnSpc>
                <a:spcPct val="140000"/>
              </a:lnSpc>
              <a:defRPr sz="2134">
                <a:solidFill>
                  <a:srgbClr val="1C3150"/>
                </a:solidFill>
                <a:latin typeface="-apple-system"/>
                <a:ea typeface="-apple-system"/>
                <a:cs typeface="-apple-system"/>
                <a:sym typeface="-apple-system"/>
              </a:defRPr>
            </a:pPr>
            <a:r>
              <a:t>The modular pipeline with artifact persistence is </a:t>
            </a:r>
            <a:r>
              <a:rPr b="1">
                <a:solidFill>
                  <a:srgbClr val="12294A"/>
                </a:solidFill>
              </a:rPr>
              <a:t>ready for production deployment</a:t>
            </a:r>
          </a:p>
        </p:txBody>
      </p:sp>
      <p:sp>
        <p:nvSpPr>
          <p:cNvPr id="1169" name="Shape 9"/>
          <p:cNvSpPr/>
          <p:nvPr/>
        </p:nvSpPr>
        <p:spPr>
          <a:xfrm>
            <a:off x="9391650" y="2478359"/>
            <a:ext cx="7753350" cy="2186882"/>
          </a:xfrm>
          <a:prstGeom prst="roundRect">
            <a:avLst>
              <a:gd name="adj" fmla="val 6969"/>
            </a:avLst>
          </a:prstGeom>
          <a:solidFill>
            <a:srgbClr val="12294A"/>
          </a:solidFill>
          <a:ln>
            <a:solidFill>
              <a:srgbClr val="D0DCE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70" name="Text 10"/>
          <p:cNvSpPr txBox="1"/>
          <p:nvPr/>
        </p:nvSpPr>
        <p:spPr>
          <a:xfrm>
            <a:off x="9782175" y="2868884"/>
            <a:ext cx="718146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defRPr b="1" sz="2400">
                <a:solidFill>
                  <a:srgbClr val="F0A500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Key Take-Away</a:t>
            </a:r>
          </a:p>
        </p:txBody>
      </p:sp>
      <p:sp>
        <p:nvSpPr>
          <p:cNvPr id="1171" name="Text 11"/>
          <p:cNvSpPr txBox="1"/>
          <p:nvPr/>
        </p:nvSpPr>
        <p:spPr>
          <a:xfrm>
            <a:off x="9782175" y="3421334"/>
            <a:ext cx="7181468" cy="89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60000"/>
              </a:lnSpc>
              <a:defRPr sz="2100">
                <a:solidFill>
                  <a:srgbClr val="FFFFFF">
                    <a:alpha val="80000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The right preprocessing — not the most complex model — is what unlocks predictive power on difficult sensor data.</a:t>
            </a:r>
          </a:p>
        </p:txBody>
      </p:sp>
      <p:sp>
        <p:nvSpPr>
          <p:cNvPr id="1172" name="Text 12"/>
          <p:cNvSpPr txBox="1"/>
          <p:nvPr/>
        </p:nvSpPr>
        <p:spPr>
          <a:xfrm>
            <a:off x="9353550" y="4931940"/>
            <a:ext cx="2406626" cy="5762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68680">
              <a:defRPr b="1" sz="3420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24.76</a:t>
            </a:r>
          </a:p>
        </p:txBody>
      </p:sp>
      <p:sp>
        <p:nvSpPr>
          <p:cNvPr id="1173" name="Text 13"/>
          <p:cNvSpPr txBox="1"/>
          <p:nvPr/>
        </p:nvSpPr>
        <p:spPr>
          <a:xfrm>
            <a:off x="9353550" y="5470102"/>
            <a:ext cx="2406626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sz="1746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Best RMSE (ARIMA)</a:t>
            </a:r>
          </a:p>
        </p:txBody>
      </p:sp>
      <p:sp>
        <p:nvSpPr>
          <p:cNvPr id="1174" name="Text 14"/>
          <p:cNvSpPr txBox="1"/>
          <p:nvPr/>
        </p:nvSpPr>
        <p:spPr>
          <a:xfrm>
            <a:off x="12064975" y="4931940"/>
            <a:ext cx="2406626" cy="5762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68680">
              <a:defRPr b="1" sz="3420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0.668</a:t>
            </a:r>
          </a:p>
        </p:txBody>
      </p:sp>
      <p:sp>
        <p:nvSpPr>
          <p:cNvPr id="1175" name="Text 15"/>
          <p:cNvSpPr txBox="1"/>
          <p:nvPr/>
        </p:nvSpPr>
        <p:spPr>
          <a:xfrm>
            <a:off x="12064975" y="5470102"/>
            <a:ext cx="2406626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sz="1746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Best R² (ARIMA)</a:t>
            </a:r>
          </a:p>
        </p:txBody>
      </p:sp>
      <p:sp>
        <p:nvSpPr>
          <p:cNvPr id="1176" name="Text 16"/>
          <p:cNvSpPr txBox="1"/>
          <p:nvPr/>
        </p:nvSpPr>
        <p:spPr>
          <a:xfrm>
            <a:off x="14776400" y="4931940"/>
            <a:ext cx="2406701" cy="5762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68680">
              <a:defRPr b="1" sz="3420">
                <a:solidFill>
                  <a:srgbClr val="1F5FA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7+</a:t>
            </a:r>
          </a:p>
        </p:txBody>
      </p:sp>
      <p:sp>
        <p:nvSpPr>
          <p:cNvPr id="1177" name="Text 17"/>
          <p:cNvSpPr txBox="1"/>
          <p:nvPr/>
        </p:nvSpPr>
        <p:spPr>
          <a:xfrm>
            <a:off x="14776400" y="5470102"/>
            <a:ext cx="240670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sz="1746">
                <a:solidFill>
                  <a:srgbClr val="6B7F96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Models compared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2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Text 0"/>
          <p:cNvSpPr txBox="1"/>
          <p:nvPr/>
        </p:nvSpPr>
        <p:spPr>
          <a:xfrm>
            <a:off x="6630992" y="3743325"/>
            <a:ext cx="5026018" cy="1119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96111">
              <a:defRPr b="1" sz="7056">
                <a:solidFill>
                  <a:srgbClr val="FFFFFF"/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Questions?</a:t>
            </a:r>
          </a:p>
        </p:txBody>
      </p:sp>
      <p:sp>
        <p:nvSpPr>
          <p:cNvPr id="1180" name="Text 1"/>
          <p:cNvSpPr txBox="1"/>
          <p:nvPr/>
        </p:nvSpPr>
        <p:spPr>
          <a:xfrm>
            <a:off x="4444727" y="5167312"/>
            <a:ext cx="9398546" cy="4619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96111">
              <a:defRPr sz="2744">
                <a:solidFill>
                  <a:srgbClr val="FFFFFF">
                    <a:alpha val="50000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Aircraft Engine Failure Forecasting · NASA CMAPSS FD004</a:t>
            </a:r>
          </a:p>
        </p:txBody>
      </p:sp>
      <p:sp>
        <p:nvSpPr>
          <p:cNvPr id="1181" name="Shape 2"/>
          <p:cNvSpPr/>
          <p:nvPr/>
        </p:nvSpPr>
        <p:spPr>
          <a:xfrm>
            <a:off x="2782491" y="6162675"/>
            <a:ext cx="1878807" cy="3810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82" name="Text 3"/>
          <p:cNvSpPr txBox="1"/>
          <p:nvPr/>
        </p:nvSpPr>
        <p:spPr>
          <a:xfrm>
            <a:off x="2934891" y="6219825"/>
            <a:ext cx="1574007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z="1746">
                <a:solidFill>
                  <a:srgbClr val="FFFFFF">
                    <a:alpha val="70000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ARIMA(1,2,1)</a:t>
            </a:r>
          </a:p>
        </p:txBody>
      </p:sp>
      <p:sp>
        <p:nvSpPr>
          <p:cNvPr id="1183" name="Shape 4"/>
          <p:cNvSpPr/>
          <p:nvPr/>
        </p:nvSpPr>
        <p:spPr>
          <a:xfrm>
            <a:off x="5004196" y="6162675"/>
            <a:ext cx="3712593" cy="3810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84" name="Text 5"/>
          <p:cNvSpPr txBox="1"/>
          <p:nvPr/>
        </p:nvSpPr>
        <p:spPr>
          <a:xfrm>
            <a:off x="5139008" y="6219825"/>
            <a:ext cx="3442971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z="1746">
                <a:solidFill>
                  <a:srgbClr val="FFFFFF">
                    <a:alpha val="70000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LSTM · GRU · TRANSFORMER</a:t>
            </a:r>
          </a:p>
        </p:txBody>
      </p:sp>
      <p:sp>
        <p:nvSpPr>
          <p:cNvPr id="1185" name="Shape 6"/>
          <p:cNvSpPr/>
          <p:nvPr/>
        </p:nvSpPr>
        <p:spPr>
          <a:xfrm>
            <a:off x="9059688" y="6162675"/>
            <a:ext cx="3127550" cy="3810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86" name="Text 7"/>
          <p:cNvSpPr txBox="1"/>
          <p:nvPr/>
        </p:nvSpPr>
        <p:spPr>
          <a:xfrm>
            <a:off x="9203276" y="6219825"/>
            <a:ext cx="2840376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z="1746">
                <a:solidFill>
                  <a:srgbClr val="FFFFFF">
                    <a:alpha val="70000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HEALTH INDEX VIA PCA</a:t>
            </a:r>
          </a:p>
        </p:txBody>
      </p:sp>
      <p:sp>
        <p:nvSpPr>
          <p:cNvPr id="1187" name="Shape 8"/>
          <p:cNvSpPr/>
          <p:nvPr/>
        </p:nvSpPr>
        <p:spPr>
          <a:xfrm>
            <a:off x="12530138" y="6162675"/>
            <a:ext cx="2975298" cy="3810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88" name="Text 9"/>
          <p:cNvSpPr txBox="1"/>
          <p:nvPr/>
        </p:nvSpPr>
        <p:spPr>
          <a:xfrm>
            <a:off x="12676007" y="6219825"/>
            <a:ext cx="2683557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 defTabSz="886968">
              <a:defRPr b="1" sz="1746">
                <a:solidFill>
                  <a:srgbClr val="FFFFFF">
                    <a:alpha val="70000"/>
                  </a:srgbClr>
                </a:solidFill>
                <a:latin typeface="-apple-system"/>
                <a:ea typeface="-apple-system"/>
                <a:cs typeface="-apple-system"/>
                <a:sym typeface="-apple-system"/>
              </a:defRPr>
            </a:lvl1pPr>
          </a:lstStyle>
          <a:p>
            <a:pPr/>
            <a:r>
              <a:t>NASA CMAPSS FD004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