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70" r:id="rId10"/>
    <p:sldId id="271" r:id="rId11"/>
    <p:sldId id="272" r:id="rId12"/>
    <p:sldId id="273" r:id="rId13"/>
    <p:sldId id="274" r:id="rId14"/>
    <p:sldId id="276" r:id="rId15"/>
    <p:sldId id="275" r:id="rId16"/>
    <p:sldId id="265" r:id="rId17"/>
    <p:sldId id="266" r:id="rId18"/>
    <p:sldId id="267" r:id="rId19"/>
    <p:sldId id="268" r:id="rId20"/>
    <p:sldId id="269" r:id="rId21"/>
    <p:sldId id="30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10" r:id="rId50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74" autoAdjust="0"/>
  </p:normalViewPr>
  <p:slideViewPr>
    <p:cSldViewPr snapToGrid="0">
      <p:cViewPr>
        <p:scale>
          <a:sx n="66" d="100"/>
          <a:sy n="66" d="100"/>
        </p:scale>
        <p:origin x="34" y="-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32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12573000" y="0"/>
            <a:ext cx="5715000" cy="10287000"/>
          </a:xfrm>
          <a:prstGeom prst="rect">
            <a:avLst/>
          </a:prstGeom>
          <a:solidFill>
            <a:srgbClr val="1F5FA6">
              <a:alpha val="25000"/>
            </a:srgbClr>
          </a:solidFill>
          <a:ln w="12700">
            <a:miter lim="400000"/>
          </a:ln>
        </p:spPr>
        <p:txBody>
          <a:bodyPr lIns="45719" rIns="45719"/>
          <a:lstStyle/>
          <a:p>
            <a:r>
              <a:rPr lang="en-IN" dirty="0" smtClean="0"/>
              <a:t>                                                     </a:t>
            </a:r>
            <a:endParaRPr dirty="0"/>
          </a:p>
        </p:txBody>
      </p:sp>
      <p:sp>
        <p:nvSpPr>
          <p:cNvPr id="21" name="Shape 1"/>
          <p:cNvSpPr/>
          <p:nvPr/>
        </p:nvSpPr>
        <p:spPr>
          <a:xfrm>
            <a:off x="13525500" y="3143250"/>
            <a:ext cx="4000500" cy="4000500"/>
          </a:xfrm>
          <a:prstGeom prst="ellipse">
            <a:avLst/>
          </a:prstGeom>
          <a:ln w="19050">
            <a:solidFill>
              <a:srgbClr val="F0A500">
                <a:alpha val="3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Shape 2"/>
          <p:cNvSpPr/>
          <p:nvPr/>
        </p:nvSpPr>
        <p:spPr>
          <a:xfrm>
            <a:off x="14097000" y="3714750"/>
            <a:ext cx="2857500" cy="2857500"/>
          </a:xfrm>
          <a:prstGeom prst="ellipse">
            <a:avLst/>
          </a:prstGeom>
          <a:ln w="19050">
            <a:solidFill>
              <a:srgbClr val="3A87CB">
                <a:alpha val="4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" name="Text 3"/>
          <p:cNvSpPr txBox="1"/>
          <p:nvPr/>
        </p:nvSpPr>
        <p:spPr>
          <a:xfrm>
            <a:off x="1052512" y="1121965"/>
            <a:ext cx="1079182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291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NASA CMAPSS · IT 402 APPLIED FORECASTING METHODS</a:t>
            </a:r>
          </a:p>
        </p:txBody>
      </p:sp>
      <p:sp>
        <p:nvSpPr>
          <p:cNvPr id="24" name="Shape 4"/>
          <p:cNvSpPr/>
          <p:nvPr/>
        </p:nvSpPr>
        <p:spPr>
          <a:xfrm>
            <a:off x="1115290" y="3660775"/>
            <a:ext cx="762000" cy="47626"/>
          </a:xfrm>
          <a:prstGeom prst="rect">
            <a:avLst/>
          </a:prstGeom>
          <a:solidFill>
            <a:srgbClr val="F0A5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" name="Text 5"/>
          <p:cNvSpPr txBox="1"/>
          <p:nvPr/>
        </p:nvSpPr>
        <p:spPr>
          <a:xfrm>
            <a:off x="1052513" y="3843337"/>
            <a:ext cx="10791825" cy="1084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768095">
              <a:lnSpc>
                <a:spcPct val="104999"/>
              </a:lnSpc>
              <a:defRPr sz="50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Aircraft Engine Failure Forecasting</a:t>
            </a:r>
          </a:p>
        </p:txBody>
      </p:sp>
      <p:sp>
        <p:nvSpPr>
          <p:cNvPr id="26" name="Shape 6"/>
          <p:cNvSpPr/>
          <p:nvPr/>
        </p:nvSpPr>
        <p:spPr>
          <a:xfrm>
            <a:off x="1115290" y="4865686"/>
            <a:ext cx="762000" cy="47626"/>
          </a:xfrm>
          <a:prstGeom prst="rect">
            <a:avLst/>
          </a:prstGeom>
          <a:solidFill>
            <a:srgbClr val="F0A5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Text 7"/>
          <p:cNvSpPr txBox="1"/>
          <p:nvPr/>
        </p:nvSpPr>
        <p:spPr>
          <a:xfrm>
            <a:off x="1115290" y="6387353"/>
            <a:ext cx="10791825" cy="3435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200">
                <a:solidFill>
                  <a:srgbClr val="FFFFFF">
                    <a:alpha val="50000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  <p:sp>
        <p:nvSpPr>
          <p:cNvPr id="28" name="Shape 8"/>
          <p:cNvSpPr/>
          <p:nvPr/>
        </p:nvSpPr>
        <p:spPr>
          <a:xfrm>
            <a:off x="1143000" y="5466976"/>
            <a:ext cx="2292028" cy="381001"/>
          </a:xfrm>
          <a:prstGeom prst="roundRect">
            <a:avLst>
              <a:gd name="adj" fmla="val 50000"/>
            </a:avLst>
          </a:prstGeom>
          <a:solidFill>
            <a:srgbClr val="1F5FA6">
              <a:alpha val="12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Text 9"/>
          <p:cNvSpPr txBox="1"/>
          <p:nvPr/>
        </p:nvSpPr>
        <p:spPr>
          <a:xfrm>
            <a:off x="1333500" y="5524126"/>
            <a:ext cx="198722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FD004 DATASET</a:t>
            </a:r>
          </a:p>
        </p:txBody>
      </p:sp>
      <p:sp>
        <p:nvSpPr>
          <p:cNvPr id="30" name="Shape 10"/>
          <p:cNvSpPr/>
          <p:nvPr/>
        </p:nvSpPr>
        <p:spPr>
          <a:xfrm>
            <a:off x="3701727" y="5480843"/>
            <a:ext cx="3163268" cy="381001"/>
          </a:xfrm>
          <a:prstGeom prst="roundRect">
            <a:avLst>
              <a:gd name="adj" fmla="val 50000"/>
            </a:avLst>
          </a:prstGeom>
          <a:solidFill>
            <a:srgbClr val="F0A500">
              <a:alpha val="12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" name="Text 11"/>
          <p:cNvSpPr txBox="1"/>
          <p:nvPr/>
        </p:nvSpPr>
        <p:spPr>
          <a:xfrm>
            <a:off x="3892227" y="5524126"/>
            <a:ext cx="28771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>
                <a:solidFill>
                  <a:srgbClr val="F0A50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248 TRAINING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2512" y="7288680"/>
            <a:ext cx="8461664" cy="18774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2000" b="1" dirty="0" smtClean="0">
                <a:solidFill>
                  <a:schemeClr val="bg1"/>
                </a:solidFill>
                <a:latin typeface="-apple-system"/>
              </a:rPr>
              <a:t>Contributors: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sz="2400" b="1" dirty="0" smtClean="0">
              <a:solidFill>
                <a:schemeClr val="bg1"/>
              </a:solidFill>
              <a:latin typeface="-apple-system"/>
            </a:endParaRPr>
          </a:p>
          <a:p>
            <a:r>
              <a:rPr lang="en-IN" b="1" i="1" dirty="0" smtClean="0">
                <a:solidFill>
                  <a:schemeClr val="bg1"/>
                </a:solidFill>
                <a:latin typeface="-apple-system"/>
              </a:rPr>
              <a:t>U - </a:t>
            </a:r>
            <a:r>
              <a:rPr lang="en-IN" b="1" i="1" dirty="0" err="1" smtClean="0">
                <a:solidFill>
                  <a:schemeClr val="bg1"/>
                </a:solidFill>
                <a:latin typeface="-apple-system"/>
              </a:rPr>
              <a:t>Ummesalma</a:t>
            </a:r>
            <a:r>
              <a:rPr lang="en-IN" b="1" i="1" dirty="0" smtClean="0">
                <a:solidFill>
                  <a:schemeClr val="bg1"/>
                </a:solidFill>
                <a:latin typeface="-apple-system"/>
              </a:rPr>
              <a:t> </a:t>
            </a:r>
            <a:r>
              <a:rPr lang="en-IN" b="1" i="1" dirty="0" err="1">
                <a:solidFill>
                  <a:schemeClr val="bg1"/>
                </a:solidFill>
                <a:latin typeface="-apple-system"/>
              </a:rPr>
              <a:t>Diwan</a:t>
            </a:r>
            <a:r>
              <a:rPr lang="en-IN" b="1" i="1" dirty="0">
                <a:solidFill>
                  <a:schemeClr val="bg1"/>
                </a:solidFill>
                <a:latin typeface="-apple-system"/>
              </a:rPr>
              <a:t>	</a:t>
            </a:r>
            <a:r>
              <a:rPr lang="en-IN" b="1" i="1" dirty="0" smtClean="0">
                <a:solidFill>
                  <a:schemeClr val="bg1"/>
                </a:solidFill>
                <a:latin typeface="-apple-system"/>
              </a:rPr>
              <a:t>	(</a:t>
            </a:r>
            <a:r>
              <a:rPr lang="en-IN" b="1" i="1" dirty="0">
                <a:solidFill>
                  <a:schemeClr val="bg1"/>
                </a:solidFill>
                <a:latin typeface="-apple-system"/>
              </a:rPr>
              <a:t>202518017</a:t>
            </a:r>
            <a:r>
              <a:rPr lang="en-IN" b="1" i="1" dirty="0" smtClean="0">
                <a:solidFill>
                  <a:schemeClr val="bg1"/>
                </a:solidFill>
                <a:latin typeface="-apple-system"/>
              </a:rPr>
              <a:t>)</a:t>
            </a:r>
            <a:endParaRPr lang="en-IN" b="1" dirty="0" smtClean="0">
              <a:solidFill>
                <a:schemeClr val="bg1"/>
              </a:solidFill>
              <a:latin typeface="-apple-system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b="1" i="1" dirty="0" smtClean="0">
                <a:solidFill>
                  <a:schemeClr val="bg1"/>
                </a:solidFill>
                <a:latin typeface="-apple-system"/>
              </a:rPr>
              <a:t>D - </a:t>
            </a:r>
            <a:r>
              <a:rPr lang="en-IN" b="1" i="1" dirty="0" err="1" smtClean="0">
                <a:solidFill>
                  <a:schemeClr val="bg1"/>
                </a:solidFill>
                <a:latin typeface="-apple-system"/>
              </a:rPr>
              <a:t>Dhruv</a:t>
            </a:r>
            <a:r>
              <a:rPr lang="en-IN" b="1" i="1" dirty="0" smtClean="0">
                <a:solidFill>
                  <a:schemeClr val="bg1"/>
                </a:solidFill>
                <a:latin typeface="-apple-system"/>
              </a:rPr>
              <a:t> </a:t>
            </a:r>
            <a:r>
              <a:rPr lang="en-IN" b="1" i="1" dirty="0" err="1" smtClean="0">
                <a:solidFill>
                  <a:schemeClr val="bg1"/>
                </a:solidFill>
                <a:latin typeface="-apple-system"/>
              </a:rPr>
              <a:t>Parmar</a:t>
            </a:r>
            <a:r>
              <a:rPr lang="en-IN" b="1" i="1" dirty="0" smtClean="0">
                <a:solidFill>
                  <a:schemeClr val="bg1"/>
                </a:solidFill>
                <a:latin typeface="-apple-system"/>
              </a:rPr>
              <a:t> 		(202518030)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b="1" i="1" dirty="0" smtClean="0">
                <a:solidFill>
                  <a:schemeClr val="bg1"/>
                </a:solidFill>
                <a:latin typeface="-apple-system"/>
              </a:rPr>
              <a:t>A - Aditya Jana			(202518035)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b="1" i="1" dirty="0" smtClean="0">
                <a:solidFill>
                  <a:schemeClr val="bg1"/>
                </a:solidFill>
                <a:latin typeface="-apple-system"/>
              </a:rPr>
              <a:t>S - Shrey Pandya		(202518045)</a:t>
            </a:r>
            <a:r>
              <a:rPr lang="en-IN" i="1" dirty="0" smtClean="0">
                <a:solidFill>
                  <a:schemeClr val="bg1"/>
                </a:solidFill>
                <a:latin typeface="-apple-system"/>
              </a:rPr>
              <a:t> </a:t>
            </a:r>
            <a:r>
              <a:rPr lang="en-IN" dirty="0" smtClean="0">
                <a:solidFill>
                  <a:schemeClr val="bg1"/>
                </a:solidFill>
                <a:latin typeface="-apple-system"/>
              </a:rPr>
              <a:t>	</a:t>
            </a:r>
            <a:endParaRPr lang="en-IN" dirty="0" smtClean="0">
              <a:solidFill>
                <a:schemeClr val="bg1"/>
              </a:solidFill>
              <a:latin typeface="-apple-syste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290" y="2201022"/>
            <a:ext cx="1246493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-apple-system"/>
              </a:rPr>
              <a:t>Group - 13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720" y="3330287"/>
            <a:ext cx="3590059" cy="3590059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CONTEXT</a:t>
            </a:r>
          </a:p>
        </p:txBody>
      </p:sp>
      <p:sp>
        <p:nvSpPr>
          <p:cNvPr id="37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The High Cost of Engine Failures</a:t>
            </a:r>
          </a:p>
        </p:txBody>
      </p:sp>
      <p:sp>
        <p:nvSpPr>
          <p:cNvPr id="39" name="Shape 4"/>
          <p:cNvSpPr/>
          <p:nvPr/>
        </p:nvSpPr>
        <p:spPr>
          <a:xfrm>
            <a:off x="1143000" y="2478359"/>
            <a:ext cx="5079951" cy="2581276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" name="Text 5"/>
          <p:cNvSpPr txBox="1"/>
          <p:nvPr/>
        </p:nvSpPr>
        <p:spPr>
          <a:xfrm>
            <a:off x="1469041" y="2868884"/>
            <a:ext cx="4427867" cy="1085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758951">
              <a:defRPr sz="6806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$500K+</a:t>
            </a:r>
          </a:p>
        </p:txBody>
      </p:sp>
      <p:sp>
        <p:nvSpPr>
          <p:cNvPr id="41" name="Text 6"/>
          <p:cNvSpPr txBox="1"/>
          <p:nvPr/>
        </p:nvSpPr>
        <p:spPr>
          <a:xfrm>
            <a:off x="1469041" y="3992834"/>
            <a:ext cx="4427867" cy="71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>
              <a:defRPr sz="2200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Cost of a single unplanned engine removal</a:t>
            </a:r>
          </a:p>
        </p:txBody>
      </p:sp>
      <p:sp>
        <p:nvSpPr>
          <p:cNvPr id="42" name="Shape 7"/>
          <p:cNvSpPr/>
          <p:nvPr/>
        </p:nvSpPr>
        <p:spPr>
          <a:xfrm>
            <a:off x="6603949" y="2478359"/>
            <a:ext cx="5080026" cy="2581276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" name="Text 8"/>
          <p:cNvSpPr txBox="1"/>
          <p:nvPr/>
        </p:nvSpPr>
        <p:spPr>
          <a:xfrm>
            <a:off x="6929990" y="2868884"/>
            <a:ext cx="4427946" cy="1085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758951">
              <a:defRPr sz="6806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72%</a:t>
            </a:r>
          </a:p>
        </p:txBody>
      </p:sp>
      <p:sp>
        <p:nvSpPr>
          <p:cNvPr id="44" name="Text 9"/>
          <p:cNvSpPr txBox="1"/>
          <p:nvPr/>
        </p:nvSpPr>
        <p:spPr>
          <a:xfrm>
            <a:off x="6929990" y="3992834"/>
            <a:ext cx="4427946" cy="71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>
              <a:defRPr sz="2200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Of aviation accidents involve mechanical failure</a:t>
            </a:r>
          </a:p>
        </p:txBody>
      </p:sp>
      <p:sp>
        <p:nvSpPr>
          <p:cNvPr id="45" name="Shape 10"/>
          <p:cNvSpPr/>
          <p:nvPr/>
        </p:nvSpPr>
        <p:spPr>
          <a:xfrm>
            <a:off x="12064975" y="2478359"/>
            <a:ext cx="5079951" cy="2581276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" name="Text 11"/>
          <p:cNvSpPr txBox="1"/>
          <p:nvPr/>
        </p:nvSpPr>
        <p:spPr>
          <a:xfrm>
            <a:off x="12391017" y="2868884"/>
            <a:ext cx="4427868" cy="1085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758951">
              <a:defRPr sz="6806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40%</a:t>
            </a:r>
          </a:p>
        </p:txBody>
      </p:sp>
      <p:sp>
        <p:nvSpPr>
          <p:cNvPr id="47" name="Text 12"/>
          <p:cNvSpPr txBox="1"/>
          <p:nvPr/>
        </p:nvSpPr>
        <p:spPr>
          <a:xfrm>
            <a:off x="12391017" y="3992834"/>
            <a:ext cx="4427868" cy="71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>
              <a:defRPr sz="2200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Of maintenance costs are unplanned &amp; reactive</a:t>
            </a:r>
          </a:p>
        </p:txBody>
      </p:sp>
      <p:sp>
        <p:nvSpPr>
          <p:cNvPr id="48" name="Shape 13"/>
          <p:cNvSpPr/>
          <p:nvPr/>
        </p:nvSpPr>
        <p:spPr>
          <a:xfrm>
            <a:off x="1143000" y="5478734"/>
            <a:ext cx="16002000" cy="1257301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" name="Shape 14"/>
          <p:cNvSpPr/>
          <p:nvPr/>
        </p:nvSpPr>
        <p:spPr>
          <a:xfrm>
            <a:off x="1143000" y="5478734"/>
            <a:ext cx="57150" cy="1257301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" name="Text 15"/>
          <p:cNvSpPr txBox="1"/>
          <p:nvPr/>
        </p:nvSpPr>
        <p:spPr>
          <a:xfrm>
            <a:off x="1504950" y="5707334"/>
            <a:ext cx="15815311" cy="847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68680">
              <a:lnSpc>
                <a:spcPct val="150000"/>
              </a:lnSpc>
              <a:defRPr sz="1994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Unplanned engine failures ground aircraft, disrupt schedules, and endanger lives. Predictive maintenance can shift the industry from </a:t>
            </a:r>
            <a:r>
              <a:rPr b="1" dirty="0"/>
              <a:t>reactive repair </a:t>
            </a:r>
            <a:r>
              <a:rPr dirty="0"/>
              <a:t>to </a:t>
            </a:r>
            <a:r>
              <a:rPr b="1" dirty="0"/>
              <a:t>proactive prevention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MOTIVATION</a:t>
            </a:r>
          </a:p>
        </p:txBody>
      </p:sp>
      <p:sp>
        <p:nvSpPr>
          <p:cNvPr id="54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Why Predictive Maintenance</a:t>
            </a:r>
          </a:p>
        </p:txBody>
      </p:sp>
      <p:sp>
        <p:nvSpPr>
          <p:cNvPr id="56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Avoid catastrophic failure </a:t>
            </a:r>
            <a:r>
              <a:rPr b="0">
                <a:solidFill>
                  <a:srgbClr val="1C3150"/>
                </a:solidFill>
              </a:rPr>
              <a:t>— act before the engine reaches its end of life</a:t>
            </a:r>
          </a:p>
        </p:txBody>
      </p:sp>
      <p:sp>
        <p:nvSpPr>
          <p:cNvPr id="57" name="Text 5"/>
          <p:cNvSpPr txBox="1"/>
          <p:nvPr/>
        </p:nvSpPr>
        <p:spPr>
          <a:xfrm>
            <a:off x="1562100" y="354129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Optimise maintenance windows </a:t>
            </a:r>
            <a:r>
              <a:rPr b="0">
                <a:solidFill>
                  <a:srgbClr val="1C3150"/>
                </a:solidFill>
              </a:rPr>
              <a:t>— schedule downtime without over-servicing</a:t>
            </a:r>
          </a:p>
        </p:txBody>
      </p:sp>
      <p:sp>
        <p:nvSpPr>
          <p:cNvPr id="58" name="Text 6"/>
          <p:cNvSpPr txBox="1"/>
          <p:nvPr/>
        </p:nvSpPr>
        <p:spPr>
          <a:xfrm>
            <a:off x="1562100" y="460422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Reduce fleet-wide cost </a:t>
            </a:r>
            <a:r>
              <a:rPr b="0">
                <a:solidFill>
                  <a:srgbClr val="1C3150"/>
                </a:solidFill>
              </a:rPr>
              <a:t>— target only engines that actually need attention</a:t>
            </a:r>
          </a:p>
        </p:txBody>
      </p:sp>
      <p:sp>
        <p:nvSpPr>
          <p:cNvPr id="59" name="Text 7"/>
          <p:cNvSpPr txBox="1"/>
          <p:nvPr/>
        </p:nvSpPr>
        <p:spPr>
          <a:xfrm>
            <a:off x="1562100" y="566715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Extend engine lifespan </a:t>
            </a:r>
            <a:r>
              <a:rPr b="0">
                <a:solidFill>
                  <a:srgbClr val="1C3150"/>
                </a:solidFill>
              </a:rPr>
              <a:t>— data-driven decisions replace fixed intervals</a:t>
            </a:r>
          </a:p>
        </p:txBody>
      </p:sp>
      <p:sp>
        <p:nvSpPr>
          <p:cNvPr id="60" name="Shape 8"/>
          <p:cNvSpPr/>
          <p:nvPr/>
        </p:nvSpPr>
        <p:spPr>
          <a:xfrm>
            <a:off x="9391650" y="2478359"/>
            <a:ext cx="7753350" cy="2105026"/>
          </a:xfrm>
          <a:prstGeom prst="roundRect">
            <a:avLst>
              <a:gd name="adj" fmla="val 7240"/>
            </a:avLst>
          </a:prstGeom>
          <a:solidFill>
            <a:srgbClr val="12294A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" name="Text 9"/>
          <p:cNvSpPr txBox="1"/>
          <p:nvPr/>
        </p:nvSpPr>
        <p:spPr>
          <a:xfrm>
            <a:off x="9782175" y="2868884"/>
            <a:ext cx="718146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F0A50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Traditional Approach</a:t>
            </a:r>
          </a:p>
        </p:txBody>
      </p:sp>
      <p:sp>
        <p:nvSpPr>
          <p:cNvPr id="62" name="Text 10"/>
          <p:cNvSpPr txBox="1"/>
          <p:nvPr/>
        </p:nvSpPr>
        <p:spPr>
          <a:xfrm>
            <a:off x="9782175" y="3421334"/>
            <a:ext cx="7181468" cy="815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50000"/>
              </a:lnSpc>
              <a:defRPr sz="2000">
                <a:solidFill>
                  <a:srgbClr val="FFFFFF">
                    <a:alpha val="70000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Fixed-interval servicing — often too early (wasted cost) or too late (failure risk)</a:t>
            </a:r>
          </a:p>
        </p:txBody>
      </p:sp>
      <p:sp>
        <p:nvSpPr>
          <p:cNvPr id="63" name="Shape 11"/>
          <p:cNvSpPr/>
          <p:nvPr/>
        </p:nvSpPr>
        <p:spPr>
          <a:xfrm>
            <a:off x="9391650" y="4850084"/>
            <a:ext cx="7753350" cy="2124076"/>
          </a:xfrm>
          <a:prstGeom prst="roundRect">
            <a:avLst>
              <a:gd name="adj" fmla="val 7175"/>
            </a:avLst>
          </a:prstGeom>
          <a:solidFill>
            <a:srgbClr val="FFFFFF"/>
          </a:solidFill>
          <a:ln w="19050">
            <a:solidFill>
              <a:srgbClr val="1F5FA6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" name="Text 12"/>
          <p:cNvSpPr txBox="1"/>
          <p:nvPr/>
        </p:nvSpPr>
        <p:spPr>
          <a:xfrm>
            <a:off x="9791700" y="5250134"/>
            <a:ext cx="7161849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Predictive Approach</a:t>
            </a:r>
          </a:p>
        </p:txBody>
      </p:sp>
      <p:sp>
        <p:nvSpPr>
          <p:cNvPr id="65" name="Text 13"/>
          <p:cNvSpPr txBox="1"/>
          <p:nvPr/>
        </p:nvSpPr>
        <p:spPr>
          <a:xfrm>
            <a:off x="9791700" y="5802584"/>
            <a:ext cx="7161849" cy="815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50000"/>
              </a:lnSpc>
              <a:defRPr sz="2000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Forecast Remaining Useful Life (RUL) from sensor data — act precisely when needed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PROJECT OVERVIEW</a:t>
            </a:r>
          </a:p>
        </p:txBody>
      </p:sp>
      <p:sp>
        <p:nvSpPr>
          <p:cNvPr id="83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Project Overview</a:t>
            </a:r>
          </a:p>
        </p:txBody>
      </p:sp>
      <p:sp>
        <p:nvSpPr>
          <p:cNvPr id="85" name="Shape 4"/>
          <p:cNvSpPr/>
          <p:nvPr/>
        </p:nvSpPr>
        <p:spPr>
          <a:xfrm>
            <a:off x="1143000" y="2478359"/>
            <a:ext cx="16002000" cy="895351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" name="Shape 5"/>
          <p:cNvSpPr/>
          <p:nvPr/>
        </p:nvSpPr>
        <p:spPr>
          <a:xfrm>
            <a:off x="1419225" y="2678384"/>
            <a:ext cx="495300" cy="4953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" name="Text 6"/>
          <p:cNvSpPr txBox="1"/>
          <p:nvPr/>
        </p:nvSpPr>
        <p:spPr>
          <a:xfrm>
            <a:off x="1381125" y="2678384"/>
            <a:ext cx="571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19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</a:t>
            </a:r>
          </a:p>
        </p:txBody>
      </p:sp>
      <p:sp>
        <p:nvSpPr>
          <p:cNvPr id="88" name="Text 7"/>
          <p:cNvSpPr txBox="1"/>
          <p:nvPr/>
        </p:nvSpPr>
        <p:spPr>
          <a:xfrm>
            <a:off x="2143124" y="2780778"/>
            <a:ext cx="10739784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905255">
              <a:defRPr sz="1881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Load </a:t>
            </a:r>
            <a:r>
              <a:rPr b="0" dirty="0" smtClean="0"/>
              <a:t>FD004 </a:t>
            </a:r>
            <a:r>
              <a:rPr b="0" dirty="0"/>
              <a:t>with </a:t>
            </a:r>
            <a:r>
              <a:rPr b="0" dirty="0" smtClean="0"/>
              <a:t>unique </a:t>
            </a:r>
            <a:r>
              <a:rPr b="0" dirty="0"/>
              <a:t>engine </a:t>
            </a:r>
            <a:r>
              <a:rPr b="0" dirty="0" smtClean="0"/>
              <a:t>IDs</a:t>
            </a:r>
            <a:r>
              <a:rPr lang="en-IN" b="0" dirty="0" smtClean="0"/>
              <a:t> from NASA </a:t>
            </a:r>
            <a:r>
              <a:rPr lang="en-IN" b="0" dirty="0" smtClean="0"/>
              <a:t>CMAPSS dataset</a:t>
            </a:r>
            <a:endParaRPr b="0" dirty="0"/>
          </a:p>
        </p:txBody>
      </p:sp>
      <p:sp>
        <p:nvSpPr>
          <p:cNvPr id="89" name="Text 8"/>
          <p:cNvSpPr txBox="1"/>
          <p:nvPr/>
        </p:nvSpPr>
        <p:spPr>
          <a:xfrm>
            <a:off x="902970" y="3468959"/>
            <a:ext cx="16482061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>
              <a:defRPr sz="1900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↓</a:t>
            </a:r>
          </a:p>
        </p:txBody>
      </p:sp>
      <p:sp>
        <p:nvSpPr>
          <p:cNvPr id="90" name="Shape 9"/>
          <p:cNvSpPr/>
          <p:nvPr/>
        </p:nvSpPr>
        <p:spPr>
          <a:xfrm>
            <a:off x="1143000" y="3854722"/>
            <a:ext cx="16002000" cy="895351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" name="Shape 10"/>
          <p:cNvSpPr/>
          <p:nvPr/>
        </p:nvSpPr>
        <p:spPr>
          <a:xfrm>
            <a:off x="1419225" y="4054747"/>
            <a:ext cx="495300" cy="4953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" name="Text 11"/>
          <p:cNvSpPr txBox="1"/>
          <p:nvPr/>
        </p:nvSpPr>
        <p:spPr>
          <a:xfrm>
            <a:off x="1381125" y="4054747"/>
            <a:ext cx="571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19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</a:t>
            </a:r>
          </a:p>
        </p:txBody>
      </p:sp>
      <p:sp>
        <p:nvSpPr>
          <p:cNvPr id="93" name="Text 12"/>
          <p:cNvSpPr txBox="1"/>
          <p:nvPr/>
        </p:nvSpPr>
        <p:spPr>
          <a:xfrm>
            <a:off x="2143124" y="4157141"/>
            <a:ext cx="9969104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905255">
              <a:defRPr sz="1881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Compute &amp; cap </a:t>
            </a:r>
            <a:r>
              <a:rPr b="0"/>
              <a:t>Remaining Useful Life (RUL at 125 cycles), drop sensor leakage columns</a:t>
            </a:r>
          </a:p>
        </p:txBody>
      </p:sp>
      <p:sp>
        <p:nvSpPr>
          <p:cNvPr id="94" name="Text 13"/>
          <p:cNvSpPr txBox="1"/>
          <p:nvPr/>
        </p:nvSpPr>
        <p:spPr>
          <a:xfrm>
            <a:off x="902970" y="4845322"/>
            <a:ext cx="16482061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>
              <a:defRPr sz="1900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↓</a:t>
            </a:r>
          </a:p>
        </p:txBody>
      </p:sp>
      <p:sp>
        <p:nvSpPr>
          <p:cNvPr id="95" name="Shape 14"/>
          <p:cNvSpPr/>
          <p:nvPr/>
        </p:nvSpPr>
        <p:spPr>
          <a:xfrm>
            <a:off x="1143000" y="5231084"/>
            <a:ext cx="16002000" cy="981076"/>
          </a:xfrm>
          <a:prstGeom prst="roundRect">
            <a:avLst>
              <a:gd name="adj" fmla="val 13592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Shape 15"/>
          <p:cNvSpPr/>
          <p:nvPr/>
        </p:nvSpPr>
        <p:spPr>
          <a:xfrm>
            <a:off x="1419225" y="5473972"/>
            <a:ext cx="495300" cy="4953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" name="Text 16"/>
          <p:cNvSpPr txBox="1"/>
          <p:nvPr/>
        </p:nvSpPr>
        <p:spPr>
          <a:xfrm>
            <a:off x="1381125" y="5473972"/>
            <a:ext cx="571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19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3</a:t>
            </a:r>
          </a:p>
        </p:txBody>
      </p:sp>
      <p:sp>
        <p:nvSpPr>
          <p:cNvPr id="98" name="Text 17"/>
          <p:cNvSpPr txBox="1"/>
          <p:nvPr/>
        </p:nvSpPr>
        <p:spPr>
          <a:xfrm>
            <a:off x="2143124" y="5329927"/>
            <a:ext cx="15167420" cy="619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>
              <a:defRPr sz="19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lang="en-IN" dirty="0" smtClean="0"/>
          </a:p>
          <a:p>
            <a:pPr>
              <a:defRPr sz="19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 smtClean="0"/>
              <a:t>EDA </a:t>
            </a:r>
            <a:r>
              <a:rPr dirty="0"/>
              <a:t>+ Preprocess </a:t>
            </a:r>
            <a:r>
              <a:rPr b="0" dirty="0"/>
              <a:t>— drop zero-variance sensors, cluster operating conditions (</a:t>
            </a:r>
            <a:r>
              <a:rPr b="0" dirty="0" err="1"/>
              <a:t>KMeans</a:t>
            </a:r>
            <a:r>
              <a:rPr b="0" dirty="0"/>
              <a:t> k=6), per-cluster </a:t>
            </a:r>
            <a:r>
              <a:rPr b="0" dirty="0" err="1"/>
              <a:t>StandardScaler</a:t>
            </a:r>
            <a:r>
              <a:rPr b="0" dirty="0"/>
              <a:t>, rolling features</a:t>
            </a:r>
          </a:p>
        </p:txBody>
      </p:sp>
      <p:sp>
        <p:nvSpPr>
          <p:cNvPr id="99" name="Text 18"/>
          <p:cNvSpPr txBox="1"/>
          <p:nvPr/>
        </p:nvSpPr>
        <p:spPr>
          <a:xfrm>
            <a:off x="902970" y="6307409"/>
            <a:ext cx="16482061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>
              <a:defRPr sz="1900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↓</a:t>
            </a:r>
          </a:p>
        </p:txBody>
      </p:sp>
      <p:sp>
        <p:nvSpPr>
          <p:cNvPr id="100" name="Shape 19"/>
          <p:cNvSpPr/>
          <p:nvPr/>
        </p:nvSpPr>
        <p:spPr>
          <a:xfrm>
            <a:off x="1143000" y="6693172"/>
            <a:ext cx="16002000" cy="895351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Shape 20"/>
          <p:cNvSpPr/>
          <p:nvPr/>
        </p:nvSpPr>
        <p:spPr>
          <a:xfrm>
            <a:off x="1419225" y="6893197"/>
            <a:ext cx="495300" cy="4953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" name="Text 21"/>
          <p:cNvSpPr txBox="1"/>
          <p:nvPr/>
        </p:nvSpPr>
        <p:spPr>
          <a:xfrm>
            <a:off x="1381125" y="6893197"/>
            <a:ext cx="571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19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4</a:t>
            </a:r>
          </a:p>
        </p:txBody>
      </p:sp>
      <p:sp>
        <p:nvSpPr>
          <p:cNvPr id="103" name="Text 22"/>
          <p:cNvSpPr txBox="1"/>
          <p:nvPr/>
        </p:nvSpPr>
        <p:spPr>
          <a:xfrm>
            <a:off x="2143124" y="6995592"/>
            <a:ext cx="15051379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905255">
              <a:defRPr sz="1881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Build Health Index </a:t>
            </a:r>
            <a:r>
              <a:rPr b="0"/>
              <a:t>via PCA · Train </a:t>
            </a:r>
            <a:r>
              <a:t>classical models </a:t>
            </a:r>
            <a:r>
              <a:rPr b="0"/>
              <a:t>(AR, ARMA, ARIMA) · Train </a:t>
            </a:r>
            <a:r>
              <a:t>deep learning models </a:t>
            </a:r>
            <a:r>
              <a:rPr b="0"/>
              <a:t>(RNN, LSTM, GRU, Transformer)</a:t>
            </a:r>
          </a:p>
        </p:txBody>
      </p:sp>
      <p:sp>
        <p:nvSpPr>
          <p:cNvPr id="104" name="Text 23"/>
          <p:cNvSpPr txBox="1"/>
          <p:nvPr/>
        </p:nvSpPr>
        <p:spPr>
          <a:xfrm>
            <a:off x="902970" y="7683772"/>
            <a:ext cx="16482061" cy="3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>
              <a:defRPr sz="1900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↓</a:t>
            </a:r>
          </a:p>
        </p:txBody>
      </p:sp>
      <p:sp>
        <p:nvSpPr>
          <p:cNvPr id="105" name="Shape 24"/>
          <p:cNvSpPr/>
          <p:nvPr/>
        </p:nvSpPr>
        <p:spPr>
          <a:xfrm>
            <a:off x="1143000" y="8069535"/>
            <a:ext cx="16002000" cy="895351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" name="Shape 25"/>
          <p:cNvSpPr/>
          <p:nvPr/>
        </p:nvSpPr>
        <p:spPr>
          <a:xfrm>
            <a:off x="1419225" y="8269560"/>
            <a:ext cx="495300" cy="4953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Text 26"/>
          <p:cNvSpPr txBox="1"/>
          <p:nvPr/>
        </p:nvSpPr>
        <p:spPr>
          <a:xfrm>
            <a:off x="1381125" y="8269560"/>
            <a:ext cx="571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19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5</a:t>
            </a:r>
          </a:p>
        </p:txBody>
      </p:sp>
      <p:sp>
        <p:nvSpPr>
          <p:cNvPr id="108" name="Text 27"/>
          <p:cNvSpPr txBox="1"/>
          <p:nvPr/>
        </p:nvSpPr>
        <p:spPr>
          <a:xfrm>
            <a:off x="2143124" y="8371954"/>
            <a:ext cx="788094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905255">
              <a:defRPr sz="1881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Evaluate </a:t>
            </a:r>
            <a:r>
              <a:rPr b="0"/>
              <a:t>with RMSE, NASA asymmetric score, R² · Compare all models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DATASET</a:t>
            </a:r>
          </a:p>
        </p:txBody>
      </p:sp>
      <p:sp>
        <p:nvSpPr>
          <p:cNvPr id="112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NASA CMAPSS Dataset</a:t>
            </a:r>
          </a:p>
        </p:txBody>
      </p:sp>
      <p:sp>
        <p:nvSpPr>
          <p:cNvPr id="114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C-MAPSS </a:t>
            </a:r>
            <a:r>
              <a:rPr b="0">
                <a:solidFill>
                  <a:srgbClr val="1C3150"/>
                </a:solidFill>
              </a:rPr>
              <a:t>: Commercial Modular Aero-Propulsion System Simulation</a:t>
            </a:r>
          </a:p>
        </p:txBody>
      </p:sp>
      <p:sp>
        <p:nvSpPr>
          <p:cNvPr id="115" name="Text 5"/>
          <p:cNvSpPr txBox="1"/>
          <p:nvPr/>
        </p:nvSpPr>
        <p:spPr>
          <a:xfrm>
            <a:off x="1562100" y="354129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Simulates realistic turbofan engine degradation over hundreds of flight cycles</a:t>
            </a:r>
          </a:p>
        </p:txBody>
      </p:sp>
      <p:sp>
        <p:nvSpPr>
          <p:cNvPr id="116" name="Text 6"/>
          <p:cNvSpPr txBox="1"/>
          <p:nvPr/>
        </p:nvSpPr>
        <p:spPr>
          <a:xfrm>
            <a:off x="1562100" y="460422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4 subsets (FD001–FD004) with varying operating conditions and fault modes</a:t>
            </a:r>
          </a:p>
        </p:txBody>
      </p:sp>
      <p:sp>
        <p:nvSpPr>
          <p:cNvPr id="117" name="Text 7"/>
          <p:cNvSpPr txBox="1"/>
          <p:nvPr/>
        </p:nvSpPr>
        <p:spPr>
          <a:xfrm>
            <a:off x="1562100" y="566715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Each engine is run to failure — true RUL known from training data</a:t>
            </a:r>
          </a:p>
        </p:txBody>
      </p:sp>
      <p:sp>
        <p:nvSpPr>
          <p:cNvPr id="118" name="Text 8"/>
          <p:cNvSpPr txBox="1"/>
          <p:nvPr/>
        </p:nvSpPr>
        <p:spPr>
          <a:xfrm>
            <a:off x="1562100" y="673008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This project focuses on </a:t>
            </a:r>
            <a:r>
              <a:rPr b="1">
                <a:solidFill>
                  <a:srgbClr val="12294A"/>
                </a:solidFill>
              </a:rPr>
              <a:t>FD004 </a:t>
            </a:r>
            <a:r>
              <a:t>— the most complex subset</a:t>
            </a:r>
          </a:p>
        </p:txBody>
      </p:sp>
      <p:sp>
        <p:nvSpPr>
          <p:cNvPr id="119" name="Shape 9"/>
          <p:cNvSpPr/>
          <p:nvPr/>
        </p:nvSpPr>
        <p:spPr>
          <a:xfrm>
            <a:off x="9391650" y="2478359"/>
            <a:ext cx="1348161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Text 10"/>
          <p:cNvSpPr txBox="1"/>
          <p:nvPr/>
        </p:nvSpPr>
        <p:spPr>
          <a:xfrm>
            <a:off x="9601200" y="2630759"/>
            <a:ext cx="1005259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Subset</a:t>
            </a:r>
          </a:p>
        </p:txBody>
      </p:sp>
      <p:sp>
        <p:nvSpPr>
          <p:cNvPr id="121" name="Shape 11"/>
          <p:cNvSpPr/>
          <p:nvPr/>
        </p:nvSpPr>
        <p:spPr>
          <a:xfrm>
            <a:off x="10739810" y="2478359"/>
            <a:ext cx="2264495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" name="Text 12"/>
          <p:cNvSpPr txBox="1"/>
          <p:nvPr/>
        </p:nvSpPr>
        <p:spPr>
          <a:xfrm>
            <a:off x="10949360" y="2630759"/>
            <a:ext cx="192159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Op Conditions</a:t>
            </a:r>
          </a:p>
        </p:txBody>
      </p:sp>
      <p:sp>
        <p:nvSpPr>
          <p:cNvPr id="123" name="Shape 13"/>
          <p:cNvSpPr/>
          <p:nvPr/>
        </p:nvSpPr>
        <p:spPr>
          <a:xfrm>
            <a:off x="13004303" y="2478359"/>
            <a:ext cx="1997423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4" name="Text 14"/>
          <p:cNvSpPr txBox="1"/>
          <p:nvPr/>
        </p:nvSpPr>
        <p:spPr>
          <a:xfrm>
            <a:off x="13213853" y="2630759"/>
            <a:ext cx="1654523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Fault Modes</a:t>
            </a:r>
          </a:p>
        </p:txBody>
      </p:sp>
      <p:sp>
        <p:nvSpPr>
          <p:cNvPr id="125" name="Shape 15"/>
          <p:cNvSpPr/>
          <p:nvPr/>
        </p:nvSpPr>
        <p:spPr>
          <a:xfrm>
            <a:off x="15001726" y="2478359"/>
            <a:ext cx="2143275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" name="Text 16"/>
          <p:cNvSpPr txBox="1"/>
          <p:nvPr/>
        </p:nvSpPr>
        <p:spPr>
          <a:xfrm>
            <a:off x="15211276" y="2630759"/>
            <a:ext cx="180037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Train Engines</a:t>
            </a:r>
          </a:p>
        </p:txBody>
      </p:sp>
      <p:sp>
        <p:nvSpPr>
          <p:cNvPr id="127" name="Shape 17"/>
          <p:cNvSpPr/>
          <p:nvPr/>
        </p:nvSpPr>
        <p:spPr>
          <a:xfrm>
            <a:off x="9391650" y="3634060"/>
            <a:ext cx="1348161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" name="Text 18"/>
          <p:cNvSpPr txBox="1"/>
          <p:nvPr/>
        </p:nvSpPr>
        <p:spPr>
          <a:xfrm>
            <a:off x="9601200" y="3216548"/>
            <a:ext cx="1005259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FD001</a:t>
            </a:r>
          </a:p>
        </p:txBody>
      </p:sp>
      <p:sp>
        <p:nvSpPr>
          <p:cNvPr id="129" name="Shape 19"/>
          <p:cNvSpPr/>
          <p:nvPr/>
        </p:nvSpPr>
        <p:spPr>
          <a:xfrm>
            <a:off x="10739810" y="3634060"/>
            <a:ext cx="226449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Text 20"/>
          <p:cNvSpPr txBox="1"/>
          <p:nvPr/>
        </p:nvSpPr>
        <p:spPr>
          <a:xfrm>
            <a:off x="10949360" y="3216548"/>
            <a:ext cx="1921595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</a:t>
            </a:r>
          </a:p>
        </p:txBody>
      </p:sp>
      <p:sp>
        <p:nvSpPr>
          <p:cNvPr id="131" name="Shape 21"/>
          <p:cNvSpPr/>
          <p:nvPr/>
        </p:nvSpPr>
        <p:spPr>
          <a:xfrm>
            <a:off x="13004303" y="3634060"/>
            <a:ext cx="199742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" name="Text 22"/>
          <p:cNvSpPr txBox="1"/>
          <p:nvPr/>
        </p:nvSpPr>
        <p:spPr>
          <a:xfrm>
            <a:off x="13213853" y="3216548"/>
            <a:ext cx="1654523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</a:t>
            </a:r>
          </a:p>
        </p:txBody>
      </p:sp>
      <p:sp>
        <p:nvSpPr>
          <p:cNvPr id="133" name="Shape 23"/>
          <p:cNvSpPr/>
          <p:nvPr/>
        </p:nvSpPr>
        <p:spPr>
          <a:xfrm>
            <a:off x="15001726" y="3634060"/>
            <a:ext cx="214327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" name="Text 24"/>
          <p:cNvSpPr txBox="1"/>
          <p:nvPr/>
        </p:nvSpPr>
        <p:spPr>
          <a:xfrm>
            <a:off x="15211276" y="3216548"/>
            <a:ext cx="1800375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100</a:t>
            </a:r>
          </a:p>
        </p:txBody>
      </p:sp>
      <p:sp>
        <p:nvSpPr>
          <p:cNvPr id="135" name="Shape 25"/>
          <p:cNvSpPr/>
          <p:nvPr/>
        </p:nvSpPr>
        <p:spPr>
          <a:xfrm>
            <a:off x="9391650" y="3645172"/>
            <a:ext cx="1348161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Shape 26"/>
          <p:cNvSpPr/>
          <p:nvPr/>
        </p:nvSpPr>
        <p:spPr>
          <a:xfrm>
            <a:off x="9391650" y="4200797"/>
            <a:ext cx="1348161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7" name="Text 27"/>
          <p:cNvSpPr txBox="1"/>
          <p:nvPr/>
        </p:nvSpPr>
        <p:spPr>
          <a:xfrm>
            <a:off x="9601200" y="3778522"/>
            <a:ext cx="1005259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FD002</a:t>
            </a:r>
          </a:p>
        </p:txBody>
      </p:sp>
      <p:sp>
        <p:nvSpPr>
          <p:cNvPr id="138" name="Shape 28"/>
          <p:cNvSpPr/>
          <p:nvPr/>
        </p:nvSpPr>
        <p:spPr>
          <a:xfrm>
            <a:off x="10739810" y="3645172"/>
            <a:ext cx="2264495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Shape 29"/>
          <p:cNvSpPr/>
          <p:nvPr/>
        </p:nvSpPr>
        <p:spPr>
          <a:xfrm>
            <a:off x="10739810" y="4200797"/>
            <a:ext cx="226449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Text 30"/>
          <p:cNvSpPr txBox="1"/>
          <p:nvPr/>
        </p:nvSpPr>
        <p:spPr>
          <a:xfrm>
            <a:off x="10949360" y="3778522"/>
            <a:ext cx="1921595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6</a:t>
            </a:r>
          </a:p>
        </p:txBody>
      </p:sp>
      <p:sp>
        <p:nvSpPr>
          <p:cNvPr id="141" name="Shape 31"/>
          <p:cNvSpPr/>
          <p:nvPr/>
        </p:nvSpPr>
        <p:spPr>
          <a:xfrm>
            <a:off x="13004303" y="3645172"/>
            <a:ext cx="1997423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" name="Shape 32"/>
          <p:cNvSpPr/>
          <p:nvPr/>
        </p:nvSpPr>
        <p:spPr>
          <a:xfrm>
            <a:off x="13004303" y="4200797"/>
            <a:ext cx="199742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" name="Text 33"/>
          <p:cNvSpPr txBox="1"/>
          <p:nvPr/>
        </p:nvSpPr>
        <p:spPr>
          <a:xfrm>
            <a:off x="13213853" y="3778522"/>
            <a:ext cx="1654523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</a:t>
            </a:r>
          </a:p>
        </p:txBody>
      </p:sp>
      <p:sp>
        <p:nvSpPr>
          <p:cNvPr id="144" name="Shape 34"/>
          <p:cNvSpPr/>
          <p:nvPr/>
        </p:nvSpPr>
        <p:spPr>
          <a:xfrm>
            <a:off x="15001726" y="3645172"/>
            <a:ext cx="2143275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" name="Shape 35"/>
          <p:cNvSpPr/>
          <p:nvPr/>
        </p:nvSpPr>
        <p:spPr>
          <a:xfrm>
            <a:off x="15001726" y="4200797"/>
            <a:ext cx="214327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" name="Text 36"/>
          <p:cNvSpPr txBox="1"/>
          <p:nvPr/>
        </p:nvSpPr>
        <p:spPr>
          <a:xfrm>
            <a:off x="15211276" y="3778522"/>
            <a:ext cx="1800375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260</a:t>
            </a:r>
          </a:p>
        </p:txBody>
      </p:sp>
      <p:sp>
        <p:nvSpPr>
          <p:cNvPr id="147" name="Shape 37"/>
          <p:cNvSpPr/>
          <p:nvPr/>
        </p:nvSpPr>
        <p:spPr>
          <a:xfrm>
            <a:off x="9391650" y="4767535"/>
            <a:ext cx="1348161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Text 38"/>
          <p:cNvSpPr txBox="1"/>
          <p:nvPr/>
        </p:nvSpPr>
        <p:spPr>
          <a:xfrm>
            <a:off x="9601200" y="4345259"/>
            <a:ext cx="1005259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FD003</a:t>
            </a:r>
          </a:p>
        </p:txBody>
      </p:sp>
      <p:sp>
        <p:nvSpPr>
          <p:cNvPr id="149" name="Shape 39"/>
          <p:cNvSpPr/>
          <p:nvPr/>
        </p:nvSpPr>
        <p:spPr>
          <a:xfrm>
            <a:off x="10739810" y="4767535"/>
            <a:ext cx="226449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" name="Text 40"/>
          <p:cNvSpPr txBox="1"/>
          <p:nvPr/>
        </p:nvSpPr>
        <p:spPr>
          <a:xfrm>
            <a:off x="10949360" y="4345259"/>
            <a:ext cx="1921595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</a:t>
            </a:r>
          </a:p>
        </p:txBody>
      </p:sp>
      <p:sp>
        <p:nvSpPr>
          <p:cNvPr id="151" name="Shape 41"/>
          <p:cNvSpPr/>
          <p:nvPr/>
        </p:nvSpPr>
        <p:spPr>
          <a:xfrm>
            <a:off x="13004303" y="4767535"/>
            <a:ext cx="199742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2" name="Text 42"/>
          <p:cNvSpPr txBox="1"/>
          <p:nvPr/>
        </p:nvSpPr>
        <p:spPr>
          <a:xfrm>
            <a:off x="13213853" y="4345259"/>
            <a:ext cx="1654523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</a:t>
            </a:r>
          </a:p>
        </p:txBody>
      </p:sp>
      <p:sp>
        <p:nvSpPr>
          <p:cNvPr id="153" name="Shape 43"/>
          <p:cNvSpPr/>
          <p:nvPr/>
        </p:nvSpPr>
        <p:spPr>
          <a:xfrm>
            <a:off x="15001726" y="4767535"/>
            <a:ext cx="214327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" name="Text 44"/>
          <p:cNvSpPr txBox="1"/>
          <p:nvPr/>
        </p:nvSpPr>
        <p:spPr>
          <a:xfrm>
            <a:off x="15211276" y="4345259"/>
            <a:ext cx="1800375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100</a:t>
            </a:r>
          </a:p>
        </p:txBody>
      </p:sp>
      <p:sp>
        <p:nvSpPr>
          <p:cNvPr id="155" name="Shape 45"/>
          <p:cNvSpPr/>
          <p:nvPr/>
        </p:nvSpPr>
        <p:spPr>
          <a:xfrm>
            <a:off x="9391650" y="4778647"/>
            <a:ext cx="1348161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Shape 46"/>
          <p:cNvSpPr/>
          <p:nvPr/>
        </p:nvSpPr>
        <p:spPr>
          <a:xfrm>
            <a:off x="9391650" y="5334272"/>
            <a:ext cx="1348161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" name="Text 47"/>
          <p:cNvSpPr txBox="1"/>
          <p:nvPr/>
        </p:nvSpPr>
        <p:spPr>
          <a:xfrm>
            <a:off x="9601200" y="4911997"/>
            <a:ext cx="1005259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FD004</a:t>
            </a:r>
          </a:p>
        </p:txBody>
      </p:sp>
      <p:sp>
        <p:nvSpPr>
          <p:cNvPr id="158" name="Shape 48"/>
          <p:cNvSpPr/>
          <p:nvPr/>
        </p:nvSpPr>
        <p:spPr>
          <a:xfrm>
            <a:off x="10739810" y="4778647"/>
            <a:ext cx="2264495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" name="Shape 49"/>
          <p:cNvSpPr/>
          <p:nvPr/>
        </p:nvSpPr>
        <p:spPr>
          <a:xfrm>
            <a:off x="10739810" y="5334272"/>
            <a:ext cx="226449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" name="Text 50"/>
          <p:cNvSpPr txBox="1"/>
          <p:nvPr/>
        </p:nvSpPr>
        <p:spPr>
          <a:xfrm>
            <a:off x="10949360" y="4911997"/>
            <a:ext cx="1921595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6</a:t>
            </a:r>
          </a:p>
        </p:txBody>
      </p:sp>
      <p:sp>
        <p:nvSpPr>
          <p:cNvPr id="161" name="Shape 51"/>
          <p:cNvSpPr/>
          <p:nvPr/>
        </p:nvSpPr>
        <p:spPr>
          <a:xfrm>
            <a:off x="13004303" y="4778647"/>
            <a:ext cx="1997423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2" name="Shape 52"/>
          <p:cNvSpPr/>
          <p:nvPr/>
        </p:nvSpPr>
        <p:spPr>
          <a:xfrm>
            <a:off x="13004303" y="5334272"/>
            <a:ext cx="199742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" name="Text 53"/>
          <p:cNvSpPr txBox="1"/>
          <p:nvPr/>
        </p:nvSpPr>
        <p:spPr>
          <a:xfrm>
            <a:off x="13213853" y="4911997"/>
            <a:ext cx="1654523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</a:t>
            </a:r>
          </a:p>
        </p:txBody>
      </p:sp>
      <p:sp>
        <p:nvSpPr>
          <p:cNvPr id="164" name="Shape 54"/>
          <p:cNvSpPr/>
          <p:nvPr/>
        </p:nvSpPr>
        <p:spPr>
          <a:xfrm>
            <a:off x="15001726" y="4778647"/>
            <a:ext cx="2143275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Shape 55"/>
          <p:cNvSpPr/>
          <p:nvPr/>
        </p:nvSpPr>
        <p:spPr>
          <a:xfrm>
            <a:off x="15001726" y="5334272"/>
            <a:ext cx="214327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Text 56"/>
          <p:cNvSpPr txBox="1"/>
          <p:nvPr/>
        </p:nvSpPr>
        <p:spPr>
          <a:xfrm>
            <a:off x="15211276" y="4911997"/>
            <a:ext cx="1800375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248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9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DATASET</a:t>
            </a:r>
          </a:p>
        </p:txBody>
      </p:sp>
      <p:sp>
        <p:nvSpPr>
          <p:cNvPr id="170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1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FD004: The Hardest Dataset</a:t>
            </a:r>
          </a:p>
        </p:txBody>
      </p:sp>
      <p:sp>
        <p:nvSpPr>
          <p:cNvPr id="172" name="Shape 4"/>
          <p:cNvSpPr/>
          <p:nvPr/>
        </p:nvSpPr>
        <p:spPr>
          <a:xfrm>
            <a:off x="1143000" y="2478359"/>
            <a:ext cx="5079951" cy="1876426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Text 5"/>
          <p:cNvSpPr txBox="1"/>
          <p:nvPr/>
        </p:nvSpPr>
        <p:spPr>
          <a:xfrm>
            <a:off x="1469041" y="2868884"/>
            <a:ext cx="4427867" cy="84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5238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248</a:t>
            </a:r>
          </a:p>
        </p:txBody>
      </p:sp>
      <p:sp>
        <p:nvSpPr>
          <p:cNvPr id="174" name="Text 6"/>
          <p:cNvSpPr txBox="1"/>
          <p:nvPr/>
        </p:nvSpPr>
        <p:spPr>
          <a:xfrm>
            <a:off x="1469041" y="3673747"/>
            <a:ext cx="442786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905255">
              <a:defRPr sz="1881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Training engines</a:t>
            </a:r>
          </a:p>
        </p:txBody>
      </p:sp>
      <p:sp>
        <p:nvSpPr>
          <p:cNvPr id="175" name="Shape 7"/>
          <p:cNvSpPr/>
          <p:nvPr/>
        </p:nvSpPr>
        <p:spPr>
          <a:xfrm>
            <a:off x="6603949" y="2478359"/>
            <a:ext cx="5080026" cy="1876426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" name="Text 8"/>
          <p:cNvSpPr txBox="1"/>
          <p:nvPr/>
        </p:nvSpPr>
        <p:spPr>
          <a:xfrm>
            <a:off x="6929990" y="2868884"/>
            <a:ext cx="4427946" cy="84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5238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 smtClean="0"/>
              <a:t>24</a:t>
            </a:r>
            <a:r>
              <a:rPr lang="en-IN" dirty="0" smtClean="0"/>
              <a:t>8</a:t>
            </a:r>
            <a:endParaRPr dirty="0"/>
          </a:p>
        </p:txBody>
      </p:sp>
      <p:sp>
        <p:nvSpPr>
          <p:cNvPr id="177" name="Text 9"/>
          <p:cNvSpPr txBox="1"/>
          <p:nvPr/>
        </p:nvSpPr>
        <p:spPr>
          <a:xfrm>
            <a:off x="6929990" y="3673747"/>
            <a:ext cx="4427946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905255">
              <a:defRPr sz="1881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Test engines</a:t>
            </a:r>
          </a:p>
        </p:txBody>
      </p:sp>
      <p:sp>
        <p:nvSpPr>
          <p:cNvPr id="178" name="Shape 10"/>
          <p:cNvSpPr/>
          <p:nvPr/>
        </p:nvSpPr>
        <p:spPr>
          <a:xfrm>
            <a:off x="12064975" y="2478359"/>
            <a:ext cx="5079951" cy="1876426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Text 11"/>
          <p:cNvSpPr txBox="1"/>
          <p:nvPr/>
        </p:nvSpPr>
        <p:spPr>
          <a:xfrm>
            <a:off x="12391017" y="2868884"/>
            <a:ext cx="4427868" cy="84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5238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61,249</a:t>
            </a:r>
          </a:p>
        </p:txBody>
      </p:sp>
      <p:sp>
        <p:nvSpPr>
          <p:cNvPr id="180" name="Text 12"/>
          <p:cNvSpPr txBox="1"/>
          <p:nvPr/>
        </p:nvSpPr>
        <p:spPr>
          <a:xfrm>
            <a:off x="12391017" y="3673747"/>
            <a:ext cx="442786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905255">
              <a:defRPr sz="1881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Total training rows</a:t>
            </a:r>
          </a:p>
        </p:txBody>
      </p:sp>
      <p:sp>
        <p:nvSpPr>
          <p:cNvPr id="181" name="Shape 13"/>
          <p:cNvSpPr/>
          <p:nvPr/>
        </p:nvSpPr>
        <p:spPr>
          <a:xfrm>
            <a:off x="1143000" y="4735784"/>
            <a:ext cx="7753350" cy="2490790"/>
          </a:xfrm>
          <a:prstGeom prst="roundRect">
            <a:avLst>
              <a:gd name="adj" fmla="val 611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" name="Shape 14"/>
          <p:cNvSpPr/>
          <p:nvPr/>
        </p:nvSpPr>
        <p:spPr>
          <a:xfrm>
            <a:off x="1143000" y="7215460"/>
            <a:ext cx="775335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" name="Shape 15"/>
          <p:cNvSpPr/>
          <p:nvPr/>
        </p:nvSpPr>
        <p:spPr>
          <a:xfrm>
            <a:off x="1143000" y="4734197"/>
            <a:ext cx="775335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4" name="Shape 16"/>
          <p:cNvSpPr/>
          <p:nvPr/>
        </p:nvSpPr>
        <p:spPr>
          <a:xfrm>
            <a:off x="1143000" y="4735784"/>
            <a:ext cx="57150" cy="249079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5" name="Shape 17"/>
          <p:cNvSpPr/>
          <p:nvPr/>
        </p:nvSpPr>
        <p:spPr>
          <a:xfrm>
            <a:off x="8885237" y="4735784"/>
            <a:ext cx="12701" cy="2490790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" name="Text 18"/>
          <p:cNvSpPr txBox="1"/>
          <p:nvPr/>
        </p:nvSpPr>
        <p:spPr>
          <a:xfrm>
            <a:off x="1581150" y="5126309"/>
            <a:ext cx="7132416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Challenge 1: Six Operating Conditions</a:t>
            </a:r>
          </a:p>
        </p:txBody>
      </p:sp>
      <p:sp>
        <p:nvSpPr>
          <p:cNvPr id="187" name="Text 19"/>
          <p:cNvSpPr txBox="1"/>
          <p:nvPr/>
        </p:nvSpPr>
        <p:spPr>
          <a:xfrm>
            <a:off x="1581150" y="5678759"/>
            <a:ext cx="7132416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50000"/>
              </a:lnSpc>
              <a:defRPr sz="1879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Engine flies at varying altitudes, speeds, and throttle settings. Sensor s3 (HPC temperature) reads 1590°R at sea level, 1420°R at altitude — same health state, different conditions.</a:t>
            </a:r>
          </a:p>
        </p:txBody>
      </p:sp>
      <p:sp>
        <p:nvSpPr>
          <p:cNvPr id="188" name="Shape 20"/>
          <p:cNvSpPr/>
          <p:nvPr/>
        </p:nvSpPr>
        <p:spPr>
          <a:xfrm>
            <a:off x="9391650" y="4735784"/>
            <a:ext cx="7753350" cy="2490790"/>
          </a:xfrm>
          <a:prstGeom prst="roundRect">
            <a:avLst>
              <a:gd name="adj" fmla="val 611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" name="Shape 21"/>
          <p:cNvSpPr/>
          <p:nvPr/>
        </p:nvSpPr>
        <p:spPr>
          <a:xfrm>
            <a:off x="9391650" y="7215460"/>
            <a:ext cx="775335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0" name="Shape 22"/>
          <p:cNvSpPr/>
          <p:nvPr/>
        </p:nvSpPr>
        <p:spPr>
          <a:xfrm>
            <a:off x="9391650" y="4734197"/>
            <a:ext cx="775335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Shape 23"/>
          <p:cNvSpPr/>
          <p:nvPr/>
        </p:nvSpPr>
        <p:spPr>
          <a:xfrm>
            <a:off x="9391650" y="4735784"/>
            <a:ext cx="57150" cy="2490790"/>
          </a:xfrm>
          <a:prstGeom prst="rect">
            <a:avLst/>
          </a:prstGeom>
          <a:solidFill>
            <a:srgbClr val="F0A5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2" name="Shape 24"/>
          <p:cNvSpPr/>
          <p:nvPr/>
        </p:nvSpPr>
        <p:spPr>
          <a:xfrm>
            <a:off x="17133887" y="4735784"/>
            <a:ext cx="12701" cy="2490790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3" name="Text 25"/>
          <p:cNvSpPr txBox="1"/>
          <p:nvPr/>
        </p:nvSpPr>
        <p:spPr>
          <a:xfrm>
            <a:off x="9829800" y="5126309"/>
            <a:ext cx="7132416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Challenge 2: Two Failure Modes</a:t>
            </a:r>
          </a:p>
        </p:txBody>
      </p:sp>
      <p:sp>
        <p:nvSpPr>
          <p:cNvPr id="194" name="Text 26"/>
          <p:cNvSpPr txBox="1"/>
          <p:nvPr/>
        </p:nvSpPr>
        <p:spPr>
          <a:xfrm>
            <a:off x="9829800" y="5678759"/>
            <a:ext cx="7132416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50000"/>
              </a:lnSpc>
              <a:defRPr sz="1879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HPC blade erosion (temperatures rise, pressure drops) OR fan degradation (vibration increases, efficiency drops). One model must learn both signatures simultaneously.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7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DATASET</a:t>
            </a:r>
          </a:p>
        </p:txBody>
      </p:sp>
      <p:sp>
        <p:nvSpPr>
          <p:cNvPr id="198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Dataset Structure</a:t>
            </a:r>
          </a:p>
        </p:txBody>
      </p:sp>
      <p:sp>
        <p:nvSpPr>
          <p:cNvPr id="200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26 columns </a:t>
            </a:r>
            <a:r>
              <a:rPr b="0">
                <a:solidFill>
                  <a:srgbClr val="1C3150"/>
                </a:solidFill>
              </a:rPr>
              <a:t>per row: 3 operational settings + 21 sensor measurements + engine ID + cycle</a:t>
            </a:r>
          </a:p>
        </p:txBody>
      </p:sp>
      <p:sp>
        <p:nvSpPr>
          <p:cNvPr id="201" name="Text 5"/>
          <p:cNvSpPr txBox="1"/>
          <p:nvPr/>
        </p:nvSpPr>
        <p:spPr>
          <a:xfrm>
            <a:off x="1562100" y="3541290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Each row = one </a:t>
            </a:r>
            <a:r>
              <a:rPr b="1">
                <a:solidFill>
                  <a:srgbClr val="12294A"/>
                </a:solidFill>
              </a:rPr>
              <a:t>flight cycle </a:t>
            </a:r>
            <a:r>
              <a:t>for one engine</a:t>
            </a:r>
          </a:p>
        </p:txBody>
      </p:sp>
      <p:sp>
        <p:nvSpPr>
          <p:cNvPr id="202" name="Text 6"/>
          <p:cNvSpPr txBox="1"/>
          <p:nvPr/>
        </p:nvSpPr>
        <p:spPr>
          <a:xfrm>
            <a:off x="1562100" y="4177531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Engines run from cycle 1 until failure (training) or truncation (test)</a:t>
            </a:r>
          </a:p>
        </p:txBody>
      </p:sp>
      <p:sp>
        <p:nvSpPr>
          <p:cNvPr id="203" name="Text 7"/>
          <p:cNvSpPr txBox="1"/>
          <p:nvPr/>
        </p:nvSpPr>
        <p:spPr>
          <a:xfrm>
            <a:off x="1562100" y="5240461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Test set is truncated — RUL must be </a:t>
            </a:r>
            <a:r>
              <a:rPr i="1"/>
              <a:t>predicted </a:t>
            </a:r>
            <a:r>
              <a:t>, not observed</a:t>
            </a:r>
          </a:p>
        </p:txBody>
      </p:sp>
      <p:sp>
        <p:nvSpPr>
          <p:cNvPr id="204" name="Text 8"/>
          <p:cNvSpPr txBox="1"/>
          <p:nvPr/>
        </p:nvSpPr>
        <p:spPr>
          <a:xfrm>
            <a:off x="1562100" y="6303391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RUL capped at </a:t>
            </a:r>
            <a:r>
              <a:rPr b="1">
                <a:solidFill>
                  <a:srgbClr val="12294A"/>
                </a:solidFill>
              </a:rPr>
              <a:t>125 cycles </a:t>
            </a:r>
            <a:r>
              <a:t>— prevents dominance of long early-life phases</a:t>
            </a:r>
          </a:p>
        </p:txBody>
      </p:sp>
      <p:sp>
        <p:nvSpPr>
          <p:cNvPr id="205" name="Shape 9"/>
          <p:cNvSpPr/>
          <p:nvPr/>
        </p:nvSpPr>
        <p:spPr>
          <a:xfrm>
            <a:off x="9391650" y="2478359"/>
            <a:ext cx="2429248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" name="Text 10"/>
          <p:cNvSpPr txBox="1"/>
          <p:nvPr/>
        </p:nvSpPr>
        <p:spPr>
          <a:xfrm>
            <a:off x="9601200" y="2630759"/>
            <a:ext cx="2086348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Column Group</a:t>
            </a:r>
          </a:p>
        </p:txBody>
      </p:sp>
      <p:sp>
        <p:nvSpPr>
          <p:cNvPr id="207" name="Shape 11"/>
          <p:cNvSpPr/>
          <p:nvPr/>
        </p:nvSpPr>
        <p:spPr>
          <a:xfrm>
            <a:off x="11820897" y="2478359"/>
            <a:ext cx="2041178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Text 12"/>
          <p:cNvSpPr txBox="1"/>
          <p:nvPr/>
        </p:nvSpPr>
        <p:spPr>
          <a:xfrm>
            <a:off x="12030447" y="2630759"/>
            <a:ext cx="1698278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Columns</a:t>
            </a:r>
          </a:p>
        </p:txBody>
      </p:sp>
      <p:sp>
        <p:nvSpPr>
          <p:cNvPr id="209" name="Shape 13"/>
          <p:cNvSpPr/>
          <p:nvPr/>
        </p:nvSpPr>
        <p:spPr>
          <a:xfrm>
            <a:off x="13862074" y="2478359"/>
            <a:ext cx="3282925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" name="Text 14"/>
          <p:cNvSpPr txBox="1"/>
          <p:nvPr/>
        </p:nvSpPr>
        <p:spPr>
          <a:xfrm>
            <a:off x="14071624" y="2630759"/>
            <a:ext cx="2962314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Role</a:t>
            </a:r>
          </a:p>
        </p:txBody>
      </p:sp>
      <p:sp>
        <p:nvSpPr>
          <p:cNvPr id="211" name="Shape 15"/>
          <p:cNvSpPr/>
          <p:nvPr/>
        </p:nvSpPr>
        <p:spPr>
          <a:xfrm>
            <a:off x="9391650" y="3634060"/>
            <a:ext cx="242924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2" name="Text 16"/>
          <p:cNvSpPr txBox="1"/>
          <p:nvPr/>
        </p:nvSpPr>
        <p:spPr>
          <a:xfrm>
            <a:off x="9601200" y="3216548"/>
            <a:ext cx="2086348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Engine ID</a:t>
            </a:r>
          </a:p>
        </p:txBody>
      </p:sp>
      <p:sp>
        <p:nvSpPr>
          <p:cNvPr id="213" name="Shape 17"/>
          <p:cNvSpPr/>
          <p:nvPr/>
        </p:nvSpPr>
        <p:spPr>
          <a:xfrm>
            <a:off x="11820897" y="3634060"/>
            <a:ext cx="204117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Text 18"/>
          <p:cNvSpPr txBox="1"/>
          <p:nvPr/>
        </p:nvSpPr>
        <p:spPr>
          <a:xfrm>
            <a:off x="12030447" y="3216548"/>
            <a:ext cx="1698278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</a:t>
            </a:r>
          </a:p>
        </p:txBody>
      </p:sp>
      <p:sp>
        <p:nvSpPr>
          <p:cNvPr id="215" name="Shape 19"/>
          <p:cNvSpPr/>
          <p:nvPr/>
        </p:nvSpPr>
        <p:spPr>
          <a:xfrm>
            <a:off x="13862074" y="3634060"/>
            <a:ext cx="328292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" name="Text 20"/>
          <p:cNvSpPr txBox="1"/>
          <p:nvPr/>
        </p:nvSpPr>
        <p:spPr>
          <a:xfrm>
            <a:off x="14071624" y="3216548"/>
            <a:ext cx="2962314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Unique engine identifier</a:t>
            </a:r>
          </a:p>
        </p:txBody>
      </p:sp>
      <p:sp>
        <p:nvSpPr>
          <p:cNvPr id="217" name="Shape 21"/>
          <p:cNvSpPr/>
          <p:nvPr/>
        </p:nvSpPr>
        <p:spPr>
          <a:xfrm>
            <a:off x="9391650" y="3645172"/>
            <a:ext cx="2429248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8" name="Shape 22"/>
          <p:cNvSpPr/>
          <p:nvPr/>
        </p:nvSpPr>
        <p:spPr>
          <a:xfrm>
            <a:off x="9391650" y="4200797"/>
            <a:ext cx="242924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9" name="Text 23"/>
          <p:cNvSpPr txBox="1"/>
          <p:nvPr/>
        </p:nvSpPr>
        <p:spPr>
          <a:xfrm>
            <a:off x="9601200" y="3778522"/>
            <a:ext cx="208634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Cycle</a:t>
            </a:r>
          </a:p>
        </p:txBody>
      </p:sp>
      <p:sp>
        <p:nvSpPr>
          <p:cNvPr id="220" name="Shape 24"/>
          <p:cNvSpPr/>
          <p:nvPr/>
        </p:nvSpPr>
        <p:spPr>
          <a:xfrm>
            <a:off x="11820897" y="3645172"/>
            <a:ext cx="2041178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1" name="Shape 25"/>
          <p:cNvSpPr/>
          <p:nvPr/>
        </p:nvSpPr>
        <p:spPr>
          <a:xfrm>
            <a:off x="11820897" y="4200797"/>
            <a:ext cx="204117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2" name="Text 26"/>
          <p:cNvSpPr txBox="1"/>
          <p:nvPr/>
        </p:nvSpPr>
        <p:spPr>
          <a:xfrm>
            <a:off x="12030447" y="3778522"/>
            <a:ext cx="169827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</a:t>
            </a:r>
          </a:p>
        </p:txBody>
      </p:sp>
      <p:sp>
        <p:nvSpPr>
          <p:cNvPr id="223" name="Shape 27"/>
          <p:cNvSpPr/>
          <p:nvPr/>
        </p:nvSpPr>
        <p:spPr>
          <a:xfrm>
            <a:off x="13862074" y="3645172"/>
            <a:ext cx="3282925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4" name="Shape 28"/>
          <p:cNvSpPr/>
          <p:nvPr/>
        </p:nvSpPr>
        <p:spPr>
          <a:xfrm>
            <a:off x="13862074" y="4200797"/>
            <a:ext cx="328292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5" name="Text 29"/>
          <p:cNvSpPr txBox="1"/>
          <p:nvPr/>
        </p:nvSpPr>
        <p:spPr>
          <a:xfrm>
            <a:off x="14071624" y="3778522"/>
            <a:ext cx="2962314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Flight cycle counter</a:t>
            </a:r>
          </a:p>
        </p:txBody>
      </p:sp>
      <p:sp>
        <p:nvSpPr>
          <p:cNvPr id="226" name="Shape 30"/>
          <p:cNvSpPr/>
          <p:nvPr/>
        </p:nvSpPr>
        <p:spPr>
          <a:xfrm>
            <a:off x="9391650" y="4767535"/>
            <a:ext cx="242924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7" name="Text 31"/>
          <p:cNvSpPr txBox="1"/>
          <p:nvPr/>
        </p:nvSpPr>
        <p:spPr>
          <a:xfrm>
            <a:off x="9601200" y="4345259"/>
            <a:ext cx="208634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Op Settings</a:t>
            </a:r>
          </a:p>
        </p:txBody>
      </p:sp>
      <p:sp>
        <p:nvSpPr>
          <p:cNvPr id="228" name="Shape 32"/>
          <p:cNvSpPr/>
          <p:nvPr/>
        </p:nvSpPr>
        <p:spPr>
          <a:xfrm>
            <a:off x="11820897" y="4767535"/>
            <a:ext cx="204117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" name="Text 33"/>
          <p:cNvSpPr txBox="1"/>
          <p:nvPr/>
        </p:nvSpPr>
        <p:spPr>
          <a:xfrm>
            <a:off x="12030447" y="4345259"/>
            <a:ext cx="169827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op1, op2, op3</a:t>
            </a:r>
          </a:p>
        </p:txBody>
      </p:sp>
      <p:sp>
        <p:nvSpPr>
          <p:cNvPr id="230" name="Shape 34"/>
          <p:cNvSpPr/>
          <p:nvPr/>
        </p:nvSpPr>
        <p:spPr>
          <a:xfrm>
            <a:off x="13862074" y="4767535"/>
            <a:ext cx="328292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Text 35"/>
          <p:cNvSpPr txBox="1"/>
          <p:nvPr/>
        </p:nvSpPr>
        <p:spPr>
          <a:xfrm>
            <a:off x="14071624" y="4345259"/>
            <a:ext cx="2962314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Operating condition</a:t>
            </a:r>
          </a:p>
        </p:txBody>
      </p:sp>
      <p:sp>
        <p:nvSpPr>
          <p:cNvPr id="232" name="Shape 36"/>
          <p:cNvSpPr/>
          <p:nvPr/>
        </p:nvSpPr>
        <p:spPr>
          <a:xfrm>
            <a:off x="9391650" y="4778647"/>
            <a:ext cx="2429248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3" name="Shape 37"/>
          <p:cNvSpPr/>
          <p:nvPr/>
        </p:nvSpPr>
        <p:spPr>
          <a:xfrm>
            <a:off x="9391650" y="5334272"/>
            <a:ext cx="242924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4" name="Text 38"/>
          <p:cNvSpPr txBox="1"/>
          <p:nvPr/>
        </p:nvSpPr>
        <p:spPr>
          <a:xfrm>
            <a:off x="9601200" y="4911997"/>
            <a:ext cx="208634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Sensors</a:t>
            </a:r>
          </a:p>
        </p:txBody>
      </p:sp>
      <p:sp>
        <p:nvSpPr>
          <p:cNvPr id="235" name="Shape 39"/>
          <p:cNvSpPr/>
          <p:nvPr/>
        </p:nvSpPr>
        <p:spPr>
          <a:xfrm>
            <a:off x="11820897" y="4778647"/>
            <a:ext cx="2041178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6" name="Shape 40"/>
          <p:cNvSpPr/>
          <p:nvPr/>
        </p:nvSpPr>
        <p:spPr>
          <a:xfrm>
            <a:off x="11820897" y="5334272"/>
            <a:ext cx="204117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7" name="Text 41"/>
          <p:cNvSpPr txBox="1"/>
          <p:nvPr/>
        </p:nvSpPr>
        <p:spPr>
          <a:xfrm>
            <a:off x="12030447" y="4911997"/>
            <a:ext cx="169827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s1 – s21</a:t>
            </a:r>
          </a:p>
        </p:txBody>
      </p:sp>
      <p:sp>
        <p:nvSpPr>
          <p:cNvPr id="238" name="Shape 42"/>
          <p:cNvSpPr/>
          <p:nvPr/>
        </p:nvSpPr>
        <p:spPr>
          <a:xfrm>
            <a:off x="13862074" y="4778647"/>
            <a:ext cx="3282925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9" name="Shape 43"/>
          <p:cNvSpPr/>
          <p:nvPr/>
        </p:nvSpPr>
        <p:spPr>
          <a:xfrm>
            <a:off x="13862074" y="5334272"/>
            <a:ext cx="328292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0" name="Text 44"/>
          <p:cNvSpPr txBox="1"/>
          <p:nvPr/>
        </p:nvSpPr>
        <p:spPr>
          <a:xfrm>
            <a:off x="14071624" y="4911997"/>
            <a:ext cx="2962314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Physical measurements</a:t>
            </a:r>
          </a:p>
        </p:txBody>
      </p:sp>
      <p:sp>
        <p:nvSpPr>
          <p:cNvPr id="241" name="Shape 45"/>
          <p:cNvSpPr/>
          <p:nvPr/>
        </p:nvSpPr>
        <p:spPr>
          <a:xfrm>
            <a:off x="9391650" y="5901010"/>
            <a:ext cx="242924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2" name="Text 46"/>
          <p:cNvSpPr txBox="1"/>
          <p:nvPr/>
        </p:nvSpPr>
        <p:spPr>
          <a:xfrm>
            <a:off x="9601200" y="5478734"/>
            <a:ext cx="208634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RUL (computed)</a:t>
            </a:r>
          </a:p>
        </p:txBody>
      </p:sp>
      <p:sp>
        <p:nvSpPr>
          <p:cNvPr id="243" name="Shape 47"/>
          <p:cNvSpPr/>
          <p:nvPr/>
        </p:nvSpPr>
        <p:spPr>
          <a:xfrm>
            <a:off x="11820897" y="5901010"/>
            <a:ext cx="204117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4" name="Text 48"/>
          <p:cNvSpPr txBox="1"/>
          <p:nvPr/>
        </p:nvSpPr>
        <p:spPr>
          <a:xfrm>
            <a:off x="12030447" y="5478734"/>
            <a:ext cx="169827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</a:t>
            </a:r>
          </a:p>
        </p:txBody>
      </p:sp>
      <p:sp>
        <p:nvSpPr>
          <p:cNvPr id="245" name="Shape 49"/>
          <p:cNvSpPr/>
          <p:nvPr/>
        </p:nvSpPr>
        <p:spPr>
          <a:xfrm>
            <a:off x="13862074" y="5901010"/>
            <a:ext cx="3282925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6" name="Text 50"/>
          <p:cNvSpPr txBox="1"/>
          <p:nvPr/>
        </p:nvSpPr>
        <p:spPr>
          <a:xfrm>
            <a:off x="14071624" y="5478734"/>
            <a:ext cx="2962314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Target variable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9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CONCEPTS</a:t>
            </a:r>
          </a:p>
        </p:txBody>
      </p:sp>
      <p:sp>
        <p:nvSpPr>
          <p:cNvPr id="250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1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Remaining Useful Life (RUL)</a:t>
            </a:r>
          </a:p>
        </p:txBody>
      </p:sp>
      <p:sp>
        <p:nvSpPr>
          <p:cNvPr id="252" name="Text 4"/>
          <p:cNvSpPr txBox="1"/>
          <p:nvPr/>
        </p:nvSpPr>
        <p:spPr>
          <a:xfrm>
            <a:off x="1562100" y="2478359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 defTabSz="905255">
              <a:lnSpc>
                <a:spcPct val="140000"/>
              </a:lnSpc>
              <a:defRPr sz="237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RUL = number of flight cycles left before the engine fails</a:t>
            </a:r>
          </a:p>
        </p:txBody>
      </p:sp>
      <p:sp>
        <p:nvSpPr>
          <p:cNvPr id="253" name="Text 5"/>
          <p:cNvSpPr txBox="1"/>
          <p:nvPr/>
        </p:nvSpPr>
        <p:spPr>
          <a:xfrm>
            <a:off x="1562100" y="311460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Train set: </a:t>
            </a:r>
            <a:r>
              <a:rPr b="0">
                <a:solidFill>
                  <a:srgbClr val="1C3150"/>
                </a:solidFill>
              </a:rPr>
              <a:t>true RUL computed from the maximum cycle per engine</a:t>
            </a:r>
          </a:p>
        </p:txBody>
      </p:sp>
      <p:sp>
        <p:nvSpPr>
          <p:cNvPr id="254" name="Text 6"/>
          <p:cNvSpPr txBox="1"/>
          <p:nvPr/>
        </p:nvSpPr>
        <p:spPr>
          <a:xfrm>
            <a:off x="1562100" y="4177531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40000"/>
              </a:lnSpc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Test set: </a:t>
            </a:r>
            <a:r>
              <a:rPr b="0">
                <a:solidFill>
                  <a:srgbClr val="1C3150"/>
                </a:solidFill>
              </a:rPr>
              <a:t>RUL must be predicted at the truncation point</a:t>
            </a:r>
          </a:p>
        </p:txBody>
      </p:sp>
      <p:sp>
        <p:nvSpPr>
          <p:cNvPr id="255" name="Text 7"/>
          <p:cNvSpPr txBox="1"/>
          <p:nvPr/>
        </p:nvSpPr>
        <p:spPr>
          <a:xfrm>
            <a:off x="1562100" y="481377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Capped at </a:t>
            </a:r>
            <a:r>
              <a:rPr b="1">
                <a:solidFill>
                  <a:srgbClr val="12294A"/>
                </a:solidFill>
              </a:rPr>
              <a:t>125 cycles </a:t>
            </a:r>
            <a:r>
              <a:t>— early healthy cycles contribute equally</a:t>
            </a:r>
          </a:p>
        </p:txBody>
      </p:sp>
      <p:sp>
        <p:nvSpPr>
          <p:cNvPr id="256" name="Text 8"/>
          <p:cNvSpPr txBox="1"/>
          <p:nvPr/>
        </p:nvSpPr>
        <p:spPr>
          <a:xfrm>
            <a:off x="1562100" y="5876702"/>
            <a:ext cx="7566850" cy="901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96111">
              <a:lnSpc>
                <a:spcPct val="140000"/>
              </a:lnSpc>
              <a:defRPr sz="2352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Ground truth provided separately as </a:t>
            </a:r>
            <a:r>
              <a:rPr>
                <a:latin typeface="monospace"/>
                <a:ea typeface="monospace"/>
                <a:cs typeface="monospace"/>
                <a:sym typeface="monospace"/>
              </a:rPr>
              <a:t>rul.txt </a:t>
            </a:r>
            <a:r>
              <a:t>for evaluation</a:t>
            </a:r>
          </a:p>
        </p:txBody>
      </p:sp>
      <p:sp>
        <p:nvSpPr>
          <p:cNvPr id="257" name="Shape 9"/>
          <p:cNvSpPr/>
          <p:nvPr/>
        </p:nvSpPr>
        <p:spPr>
          <a:xfrm>
            <a:off x="9391650" y="2956396"/>
            <a:ext cx="7753350" cy="3305176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8" name="Shape 10"/>
          <p:cNvSpPr/>
          <p:nvPr/>
        </p:nvSpPr>
        <p:spPr>
          <a:xfrm>
            <a:off x="9782175" y="3499320"/>
            <a:ext cx="6972300" cy="838201"/>
          </a:xfrm>
          <a:prstGeom prst="roundRect">
            <a:avLst>
              <a:gd name="adj" fmla="val 13636"/>
            </a:avLst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9" name="Text 11"/>
          <p:cNvSpPr txBox="1"/>
          <p:nvPr/>
        </p:nvSpPr>
        <p:spPr>
          <a:xfrm>
            <a:off x="10058589" y="3766020"/>
            <a:ext cx="641947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>
              <a:defRPr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RUL(cycle t) = max_cycle − t</a:t>
            </a:r>
          </a:p>
        </p:txBody>
      </p:sp>
      <p:sp>
        <p:nvSpPr>
          <p:cNvPr id="260" name="Shape 12"/>
          <p:cNvSpPr/>
          <p:nvPr/>
        </p:nvSpPr>
        <p:spPr>
          <a:xfrm>
            <a:off x="9782175" y="4716933"/>
            <a:ext cx="697230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1" name="Text 13"/>
          <p:cNvSpPr txBox="1"/>
          <p:nvPr/>
        </p:nvSpPr>
        <p:spPr>
          <a:xfrm>
            <a:off x="9744075" y="4918545"/>
            <a:ext cx="1053405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96111">
              <a:defRPr sz="3234" b="1">
                <a:solidFill>
                  <a:srgbClr val="27AE6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125</a:t>
            </a:r>
          </a:p>
        </p:txBody>
      </p:sp>
      <p:sp>
        <p:nvSpPr>
          <p:cNvPr id="262" name="Text 14"/>
          <p:cNvSpPr txBox="1"/>
          <p:nvPr/>
        </p:nvSpPr>
        <p:spPr>
          <a:xfrm>
            <a:off x="9744075" y="5413845"/>
            <a:ext cx="105340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1746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Cap value</a:t>
            </a:r>
          </a:p>
        </p:txBody>
      </p:sp>
      <p:sp>
        <p:nvSpPr>
          <p:cNvPr id="263" name="Text 15"/>
          <p:cNvSpPr txBox="1"/>
          <p:nvPr/>
        </p:nvSpPr>
        <p:spPr>
          <a:xfrm>
            <a:off x="12564219" y="4918545"/>
            <a:ext cx="152563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96111">
              <a:defRPr sz="3234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78</a:t>
            </a:r>
          </a:p>
        </p:txBody>
      </p:sp>
      <p:sp>
        <p:nvSpPr>
          <p:cNvPr id="264" name="Text 16"/>
          <p:cNvSpPr txBox="1"/>
          <p:nvPr/>
        </p:nvSpPr>
        <p:spPr>
          <a:xfrm>
            <a:off x="12564219" y="5413845"/>
            <a:ext cx="152563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77823">
              <a:defRPr sz="1727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Mean test RUL</a:t>
            </a:r>
          </a:p>
        </p:txBody>
      </p:sp>
      <p:sp>
        <p:nvSpPr>
          <p:cNvPr id="265" name="Text 17"/>
          <p:cNvSpPr txBox="1"/>
          <p:nvPr/>
        </p:nvSpPr>
        <p:spPr>
          <a:xfrm>
            <a:off x="15856520" y="4918545"/>
            <a:ext cx="936055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96111">
              <a:defRPr sz="3234" b="1">
                <a:solidFill>
                  <a:srgbClr val="C0392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0</a:t>
            </a:r>
          </a:p>
        </p:txBody>
      </p:sp>
      <p:sp>
        <p:nvSpPr>
          <p:cNvPr id="266" name="Text 18"/>
          <p:cNvSpPr txBox="1"/>
          <p:nvPr/>
        </p:nvSpPr>
        <p:spPr>
          <a:xfrm>
            <a:off x="15856520" y="5413845"/>
            <a:ext cx="93605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1746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At failure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 0"/>
          <p:cNvSpPr txBox="1"/>
          <p:nvPr/>
        </p:nvSpPr>
        <p:spPr>
          <a:xfrm>
            <a:off x="8702526" y="4063179"/>
            <a:ext cx="1092637" cy="360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86968">
              <a:defRPr sz="1746" b="1" spc="291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lang="en-IN" dirty="0" smtClean="0"/>
              <a:t>PART 1</a:t>
            </a:r>
            <a:endParaRPr dirty="0"/>
          </a:p>
        </p:txBody>
      </p:sp>
      <p:sp>
        <p:nvSpPr>
          <p:cNvPr id="370" name="Text 1"/>
          <p:cNvSpPr txBox="1"/>
          <p:nvPr/>
        </p:nvSpPr>
        <p:spPr>
          <a:xfrm>
            <a:off x="5013443" y="4690095"/>
            <a:ext cx="8261113" cy="792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22959">
              <a:lnSpc>
                <a:spcPct val="110000"/>
              </a:lnSpc>
              <a:defRPr sz="486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Exploratory Data Analysis</a:t>
            </a:r>
          </a:p>
        </p:txBody>
      </p:sp>
      <p:sp>
        <p:nvSpPr>
          <p:cNvPr id="371" name="Text 2"/>
          <p:cNvSpPr txBox="1"/>
          <p:nvPr/>
        </p:nvSpPr>
        <p:spPr>
          <a:xfrm>
            <a:off x="6237794" y="5749230"/>
            <a:ext cx="581241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77823">
              <a:defRPr sz="2400">
                <a:solidFill>
                  <a:srgbClr val="FFFFFF">
                    <a:alpha val="64999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Understanding the data before modelling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4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EDA</a:t>
            </a:r>
          </a:p>
        </p:txBody>
      </p:sp>
      <p:sp>
        <p:nvSpPr>
          <p:cNvPr id="375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6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Engine Lifetime Distribution</a:t>
            </a:r>
          </a:p>
        </p:txBody>
      </p:sp>
      <p:sp>
        <p:nvSpPr>
          <p:cNvPr id="377" name="Shape 4"/>
          <p:cNvSpPr/>
          <p:nvPr/>
        </p:nvSpPr>
        <p:spPr>
          <a:xfrm>
            <a:off x="952500" y="2114550"/>
            <a:ext cx="105537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7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6325" y="2238375"/>
            <a:ext cx="10306050" cy="7353300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Text 5"/>
          <p:cNvSpPr txBox="1"/>
          <p:nvPr/>
        </p:nvSpPr>
        <p:spPr>
          <a:xfrm>
            <a:off x="12420600" y="2511772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248 training engines with lifetimes from </a:t>
            </a:r>
            <a:r>
              <a:rPr b="1">
                <a:solidFill>
                  <a:srgbClr val="12294A"/>
                </a:solidFill>
              </a:rPr>
              <a:t>128 to 543 cycles</a:t>
            </a:r>
          </a:p>
        </p:txBody>
      </p:sp>
      <p:sp>
        <p:nvSpPr>
          <p:cNvPr id="380" name="Text 6"/>
          <p:cNvSpPr txBox="1"/>
          <p:nvPr/>
        </p:nvSpPr>
        <p:spPr>
          <a:xfrm>
            <a:off x="12420600" y="3938139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Mean lifetime: </a:t>
            </a:r>
            <a:r>
              <a:rPr b="1" dirty="0">
                <a:solidFill>
                  <a:srgbClr val="12294A"/>
                </a:solidFill>
              </a:rPr>
              <a:t>246 cycles </a:t>
            </a:r>
            <a:endParaRPr lang="en-IN" dirty="0">
              <a:solidFill>
                <a:srgbClr val="1C3150"/>
              </a:solidFill>
            </a:endParaRPr>
          </a:p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 smtClean="0"/>
              <a:t>Median</a:t>
            </a:r>
            <a:r>
              <a:rPr dirty="0"/>
              <a:t>: 234 cycles</a:t>
            </a:r>
          </a:p>
        </p:txBody>
      </p:sp>
      <p:sp>
        <p:nvSpPr>
          <p:cNvPr id="381" name="Text 7"/>
          <p:cNvSpPr txBox="1"/>
          <p:nvPr/>
        </p:nvSpPr>
        <p:spPr>
          <a:xfrm>
            <a:off x="12420600" y="5339697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All engines live longer than the RUL cap of 125 — cap is always effective</a:t>
            </a:r>
          </a:p>
        </p:txBody>
      </p:sp>
      <p:sp>
        <p:nvSpPr>
          <p:cNvPr id="382" name="Text 8"/>
          <p:cNvSpPr txBox="1"/>
          <p:nvPr/>
        </p:nvSpPr>
        <p:spPr>
          <a:xfrm>
            <a:off x="12420600" y="6691310"/>
            <a:ext cx="5074921" cy="877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40000"/>
              </a:lnSpc>
              <a:defRPr sz="22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Minimum lifetime (128) &gt; RUL cap (125</a:t>
            </a:r>
            <a:r>
              <a:rPr dirty="0" smtClean="0"/>
              <a:t>)</a:t>
            </a:r>
            <a:endParaRPr sz="1800" b="1" dirty="0">
              <a:solidFill>
                <a:srgbClr val="27AE60"/>
              </a:solidFill>
            </a:endParaRPr>
          </a:p>
        </p:txBody>
      </p:sp>
      <p:sp>
        <p:nvSpPr>
          <p:cNvPr id="383" name="Text 9"/>
          <p:cNvSpPr txBox="1"/>
          <p:nvPr/>
        </p:nvSpPr>
        <p:spPr>
          <a:xfrm>
            <a:off x="12420600" y="7732363"/>
            <a:ext cx="5074921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defTabSz="859536">
              <a:lnSpc>
                <a:spcPct val="140000"/>
              </a:lnSpc>
              <a:defRPr sz="2068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 smtClean="0"/>
              <a:t>Distribution is right-skewed — most engines live 150–300 cycles with a long tail</a:t>
            </a:r>
            <a:endParaRPr dirty="0"/>
          </a:p>
        </p:txBody>
      </p:sp>
      <p:sp>
        <p:nvSpPr>
          <p:cNvPr id="386" name="Text 12"/>
          <p:cNvSpPr txBox="1"/>
          <p:nvPr/>
        </p:nvSpPr>
        <p:spPr>
          <a:xfrm>
            <a:off x="12363450" y="8018115"/>
            <a:ext cx="4827271" cy="110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150000"/>
              </a:lnSpc>
              <a:defRPr sz="1746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9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EDA</a:t>
            </a:r>
          </a:p>
        </p:txBody>
      </p:sp>
      <p:sp>
        <p:nvSpPr>
          <p:cNvPr id="390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1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Operating Conditions — 6 Distinct Clusters</a:t>
            </a:r>
          </a:p>
        </p:txBody>
      </p:sp>
      <p:sp>
        <p:nvSpPr>
          <p:cNvPr id="392" name="Shape 4"/>
          <p:cNvSpPr/>
          <p:nvPr/>
        </p:nvSpPr>
        <p:spPr>
          <a:xfrm>
            <a:off x="952500" y="2114550"/>
            <a:ext cx="105537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3" name="Text 5"/>
          <p:cNvSpPr txBox="1"/>
          <p:nvPr/>
        </p:nvSpPr>
        <p:spPr>
          <a:xfrm>
            <a:off x="12420600" y="2552700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op1: </a:t>
            </a:r>
            <a:r>
              <a:rPr b="1">
                <a:solidFill>
                  <a:srgbClr val="12294A"/>
                </a:solidFill>
              </a:rPr>
              <a:t>536 unique values </a:t>
            </a:r>
            <a:r>
              <a:t>— continuous throttle setting (altitude-linked)</a:t>
            </a:r>
          </a:p>
        </p:txBody>
      </p:sp>
      <p:sp>
        <p:nvSpPr>
          <p:cNvPr id="394" name="Text 6"/>
          <p:cNvSpPr txBox="1"/>
          <p:nvPr/>
        </p:nvSpPr>
        <p:spPr>
          <a:xfrm>
            <a:off x="12420600" y="3505200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op2: </a:t>
            </a:r>
            <a:r>
              <a:rPr b="1">
                <a:solidFill>
                  <a:srgbClr val="12294A"/>
                </a:solidFill>
              </a:rPr>
              <a:t>105 unique values </a:t>
            </a:r>
            <a:r>
              <a:t>— Mach/speed-related setting</a:t>
            </a:r>
          </a:p>
        </p:txBody>
      </p:sp>
      <p:sp>
        <p:nvSpPr>
          <p:cNvPr id="395" name="Text 7"/>
          <p:cNvSpPr txBox="1"/>
          <p:nvPr/>
        </p:nvSpPr>
        <p:spPr>
          <a:xfrm>
            <a:off x="12420600" y="4457700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op3: </a:t>
            </a:r>
            <a:r>
              <a:rPr b="1">
                <a:solidFill>
                  <a:srgbClr val="12294A"/>
                </a:solidFill>
              </a:rPr>
              <a:t>2 unique values </a:t>
            </a:r>
            <a:r>
              <a:t>— altitude band (binary: ~60 or ~100)</a:t>
            </a:r>
          </a:p>
        </p:txBody>
      </p:sp>
      <p:sp>
        <p:nvSpPr>
          <p:cNvPr id="396" name="Text 8"/>
          <p:cNvSpPr txBox="1"/>
          <p:nvPr/>
        </p:nvSpPr>
        <p:spPr>
          <a:xfrm>
            <a:off x="12420600" y="5410200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The discrete clusters in histograms visually confirm 6 operating regimes</a:t>
            </a:r>
          </a:p>
        </p:txBody>
      </p:sp>
      <p:sp>
        <p:nvSpPr>
          <p:cNvPr id="397" name="Text 9"/>
          <p:cNvSpPr txBox="1"/>
          <p:nvPr/>
        </p:nvSpPr>
        <p:spPr>
          <a:xfrm>
            <a:off x="12420600" y="6362700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KMeans on (op1, op2, op3) separates these 6 conditions cleanly</a:t>
            </a:r>
          </a:p>
        </p:txBody>
      </p:sp>
      <p:sp>
        <p:nvSpPr>
          <p:cNvPr id="398" name="Shape 10"/>
          <p:cNvSpPr/>
          <p:nvPr/>
        </p:nvSpPr>
        <p:spPr>
          <a:xfrm>
            <a:off x="12001500" y="7391400"/>
            <a:ext cx="5334000" cy="1885950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9" name="Shape 11"/>
          <p:cNvSpPr/>
          <p:nvPr/>
        </p:nvSpPr>
        <p:spPr>
          <a:xfrm>
            <a:off x="12001500" y="7391400"/>
            <a:ext cx="57150" cy="188595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0" name="Text 12"/>
          <p:cNvSpPr txBox="1"/>
          <p:nvPr/>
        </p:nvSpPr>
        <p:spPr>
          <a:xfrm>
            <a:off x="12363450" y="7620000"/>
            <a:ext cx="4827271" cy="146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50000"/>
              </a:lnSpc>
              <a:defRPr sz="1746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Operating conditions cause large sensor jumps between consecutive cycles — not degradation. Clustering removes this confounding effect before modelling.</a:t>
            </a:r>
          </a:p>
        </p:txBody>
      </p:sp>
      <p:pic>
        <p:nvPicPr>
          <p:cNvPr id="40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4131" y="2208671"/>
            <a:ext cx="9389438" cy="74906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4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EDA</a:t>
            </a:r>
          </a:p>
        </p:txBody>
      </p:sp>
      <p:sp>
        <p:nvSpPr>
          <p:cNvPr id="405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6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Sensor Variance — Identifying Useless Sensors</a:t>
            </a:r>
          </a:p>
        </p:txBody>
      </p:sp>
      <p:sp>
        <p:nvSpPr>
          <p:cNvPr id="407" name="Shape 4"/>
          <p:cNvSpPr/>
          <p:nvPr/>
        </p:nvSpPr>
        <p:spPr>
          <a:xfrm>
            <a:off x="952500" y="2114550"/>
            <a:ext cx="105537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8" name="Text 5"/>
          <p:cNvSpPr txBox="1"/>
          <p:nvPr/>
        </p:nvSpPr>
        <p:spPr>
          <a:xfrm>
            <a:off x="12420600" y="2283618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s16, s10, s15 </a:t>
            </a:r>
            <a:r>
              <a:rPr b="0">
                <a:solidFill>
                  <a:srgbClr val="1C3150"/>
                </a:solidFill>
              </a:rPr>
              <a:t>— near-zero variance; s16 variance = 0.000022</a:t>
            </a:r>
          </a:p>
        </p:txBody>
      </p:sp>
      <p:sp>
        <p:nvSpPr>
          <p:cNvPr id="409" name="Text 6"/>
          <p:cNvSpPr txBox="1"/>
          <p:nvPr/>
        </p:nvSpPr>
        <p:spPr>
          <a:xfrm>
            <a:off x="12420600" y="3236118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s9 </a:t>
            </a:r>
            <a:r>
              <a:rPr b="0">
                <a:solidFill>
                  <a:srgbClr val="1C3150"/>
                </a:solidFill>
              </a:rPr>
              <a:t>— highest variance (113,520) — most spread, highly informative</a:t>
            </a:r>
          </a:p>
        </p:txBody>
      </p:sp>
      <p:sp>
        <p:nvSpPr>
          <p:cNvPr id="410" name="Text 7"/>
          <p:cNvSpPr txBox="1"/>
          <p:nvPr/>
        </p:nvSpPr>
        <p:spPr>
          <a:xfrm>
            <a:off x="12420600" y="4188619"/>
            <a:ext cx="5074921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40000"/>
              </a:lnSpc>
              <a:defRPr sz="22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Sensors with very low variance carry almost no information about degradation</a:t>
            </a:r>
          </a:p>
        </p:txBody>
      </p:sp>
      <p:sp>
        <p:nvSpPr>
          <p:cNvPr id="411" name="Text 8"/>
          <p:cNvSpPr txBox="1"/>
          <p:nvPr/>
        </p:nvSpPr>
        <p:spPr>
          <a:xfrm>
            <a:off x="12420600" y="5377180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Final drop decision combines variance + correlation + visual trajectory check</a:t>
            </a:r>
          </a:p>
        </p:txBody>
      </p:sp>
      <p:sp>
        <p:nvSpPr>
          <p:cNvPr id="412" name="Shape 9"/>
          <p:cNvSpPr/>
          <p:nvPr/>
        </p:nvSpPr>
        <p:spPr>
          <a:xfrm>
            <a:off x="12192000" y="6455568"/>
            <a:ext cx="1468338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3" name="Text 10"/>
          <p:cNvSpPr txBox="1"/>
          <p:nvPr/>
        </p:nvSpPr>
        <p:spPr>
          <a:xfrm>
            <a:off x="12401550" y="6607968"/>
            <a:ext cx="1125438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Decision</a:t>
            </a:r>
          </a:p>
        </p:txBody>
      </p:sp>
      <p:sp>
        <p:nvSpPr>
          <p:cNvPr id="414" name="Shape 11"/>
          <p:cNvSpPr/>
          <p:nvPr/>
        </p:nvSpPr>
        <p:spPr>
          <a:xfrm>
            <a:off x="13660338" y="6455568"/>
            <a:ext cx="1725886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5" name="Text 12"/>
          <p:cNvSpPr txBox="1"/>
          <p:nvPr/>
        </p:nvSpPr>
        <p:spPr>
          <a:xfrm>
            <a:off x="13869888" y="6607968"/>
            <a:ext cx="138298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Sensors</a:t>
            </a:r>
          </a:p>
        </p:txBody>
      </p:sp>
      <p:sp>
        <p:nvSpPr>
          <p:cNvPr id="416" name="Shape 13"/>
          <p:cNvSpPr/>
          <p:nvPr/>
        </p:nvSpPr>
        <p:spPr>
          <a:xfrm>
            <a:off x="15386223" y="6455568"/>
            <a:ext cx="2139777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7" name="Text 14"/>
          <p:cNvSpPr txBox="1"/>
          <p:nvPr/>
        </p:nvSpPr>
        <p:spPr>
          <a:xfrm>
            <a:off x="15595773" y="6607968"/>
            <a:ext cx="179687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Reason</a:t>
            </a:r>
          </a:p>
        </p:txBody>
      </p:sp>
      <p:sp>
        <p:nvSpPr>
          <p:cNvPr id="418" name="Shape 15"/>
          <p:cNvSpPr/>
          <p:nvPr/>
        </p:nvSpPr>
        <p:spPr>
          <a:xfrm>
            <a:off x="12192000" y="8192293"/>
            <a:ext cx="146833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0" name="Text 17"/>
          <p:cNvSpPr txBox="1"/>
          <p:nvPr/>
        </p:nvSpPr>
        <p:spPr>
          <a:xfrm>
            <a:off x="12592050" y="7496175"/>
            <a:ext cx="744438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>
                <a:solidFill>
                  <a:srgbClr val="C0392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DROP</a:t>
            </a:r>
          </a:p>
        </p:txBody>
      </p:sp>
      <p:sp>
        <p:nvSpPr>
          <p:cNvPr id="421" name="Shape 18"/>
          <p:cNvSpPr/>
          <p:nvPr/>
        </p:nvSpPr>
        <p:spPr>
          <a:xfrm>
            <a:off x="13660338" y="8192293"/>
            <a:ext cx="1725886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2" name="Text 19"/>
          <p:cNvSpPr txBox="1"/>
          <p:nvPr/>
        </p:nvSpPr>
        <p:spPr>
          <a:xfrm>
            <a:off x="13869888" y="7193756"/>
            <a:ext cx="1382986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s1, s5, s6, s10, s16, s18, s19</a:t>
            </a:r>
          </a:p>
        </p:txBody>
      </p:sp>
      <p:sp>
        <p:nvSpPr>
          <p:cNvPr id="423" name="Shape 20"/>
          <p:cNvSpPr/>
          <p:nvPr/>
        </p:nvSpPr>
        <p:spPr>
          <a:xfrm>
            <a:off x="15386223" y="8192293"/>
            <a:ext cx="213977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4" name="Text 21"/>
          <p:cNvSpPr txBox="1"/>
          <p:nvPr/>
        </p:nvSpPr>
        <p:spPr>
          <a:xfrm>
            <a:off x="15595773" y="7193756"/>
            <a:ext cx="1796877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Near-zero variance + flat trajectory</a:t>
            </a:r>
          </a:p>
        </p:txBody>
      </p:sp>
      <p:sp>
        <p:nvSpPr>
          <p:cNvPr id="425" name="Shape 22"/>
          <p:cNvSpPr/>
          <p:nvPr/>
        </p:nvSpPr>
        <p:spPr>
          <a:xfrm>
            <a:off x="12192000" y="8203406"/>
            <a:ext cx="1468338" cy="1147764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6" name="Shape 23"/>
          <p:cNvSpPr/>
          <p:nvPr/>
        </p:nvSpPr>
        <p:spPr>
          <a:xfrm>
            <a:off x="12192000" y="9340056"/>
            <a:ext cx="146833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8" name="Text 25"/>
          <p:cNvSpPr txBox="1"/>
          <p:nvPr/>
        </p:nvSpPr>
        <p:spPr>
          <a:xfrm>
            <a:off x="12592050" y="8643938"/>
            <a:ext cx="67813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>
                <a:solidFill>
                  <a:srgbClr val="27AE6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KEEP</a:t>
            </a:r>
          </a:p>
        </p:txBody>
      </p:sp>
      <p:sp>
        <p:nvSpPr>
          <p:cNvPr id="429" name="Shape 26"/>
          <p:cNvSpPr/>
          <p:nvPr/>
        </p:nvSpPr>
        <p:spPr>
          <a:xfrm>
            <a:off x="13660338" y="8203406"/>
            <a:ext cx="1725886" cy="1147764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0" name="Shape 27"/>
          <p:cNvSpPr/>
          <p:nvPr/>
        </p:nvSpPr>
        <p:spPr>
          <a:xfrm>
            <a:off x="13660338" y="9340056"/>
            <a:ext cx="1725886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1" name="Text 28"/>
          <p:cNvSpPr txBox="1"/>
          <p:nvPr/>
        </p:nvSpPr>
        <p:spPr>
          <a:xfrm>
            <a:off x="13869888" y="8336756"/>
            <a:ext cx="1382986" cy="909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>
              <a:defRPr sz="1900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14 sensors</a:t>
            </a:r>
          </a:p>
        </p:txBody>
      </p:sp>
      <p:sp>
        <p:nvSpPr>
          <p:cNvPr id="432" name="Shape 29"/>
          <p:cNvSpPr/>
          <p:nvPr/>
        </p:nvSpPr>
        <p:spPr>
          <a:xfrm>
            <a:off x="15386223" y="8203406"/>
            <a:ext cx="2139777" cy="1147764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3" name="Shape 30"/>
          <p:cNvSpPr/>
          <p:nvPr/>
        </p:nvSpPr>
        <p:spPr>
          <a:xfrm>
            <a:off x="15386223" y="9340056"/>
            <a:ext cx="213977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4" name="Text 31"/>
          <p:cNvSpPr txBox="1"/>
          <p:nvPr/>
        </p:nvSpPr>
        <p:spPr>
          <a:xfrm>
            <a:off x="15595773" y="8336756"/>
            <a:ext cx="1796877" cy="909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Visible degradation trend</a:t>
            </a:r>
          </a:p>
        </p:txBody>
      </p:sp>
      <p:pic>
        <p:nvPicPr>
          <p:cNvPr id="435" name="pasted-movie.png" descr="pasted-movie.png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4494" y="2113359"/>
            <a:ext cx="10498405" cy="76265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8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EDA</a:t>
            </a:r>
          </a:p>
        </p:txBody>
      </p:sp>
      <p:sp>
        <p:nvSpPr>
          <p:cNvPr id="439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0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Sensor Correlation with RUL</a:t>
            </a:r>
          </a:p>
        </p:txBody>
      </p:sp>
      <p:sp>
        <p:nvSpPr>
          <p:cNvPr id="441" name="Shape 4"/>
          <p:cNvSpPr/>
          <p:nvPr/>
        </p:nvSpPr>
        <p:spPr>
          <a:xfrm>
            <a:off x="952500" y="2114550"/>
            <a:ext cx="105537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2" name="Text 5"/>
          <p:cNvSpPr txBox="1"/>
          <p:nvPr/>
        </p:nvSpPr>
        <p:spPr>
          <a:xfrm>
            <a:off x="12420600" y="2152650"/>
            <a:ext cx="5074921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32104">
              <a:lnSpc>
                <a:spcPct val="140000"/>
              </a:lnSpc>
              <a:defRPr sz="2002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Most sensors are negatively correlated </a:t>
            </a:r>
            <a:r>
              <a:rPr b="0">
                <a:solidFill>
                  <a:srgbClr val="1C3150"/>
                </a:solidFill>
              </a:rPr>
              <a:t>with RUL — as engine degrades (RUL falls), sensor values rise</a:t>
            </a:r>
          </a:p>
        </p:txBody>
      </p:sp>
      <p:sp>
        <p:nvSpPr>
          <p:cNvPr id="443" name="Text 6"/>
          <p:cNvSpPr txBox="1"/>
          <p:nvPr/>
        </p:nvSpPr>
        <p:spPr>
          <a:xfrm>
            <a:off x="12420600" y="3505200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s14 </a:t>
            </a:r>
            <a:r>
              <a:rPr b="0">
                <a:solidFill>
                  <a:srgbClr val="1C3150"/>
                </a:solidFill>
              </a:rPr>
              <a:t>has the strongest linear relationship (corr = −0.102)</a:t>
            </a:r>
          </a:p>
        </p:txBody>
      </p:sp>
      <p:sp>
        <p:nvSpPr>
          <p:cNvPr id="444" name="Text 7"/>
          <p:cNvSpPr txBox="1"/>
          <p:nvPr/>
        </p:nvSpPr>
        <p:spPr>
          <a:xfrm>
            <a:off x="12420600" y="4457700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s15 </a:t>
            </a:r>
            <a:r>
              <a:rPr b="0">
                <a:solidFill>
                  <a:srgbClr val="1C3150"/>
                </a:solidFill>
              </a:rPr>
              <a:t>is the only positively correlated sensor (corr = +0.005)</a:t>
            </a:r>
          </a:p>
        </p:txBody>
      </p:sp>
      <p:sp>
        <p:nvSpPr>
          <p:cNvPr id="445" name="Text 8"/>
          <p:cNvSpPr txBox="1"/>
          <p:nvPr/>
        </p:nvSpPr>
        <p:spPr>
          <a:xfrm>
            <a:off x="12361022" y="6198869"/>
            <a:ext cx="5074921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96111">
              <a:lnSpc>
                <a:spcPct val="140000"/>
              </a:lnSpc>
              <a:defRPr sz="21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Correlations are </a:t>
            </a:r>
            <a:r>
              <a:rPr i="1" dirty="0"/>
              <a:t>small </a:t>
            </a:r>
            <a:r>
              <a:rPr dirty="0"/>
              <a:t>— relationship is nonlinear, not captured by Pearson alone</a:t>
            </a:r>
          </a:p>
        </p:txBody>
      </p:sp>
      <p:sp>
        <p:nvSpPr>
          <p:cNvPr id="446" name="Text 9"/>
          <p:cNvSpPr txBox="1"/>
          <p:nvPr/>
        </p:nvSpPr>
        <p:spPr>
          <a:xfrm>
            <a:off x="12420600" y="6648450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dirty="0"/>
          </a:p>
        </p:txBody>
      </p:sp>
      <p:sp>
        <p:nvSpPr>
          <p:cNvPr id="447" name="Shape 10"/>
          <p:cNvSpPr/>
          <p:nvPr/>
        </p:nvSpPr>
        <p:spPr>
          <a:xfrm>
            <a:off x="12161521" y="7778750"/>
            <a:ext cx="5334000" cy="1885950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8" name="Shape 11"/>
          <p:cNvSpPr/>
          <p:nvPr/>
        </p:nvSpPr>
        <p:spPr>
          <a:xfrm>
            <a:off x="12115800" y="7791450"/>
            <a:ext cx="57150" cy="188595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9" name="Text 12"/>
          <p:cNvSpPr txBox="1"/>
          <p:nvPr/>
        </p:nvSpPr>
        <p:spPr>
          <a:xfrm>
            <a:off x="12363450" y="8020050"/>
            <a:ext cx="4827271" cy="146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86968">
              <a:lnSpc>
                <a:spcPct val="150000"/>
              </a:lnSpc>
              <a:defRPr sz="1746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Low Pearson correlation does not mean a sensor is useless — it means the relationship is </a:t>
            </a:r>
            <a:r>
              <a:rPr b="1" dirty="0"/>
              <a:t>nonlinear </a:t>
            </a:r>
            <a:r>
              <a:rPr dirty="0"/>
              <a:t>. </a:t>
            </a:r>
          </a:p>
        </p:txBody>
      </p:sp>
      <p:pic>
        <p:nvPicPr>
          <p:cNvPr id="450" name="pasted-movie.png" descr="pasted-movie.png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027" y="2156422"/>
            <a:ext cx="10453595" cy="75172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2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EDA</a:t>
            </a:r>
          </a:p>
        </p:txBody>
      </p:sp>
      <p:sp>
        <p:nvSpPr>
          <p:cNvPr id="483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4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Average Degradation Trajectories — 14 Retained Sensors</a:t>
            </a:r>
          </a:p>
        </p:txBody>
      </p:sp>
      <p:sp>
        <p:nvSpPr>
          <p:cNvPr id="485" name="Shape 4"/>
          <p:cNvSpPr/>
          <p:nvPr/>
        </p:nvSpPr>
        <p:spPr>
          <a:xfrm>
            <a:off x="952500" y="2114550"/>
            <a:ext cx="111252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86" name="Image 0" descr="Image 0"/>
          <p:cNvPicPr>
            <a:picLocks noChangeAspect="1"/>
          </p:cNvPicPr>
          <p:nvPr/>
        </p:nvPicPr>
        <p:blipFill rotWithShape="1">
          <a:blip r:embed="rId2">
            <a:extLst/>
          </a:blip>
          <a:srcRect t="4317"/>
          <a:stretch/>
        </p:blipFill>
        <p:spPr>
          <a:xfrm>
            <a:off x="1076325" y="2476499"/>
            <a:ext cx="10877550" cy="7115175"/>
          </a:xfrm>
          <a:prstGeom prst="rect">
            <a:avLst/>
          </a:prstGeom>
          <a:ln w="12700">
            <a:miter lim="400000"/>
          </a:ln>
        </p:spPr>
      </p:pic>
      <p:sp>
        <p:nvSpPr>
          <p:cNvPr id="487" name="Text 5"/>
          <p:cNvSpPr txBox="1"/>
          <p:nvPr/>
        </p:nvSpPr>
        <p:spPr>
          <a:xfrm>
            <a:off x="12992100" y="2828925"/>
            <a:ext cx="4486275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X-axis: normalised cycle (0 = engine start, 1 = failure)</a:t>
            </a:r>
          </a:p>
        </p:txBody>
      </p:sp>
      <p:sp>
        <p:nvSpPr>
          <p:cNvPr id="488" name="Text 6"/>
          <p:cNvSpPr txBox="1"/>
          <p:nvPr/>
        </p:nvSpPr>
        <p:spPr>
          <a:xfrm>
            <a:off x="12992099" y="4459922"/>
            <a:ext cx="4486275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s3, s4, s9, s11, s14 </a:t>
            </a:r>
            <a:r>
              <a:rPr b="0" dirty="0">
                <a:solidFill>
                  <a:srgbClr val="1C3150"/>
                </a:solidFill>
              </a:rPr>
              <a:t>— clear upward trend as engine degrades</a:t>
            </a:r>
          </a:p>
        </p:txBody>
      </p:sp>
      <p:sp>
        <p:nvSpPr>
          <p:cNvPr id="489" name="Text 7"/>
          <p:cNvSpPr txBox="1"/>
          <p:nvPr/>
        </p:nvSpPr>
        <p:spPr>
          <a:xfrm>
            <a:off x="12992099" y="6468428"/>
            <a:ext cx="448627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832104">
              <a:lnSpc>
                <a:spcPct val="140000"/>
              </a:lnSpc>
              <a:defRPr sz="2002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s7, s15, s17 </a:t>
            </a:r>
            <a:r>
              <a:rPr b="0" dirty="0">
                <a:solidFill>
                  <a:srgbClr val="1C3150"/>
                </a:solidFill>
              </a:rPr>
              <a:t>— downward drift toward failure (sensors that fall with degradation)</a:t>
            </a:r>
          </a:p>
        </p:txBody>
      </p:sp>
      <p:sp>
        <p:nvSpPr>
          <p:cNvPr id="490" name="Text 8"/>
          <p:cNvSpPr txBox="1"/>
          <p:nvPr/>
        </p:nvSpPr>
        <p:spPr>
          <a:xfrm>
            <a:off x="12954000" y="8333106"/>
            <a:ext cx="448627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Acceleration near failure (x &gt; 0.7) is visible in many sensors — </a:t>
            </a:r>
            <a:r>
              <a:rPr i="1" dirty="0"/>
              <a:t>nonlinear</a:t>
            </a:r>
          </a:p>
        </p:txBody>
      </p:sp>
      <p:sp>
        <p:nvSpPr>
          <p:cNvPr id="493" name="Text 11"/>
          <p:cNvSpPr txBox="1"/>
          <p:nvPr/>
        </p:nvSpPr>
        <p:spPr>
          <a:xfrm>
            <a:off x="12934950" y="7343775"/>
            <a:ext cx="4238625" cy="146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86968">
              <a:lnSpc>
                <a:spcPct val="150000"/>
              </a:lnSpc>
              <a:defRPr sz="1746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3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EDA</a:t>
            </a:r>
          </a:p>
        </p:txBody>
      </p:sp>
      <p:sp>
        <p:nvSpPr>
          <p:cNvPr id="454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5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Key EDA Insights</a:t>
            </a:r>
          </a:p>
        </p:txBody>
      </p:sp>
      <p:sp>
        <p:nvSpPr>
          <p:cNvPr id="456" name="Shape 4"/>
          <p:cNvSpPr/>
          <p:nvPr/>
        </p:nvSpPr>
        <p:spPr>
          <a:xfrm>
            <a:off x="1143000" y="2478359"/>
            <a:ext cx="5079951" cy="3300414"/>
          </a:xfrm>
          <a:prstGeom prst="roundRect">
            <a:avLst>
              <a:gd name="adj" fmla="val 461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7" name="Shape 5"/>
          <p:cNvSpPr/>
          <p:nvPr/>
        </p:nvSpPr>
        <p:spPr>
          <a:xfrm>
            <a:off x="1143000" y="5767660"/>
            <a:ext cx="5079951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8" name="Shape 6"/>
          <p:cNvSpPr/>
          <p:nvPr/>
        </p:nvSpPr>
        <p:spPr>
          <a:xfrm>
            <a:off x="1143000" y="2478359"/>
            <a:ext cx="5079951" cy="4762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9" name="Shape 7"/>
          <p:cNvSpPr/>
          <p:nvPr/>
        </p:nvSpPr>
        <p:spPr>
          <a:xfrm>
            <a:off x="1141412" y="2478359"/>
            <a:ext cx="12701" cy="3300414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0" name="Shape 8"/>
          <p:cNvSpPr/>
          <p:nvPr/>
        </p:nvSpPr>
        <p:spPr>
          <a:xfrm>
            <a:off x="6211837" y="2478359"/>
            <a:ext cx="12701" cy="3300414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1" name="Text 9"/>
          <p:cNvSpPr txBox="1"/>
          <p:nvPr/>
        </p:nvSpPr>
        <p:spPr>
          <a:xfrm>
            <a:off x="1533525" y="2906984"/>
            <a:ext cx="4427867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Engine Variability</a:t>
            </a:r>
          </a:p>
        </p:txBody>
      </p:sp>
      <p:sp>
        <p:nvSpPr>
          <p:cNvPr id="462" name="Text 10"/>
          <p:cNvSpPr txBox="1"/>
          <p:nvPr/>
        </p:nvSpPr>
        <p:spPr>
          <a:xfrm>
            <a:off x="1533525" y="3459434"/>
            <a:ext cx="4427867" cy="158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795527">
              <a:lnSpc>
                <a:spcPct val="150000"/>
              </a:lnSpc>
              <a:defRPr sz="1740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Engine lifetimes range from 128 to 543 </a:t>
            </a:r>
            <a:r>
              <a:rPr dirty="0" smtClean="0"/>
              <a:t>cycles. </a:t>
            </a:r>
            <a:r>
              <a:rPr dirty="0"/>
              <a:t>Models must </a:t>
            </a:r>
            <a:r>
              <a:rPr dirty="0" err="1" smtClean="0"/>
              <a:t>generali</a:t>
            </a:r>
            <a:r>
              <a:rPr lang="en-IN" dirty="0"/>
              <a:t>z</a:t>
            </a:r>
            <a:r>
              <a:rPr dirty="0" smtClean="0"/>
              <a:t>e </a:t>
            </a:r>
            <a:r>
              <a:rPr dirty="0"/>
              <a:t>across very short and very long-lived engines.</a:t>
            </a:r>
          </a:p>
        </p:txBody>
      </p:sp>
      <p:sp>
        <p:nvSpPr>
          <p:cNvPr id="463" name="Shape 11"/>
          <p:cNvSpPr/>
          <p:nvPr/>
        </p:nvSpPr>
        <p:spPr>
          <a:xfrm>
            <a:off x="6603949" y="2478359"/>
            <a:ext cx="5080026" cy="3300414"/>
          </a:xfrm>
          <a:prstGeom prst="roundRect">
            <a:avLst>
              <a:gd name="adj" fmla="val 461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4" name="Shape 12"/>
          <p:cNvSpPr/>
          <p:nvPr/>
        </p:nvSpPr>
        <p:spPr>
          <a:xfrm>
            <a:off x="6603949" y="5767660"/>
            <a:ext cx="5080026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5" name="Shape 13"/>
          <p:cNvSpPr/>
          <p:nvPr/>
        </p:nvSpPr>
        <p:spPr>
          <a:xfrm>
            <a:off x="6603949" y="2478359"/>
            <a:ext cx="5080026" cy="47626"/>
          </a:xfrm>
          <a:prstGeom prst="rect">
            <a:avLst/>
          </a:prstGeom>
          <a:solidFill>
            <a:srgbClr val="F0A5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6" name="Shape 14"/>
          <p:cNvSpPr/>
          <p:nvPr/>
        </p:nvSpPr>
        <p:spPr>
          <a:xfrm>
            <a:off x="6602362" y="2478359"/>
            <a:ext cx="12701" cy="3300414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7" name="Shape 15"/>
          <p:cNvSpPr/>
          <p:nvPr/>
        </p:nvSpPr>
        <p:spPr>
          <a:xfrm>
            <a:off x="11672862" y="2478359"/>
            <a:ext cx="12701" cy="3300414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8" name="Text 16"/>
          <p:cNvSpPr txBox="1"/>
          <p:nvPr/>
        </p:nvSpPr>
        <p:spPr>
          <a:xfrm>
            <a:off x="6994474" y="2906984"/>
            <a:ext cx="4427945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Multi-Modal Operating Conditions</a:t>
            </a:r>
          </a:p>
        </p:txBody>
      </p:sp>
      <p:sp>
        <p:nvSpPr>
          <p:cNvPr id="469" name="Text 17"/>
          <p:cNvSpPr txBox="1"/>
          <p:nvPr/>
        </p:nvSpPr>
        <p:spPr>
          <a:xfrm>
            <a:off x="6994474" y="3840434"/>
            <a:ext cx="4427945" cy="158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795527">
              <a:lnSpc>
                <a:spcPct val="150000"/>
              </a:lnSpc>
              <a:defRPr sz="1740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6 distinct operating regimes create sharp sensor jumps cycle-to-cycle. </a:t>
            </a:r>
          </a:p>
        </p:txBody>
      </p:sp>
      <p:sp>
        <p:nvSpPr>
          <p:cNvPr id="470" name="Shape 18"/>
          <p:cNvSpPr/>
          <p:nvPr/>
        </p:nvSpPr>
        <p:spPr>
          <a:xfrm>
            <a:off x="12090375" y="2491059"/>
            <a:ext cx="5079951" cy="3300414"/>
          </a:xfrm>
          <a:prstGeom prst="roundRect">
            <a:avLst>
              <a:gd name="adj" fmla="val 461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1" name="Shape 19"/>
          <p:cNvSpPr/>
          <p:nvPr/>
        </p:nvSpPr>
        <p:spPr>
          <a:xfrm>
            <a:off x="12064975" y="5767660"/>
            <a:ext cx="5079951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2" name="Shape 20"/>
          <p:cNvSpPr/>
          <p:nvPr/>
        </p:nvSpPr>
        <p:spPr>
          <a:xfrm>
            <a:off x="12064975" y="2478359"/>
            <a:ext cx="5079951" cy="47626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3" name="Shape 21"/>
          <p:cNvSpPr/>
          <p:nvPr/>
        </p:nvSpPr>
        <p:spPr>
          <a:xfrm>
            <a:off x="12063387" y="2478359"/>
            <a:ext cx="12701" cy="3300414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4" name="Shape 22"/>
          <p:cNvSpPr/>
          <p:nvPr/>
        </p:nvSpPr>
        <p:spPr>
          <a:xfrm>
            <a:off x="17133813" y="2478359"/>
            <a:ext cx="12701" cy="3300414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5" name="Text 23"/>
          <p:cNvSpPr txBox="1"/>
          <p:nvPr/>
        </p:nvSpPr>
        <p:spPr>
          <a:xfrm>
            <a:off x="12455500" y="2906984"/>
            <a:ext cx="442786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Nonlinear Degradation</a:t>
            </a:r>
          </a:p>
        </p:txBody>
      </p:sp>
      <p:sp>
        <p:nvSpPr>
          <p:cNvPr id="476" name="Text 24"/>
          <p:cNvSpPr txBox="1"/>
          <p:nvPr/>
        </p:nvSpPr>
        <p:spPr>
          <a:xfrm>
            <a:off x="12455500" y="3459434"/>
            <a:ext cx="4427868" cy="1966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795527">
              <a:lnSpc>
                <a:spcPct val="150000"/>
              </a:lnSpc>
              <a:defRPr sz="1740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Average sensor trajectories </a:t>
            </a:r>
            <a:r>
              <a:rPr dirty="0" smtClean="0"/>
              <a:t>show </a:t>
            </a:r>
            <a:r>
              <a:rPr dirty="0"/>
              <a:t>healthy phase followed by steep acceleration near </a:t>
            </a:r>
            <a:r>
              <a:rPr dirty="0" smtClean="0"/>
              <a:t>failure</a:t>
            </a:r>
            <a:r>
              <a:rPr lang="en-IN" dirty="0" smtClean="0"/>
              <a:t>.</a:t>
            </a:r>
            <a:endParaRPr dirty="0"/>
          </a:p>
        </p:txBody>
      </p:sp>
      <p:sp>
        <p:nvSpPr>
          <p:cNvPr id="477" name="Shape 25"/>
          <p:cNvSpPr/>
          <p:nvPr/>
        </p:nvSpPr>
        <p:spPr>
          <a:xfrm>
            <a:off x="1142926" y="6197872"/>
            <a:ext cx="16002000" cy="1257301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8" name="Shape 26"/>
          <p:cNvSpPr/>
          <p:nvPr/>
        </p:nvSpPr>
        <p:spPr>
          <a:xfrm>
            <a:off x="1143000" y="6197872"/>
            <a:ext cx="57150" cy="1257301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9" name="Text 27"/>
          <p:cNvSpPr txBox="1"/>
          <p:nvPr/>
        </p:nvSpPr>
        <p:spPr>
          <a:xfrm>
            <a:off x="1504950" y="6426472"/>
            <a:ext cx="15815311" cy="847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defTabSz="868680">
              <a:lnSpc>
                <a:spcPct val="150000"/>
              </a:lnSpc>
              <a:defRPr sz="1994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EDA directly motivates every design decision: the 7-sensor drop, </a:t>
            </a:r>
            <a:r>
              <a:rPr dirty="0" err="1"/>
              <a:t>KMeans</a:t>
            </a:r>
            <a:r>
              <a:rPr dirty="0"/>
              <a:t> k=6, per-cluster scaling</a:t>
            </a:r>
            <a:r>
              <a:rPr dirty="0" smtClean="0"/>
              <a:t>, </a:t>
            </a:r>
            <a:r>
              <a:rPr dirty="0"/>
              <a:t>health index, and the PCA </a:t>
            </a:r>
            <a:r>
              <a:rPr dirty="0" err="1"/>
              <a:t>detrending</a:t>
            </a:r>
            <a:r>
              <a:rPr dirty="0"/>
              <a:t> step.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0"/>
          <p:cNvSpPr txBox="1"/>
          <p:nvPr/>
        </p:nvSpPr>
        <p:spPr>
          <a:xfrm>
            <a:off x="8628236" y="4156695"/>
            <a:ext cx="103145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algn="ctr" defTabSz="886968">
              <a:defRPr sz="1746" b="1" spc="291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PART </a:t>
            </a:r>
            <a:r>
              <a:rPr lang="en-IN" dirty="0" smtClean="0"/>
              <a:t>2</a:t>
            </a:r>
            <a:endParaRPr dirty="0"/>
          </a:p>
        </p:txBody>
      </p:sp>
      <p:sp>
        <p:nvSpPr>
          <p:cNvPr id="269" name="Text 1"/>
          <p:cNvSpPr txBox="1"/>
          <p:nvPr/>
        </p:nvSpPr>
        <p:spPr>
          <a:xfrm>
            <a:off x="5985321" y="4690095"/>
            <a:ext cx="6317358" cy="792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22959">
              <a:lnSpc>
                <a:spcPct val="110000"/>
              </a:lnSpc>
              <a:defRPr sz="486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Data Preprocessing</a:t>
            </a:r>
          </a:p>
        </p:txBody>
      </p:sp>
      <p:sp>
        <p:nvSpPr>
          <p:cNvPr id="270" name="Text 2"/>
          <p:cNvSpPr txBox="1"/>
          <p:nvPr/>
        </p:nvSpPr>
        <p:spPr>
          <a:xfrm>
            <a:off x="6317124" y="5749230"/>
            <a:ext cx="5653676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77823">
              <a:defRPr sz="2400">
                <a:solidFill>
                  <a:srgbClr val="FFFFFF">
                    <a:alpha val="64999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Setting up the sensor data for modelling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3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PREPROCESSING</a:t>
            </a:r>
          </a:p>
        </p:txBody>
      </p:sp>
      <p:sp>
        <p:nvSpPr>
          <p:cNvPr id="274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5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Dropping Useless Sensors</a:t>
            </a:r>
          </a:p>
        </p:txBody>
      </p:sp>
      <p:sp>
        <p:nvSpPr>
          <p:cNvPr id="276" name="Text 4"/>
          <p:cNvSpPr txBox="1"/>
          <p:nvPr/>
        </p:nvSpPr>
        <p:spPr>
          <a:xfrm>
            <a:off x="1562100" y="2478359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Of 21 sensors, </a:t>
            </a:r>
            <a:r>
              <a:rPr b="1">
                <a:solidFill>
                  <a:srgbClr val="12294A"/>
                </a:solidFill>
              </a:rPr>
              <a:t>7 are near-constant </a:t>
            </a:r>
            <a:r>
              <a:t>across all rows</a:t>
            </a:r>
          </a:p>
        </p:txBody>
      </p:sp>
      <p:sp>
        <p:nvSpPr>
          <p:cNvPr id="277" name="Text 5"/>
          <p:cNvSpPr txBox="1"/>
          <p:nvPr/>
        </p:nvSpPr>
        <p:spPr>
          <a:xfrm>
            <a:off x="1562100" y="311460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Standard deviation &lt; 0.1 — they carry zero information about degradation</a:t>
            </a:r>
          </a:p>
        </p:txBody>
      </p:sp>
      <p:sp>
        <p:nvSpPr>
          <p:cNvPr id="278" name="Text 6"/>
          <p:cNvSpPr txBox="1"/>
          <p:nvPr/>
        </p:nvSpPr>
        <p:spPr>
          <a:xfrm>
            <a:off x="1562100" y="4177531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Keeping them adds noise to every model</a:t>
            </a:r>
          </a:p>
        </p:txBody>
      </p:sp>
      <p:sp>
        <p:nvSpPr>
          <p:cNvPr id="279" name="Text 7"/>
          <p:cNvSpPr txBox="1"/>
          <p:nvPr/>
        </p:nvSpPr>
        <p:spPr>
          <a:xfrm>
            <a:off x="1562100" y="4813770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40000"/>
              </a:lnSpc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Dropped: </a:t>
            </a:r>
            <a:r>
              <a:rPr b="0">
                <a:solidFill>
                  <a:srgbClr val="1C3150"/>
                </a:solidFill>
              </a:rPr>
              <a:t>s1, s5, s6, s10, s16, s18, s19</a:t>
            </a:r>
          </a:p>
        </p:txBody>
      </p:sp>
      <p:sp>
        <p:nvSpPr>
          <p:cNvPr id="280" name="Text 8"/>
          <p:cNvSpPr txBox="1"/>
          <p:nvPr/>
        </p:nvSpPr>
        <p:spPr>
          <a:xfrm>
            <a:off x="1562100" y="5450011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14 sensors remain: </a:t>
            </a:r>
            <a:r>
              <a:rPr b="0">
                <a:solidFill>
                  <a:srgbClr val="1C3150"/>
                </a:solidFill>
              </a:rPr>
              <a:t>s2, s3, s4, s7, s8, s9, s11, s12, s13, s14, s15, s17, s20, s21</a:t>
            </a:r>
          </a:p>
        </p:txBody>
      </p:sp>
      <p:sp>
        <p:nvSpPr>
          <p:cNvPr id="281" name="Shape 9"/>
          <p:cNvSpPr/>
          <p:nvPr/>
        </p:nvSpPr>
        <p:spPr>
          <a:xfrm>
            <a:off x="9391650" y="2478359"/>
            <a:ext cx="7753350" cy="3825033"/>
          </a:xfrm>
          <a:prstGeom prst="roundRect">
            <a:avLst>
              <a:gd name="adj" fmla="val 398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2" name="Text 10"/>
          <p:cNvSpPr txBox="1"/>
          <p:nvPr/>
        </p:nvSpPr>
        <p:spPr>
          <a:xfrm>
            <a:off x="10212585" y="2916882"/>
            <a:ext cx="1895849" cy="938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86968">
              <a:defRPr sz="5820" b="1">
                <a:solidFill>
                  <a:srgbClr val="C0392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7</a:t>
            </a:r>
          </a:p>
        </p:txBody>
      </p:sp>
      <p:sp>
        <p:nvSpPr>
          <p:cNvPr id="283" name="Text 11"/>
          <p:cNvSpPr txBox="1"/>
          <p:nvPr/>
        </p:nvSpPr>
        <p:spPr>
          <a:xfrm>
            <a:off x="10212585" y="3816994"/>
            <a:ext cx="1895849" cy="619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905255">
              <a:defRPr sz="1881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Sensors dropped (near-constant)</a:t>
            </a:r>
          </a:p>
        </p:txBody>
      </p:sp>
      <p:sp>
        <p:nvSpPr>
          <p:cNvPr id="284" name="Text 12"/>
          <p:cNvSpPr txBox="1"/>
          <p:nvPr/>
        </p:nvSpPr>
        <p:spPr>
          <a:xfrm>
            <a:off x="12969403" y="3297882"/>
            <a:ext cx="630437" cy="765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>
              <a:defRPr sz="4800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→</a:t>
            </a:r>
          </a:p>
        </p:txBody>
      </p:sp>
      <p:sp>
        <p:nvSpPr>
          <p:cNvPr id="285" name="Text 13"/>
          <p:cNvSpPr txBox="1"/>
          <p:nvPr/>
        </p:nvSpPr>
        <p:spPr>
          <a:xfrm>
            <a:off x="14460735" y="2916882"/>
            <a:ext cx="1863179" cy="938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86968">
              <a:defRPr sz="5820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14</a:t>
            </a:r>
          </a:p>
        </p:txBody>
      </p:sp>
      <p:sp>
        <p:nvSpPr>
          <p:cNvPr id="286" name="Text 14"/>
          <p:cNvSpPr txBox="1"/>
          <p:nvPr/>
        </p:nvSpPr>
        <p:spPr>
          <a:xfrm>
            <a:off x="14460735" y="3816994"/>
            <a:ext cx="1863179" cy="619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905255">
              <a:defRPr sz="1881">
                <a:solidFill>
                  <a:srgbClr val="6B7F9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Sensors retained (informative)</a:t>
            </a:r>
          </a:p>
        </p:txBody>
      </p:sp>
      <p:sp>
        <p:nvSpPr>
          <p:cNvPr id="287" name="Shape 15"/>
          <p:cNvSpPr/>
          <p:nvPr/>
        </p:nvSpPr>
        <p:spPr>
          <a:xfrm>
            <a:off x="9782175" y="4664719"/>
            <a:ext cx="6972300" cy="1200151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88" name="Shape 16"/>
          <p:cNvSpPr/>
          <p:nvPr/>
        </p:nvSpPr>
        <p:spPr>
          <a:xfrm>
            <a:off x="9782175" y="4664719"/>
            <a:ext cx="57150" cy="1200151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9" name="Text 17"/>
          <p:cNvSpPr txBox="1"/>
          <p:nvPr/>
        </p:nvSpPr>
        <p:spPr>
          <a:xfrm>
            <a:off x="10039540" y="4893319"/>
            <a:ext cx="6514719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>
              <a:lnSpc>
                <a:spcPct val="150000"/>
              </a:lnSpc>
              <a:defRPr sz="1900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Variance-based </a:t>
            </a:r>
            <a:r>
              <a:rPr dirty="0" smtClean="0"/>
              <a:t>selection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2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PREPROCESSING</a:t>
            </a:r>
          </a:p>
        </p:txBody>
      </p:sp>
      <p:sp>
        <p:nvSpPr>
          <p:cNvPr id="293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4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Operating Condition Clustering (KMeans)</a:t>
            </a:r>
          </a:p>
        </p:txBody>
      </p:sp>
      <p:sp>
        <p:nvSpPr>
          <p:cNvPr id="295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Three operating columns (op1, op2, op3) define the flying condition each cycle</a:t>
            </a:r>
          </a:p>
        </p:txBody>
      </p:sp>
      <p:sp>
        <p:nvSpPr>
          <p:cNvPr id="296" name="Text 5"/>
          <p:cNvSpPr txBox="1"/>
          <p:nvPr/>
        </p:nvSpPr>
        <p:spPr>
          <a:xfrm>
            <a:off x="1562100" y="354129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KMeans fitted on </a:t>
            </a:r>
            <a:r>
              <a:rPr b="1">
                <a:solidFill>
                  <a:srgbClr val="12294A"/>
                </a:solidFill>
              </a:rPr>
              <a:t>training data only </a:t>
            </a:r>
            <a:r>
              <a:t>— then applied to test data</a:t>
            </a:r>
          </a:p>
        </p:txBody>
      </p:sp>
      <p:sp>
        <p:nvSpPr>
          <p:cNvPr id="297" name="Text 6"/>
          <p:cNvSpPr txBox="1"/>
          <p:nvPr/>
        </p:nvSpPr>
        <p:spPr>
          <a:xfrm>
            <a:off x="1562100" y="4604220"/>
            <a:ext cx="7566850" cy="910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Each row gets a label </a:t>
            </a:r>
            <a:r>
              <a:rPr>
                <a:latin typeface="monospace"/>
                <a:ea typeface="monospace"/>
                <a:cs typeface="monospace"/>
                <a:sym typeface="monospace"/>
              </a:rPr>
              <a:t>op_cluster ∈ {0, 1, 2, 3, 4, 5}</a:t>
            </a:r>
          </a:p>
        </p:txBody>
      </p:sp>
      <p:sp>
        <p:nvSpPr>
          <p:cNvPr id="298" name="Text 7"/>
          <p:cNvSpPr txBox="1"/>
          <p:nvPr/>
        </p:nvSpPr>
        <p:spPr>
          <a:xfrm>
            <a:off x="1562100" y="568620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lang="en-IN" dirty="0"/>
              <a:t>F</a:t>
            </a:r>
            <a:r>
              <a:rPr dirty="0" err="1" smtClean="0"/>
              <a:t>itting</a:t>
            </a:r>
            <a:r>
              <a:rPr dirty="0" smtClean="0"/>
              <a:t> </a:t>
            </a:r>
            <a:r>
              <a:rPr dirty="0"/>
              <a:t>on training data ensures a </a:t>
            </a:r>
            <a:r>
              <a:rPr b="1" dirty="0">
                <a:solidFill>
                  <a:srgbClr val="12294A"/>
                </a:solidFill>
              </a:rPr>
              <a:t>consistent coordinate system </a:t>
            </a:r>
            <a:r>
              <a:rPr dirty="0"/>
              <a:t>across train and test</a:t>
            </a:r>
          </a:p>
        </p:txBody>
      </p:sp>
      <p:sp>
        <p:nvSpPr>
          <p:cNvPr id="299" name="Text 8"/>
          <p:cNvSpPr txBox="1"/>
          <p:nvPr/>
        </p:nvSpPr>
        <p:spPr>
          <a:xfrm>
            <a:off x="1562100" y="6749132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dirty="0"/>
          </a:p>
        </p:txBody>
      </p:sp>
      <p:sp>
        <p:nvSpPr>
          <p:cNvPr id="300" name="Shape 9"/>
          <p:cNvSpPr/>
          <p:nvPr/>
        </p:nvSpPr>
        <p:spPr>
          <a:xfrm>
            <a:off x="9391650" y="2478359"/>
            <a:ext cx="7753350" cy="2904358"/>
          </a:xfrm>
          <a:prstGeom prst="roundRect">
            <a:avLst>
              <a:gd name="adj" fmla="val 324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1" name="Text 10"/>
          <p:cNvSpPr txBox="1"/>
          <p:nvPr/>
        </p:nvSpPr>
        <p:spPr>
          <a:xfrm>
            <a:off x="9782175" y="2955428"/>
            <a:ext cx="7181468" cy="384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2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Why k = 6?</a:t>
            </a:r>
          </a:p>
        </p:txBody>
      </p:sp>
      <p:sp>
        <p:nvSpPr>
          <p:cNvPr id="302" name="Shape 11"/>
          <p:cNvSpPr/>
          <p:nvPr/>
        </p:nvSpPr>
        <p:spPr>
          <a:xfrm>
            <a:off x="9782175" y="3560266"/>
            <a:ext cx="6972300" cy="1171576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3" name="Shape 12"/>
          <p:cNvSpPr/>
          <p:nvPr/>
        </p:nvSpPr>
        <p:spPr>
          <a:xfrm>
            <a:off x="9782175" y="3560266"/>
            <a:ext cx="57150" cy="1171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4" name="Text 13"/>
          <p:cNvSpPr txBox="1"/>
          <p:nvPr/>
        </p:nvSpPr>
        <p:spPr>
          <a:xfrm>
            <a:off x="10144125" y="3788866"/>
            <a:ext cx="6514718" cy="752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50000"/>
              </a:lnSpc>
              <a:defRPr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FD004 has exactly 6 distinct operating conditions. KMeans k=6 captures each condition as a separate cluster.</a:t>
            </a:r>
          </a:p>
        </p:txBody>
      </p:sp>
      <p:sp>
        <p:nvSpPr>
          <p:cNvPr id="305" name="Text 14"/>
          <p:cNvSpPr txBox="1"/>
          <p:nvPr/>
        </p:nvSpPr>
        <p:spPr>
          <a:xfrm>
            <a:off x="9782175" y="4998541"/>
            <a:ext cx="7181468" cy="384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2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  <p:sp>
        <p:nvSpPr>
          <p:cNvPr id="308" name="Text 17"/>
          <p:cNvSpPr txBox="1"/>
          <p:nvPr/>
        </p:nvSpPr>
        <p:spPr>
          <a:xfrm>
            <a:off x="10144125" y="5755778"/>
            <a:ext cx="6514718" cy="752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50000"/>
              </a:lnSpc>
              <a:defRPr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1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PREPROCESSING</a:t>
            </a:r>
          </a:p>
        </p:txBody>
      </p:sp>
      <p:sp>
        <p:nvSpPr>
          <p:cNvPr id="312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3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Per-Cluster StandardScaler</a:t>
            </a:r>
          </a:p>
        </p:txBody>
      </p:sp>
      <p:sp>
        <p:nvSpPr>
          <p:cNvPr id="314" name="Text 4"/>
          <p:cNvSpPr txBox="1"/>
          <p:nvPr/>
        </p:nvSpPr>
        <p:spPr>
          <a:xfrm>
            <a:off x="1562100" y="2478359"/>
            <a:ext cx="1558290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For each of the 6 clusters, compute mean &amp; </a:t>
            </a:r>
            <a:r>
              <a:rPr dirty="0" err="1"/>
              <a:t>std</a:t>
            </a:r>
            <a:r>
              <a:rPr dirty="0"/>
              <a:t> of each sensor across </a:t>
            </a:r>
            <a:r>
              <a:rPr b="1" dirty="0">
                <a:solidFill>
                  <a:srgbClr val="12294A"/>
                </a:solidFill>
              </a:rPr>
              <a:t>training rows only</a:t>
            </a:r>
          </a:p>
        </p:txBody>
      </p:sp>
      <p:sp>
        <p:nvSpPr>
          <p:cNvPr id="315" name="Text 5"/>
          <p:cNvSpPr txBox="1"/>
          <p:nvPr/>
        </p:nvSpPr>
        <p:spPr>
          <a:xfrm>
            <a:off x="1443800" y="3627013"/>
            <a:ext cx="7566850" cy="910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dirty="0">
              <a:latin typeface="monospace"/>
              <a:ea typeface="monospace"/>
              <a:cs typeface="monospace"/>
              <a:sym typeface="monospace"/>
            </a:endParaRPr>
          </a:p>
        </p:txBody>
      </p:sp>
      <p:sp>
        <p:nvSpPr>
          <p:cNvPr id="316" name="Text 6"/>
          <p:cNvSpPr txBox="1"/>
          <p:nvPr/>
        </p:nvSpPr>
        <p:spPr>
          <a:xfrm>
            <a:off x="1562100" y="4623270"/>
            <a:ext cx="1558290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Removes altitude/speed baseline </a:t>
            </a:r>
            <a:r>
              <a:rPr b="0" dirty="0">
                <a:solidFill>
                  <a:srgbClr val="1C3150"/>
                </a:solidFill>
              </a:rPr>
              <a:t>— what remains is deviation from normal</a:t>
            </a:r>
          </a:p>
        </p:txBody>
      </p:sp>
      <p:sp>
        <p:nvSpPr>
          <p:cNvPr id="317" name="Text 7"/>
          <p:cNvSpPr txBox="1"/>
          <p:nvPr/>
        </p:nvSpPr>
        <p:spPr>
          <a:xfrm>
            <a:off x="1562100" y="5600476"/>
            <a:ext cx="960120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A healthy engine in any condition has sensor values near </a:t>
            </a:r>
            <a:r>
              <a:rPr b="1" dirty="0">
                <a:solidFill>
                  <a:srgbClr val="12294A"/>
                </a:solidFill>
              </a:rPr>
              <a:t>zero</a:t>
            </a:r>
          </a:p>
        </p:txBody>
      </p:sp>
      <p:sp>
        <p:nvSpPr>
          <p:cNvPr id="318" name="Text 8"/>
          <p:cNvSpPr txBox="1"/>
          <p:nvPr/>
        </p:nvSpPr>
        <p:spPr>
          <a:xfrm>
            <a:off x="1562100" y="6577683"/>
            <a:ext cx="1558290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A degrading engine has increasingly large z-scores — signal preserved, not clipped</a:t>
            </a:r>
          </a:p>
        </p:txBody>
      </p:sp>
      <p:sp>
        <p:nvSpPr>
          <p:cNvPr id="319" name="Shape 9"/>
          <p:cNvSpPr/>
          <p:nvPr/>
        </p:nvSpPr>
        <p:spPr>
          <a:xfrm>
            <a:off x="1468850" y="3556595"/>
            <a:ext cx="7753350" cy="838201"/>
          </a:xfrm>
          <a:prstGeom prst="roundRect">
            <a:avLst>
              <a:gd name="adj" fmla="val 13636"/>
            </a:avLst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0" name="Text 10"/>
          <p:cNvSpPr txBox="1"/>
          <p:nvPr/>
        </p:nvSpPr>
        <p:spPr>
          <a:xfrm>
            <a:off x="1615250" y="3844092"/>
            <a:ext cx="722395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>
              <a:defRPr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scaled = (raw − </a:t>
            </a:r>
            <a:r>
              <a:rPr dirty="0" err="1"/>
              <a:t>cluster_mean</a:t>
            </a:r>
            <a:r>
              <a:rPr dirty="0"/>
              <a:t>) / </a:t>
            </a:r>
            <a:r>
              <a:rPr dirty="0" err="1"/>
              <a:t>cluster_std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0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FEATURE ENGINEERING</a:t>
            </a:r>
          </a:p>
        </p:txBody>
      </p:sp>
      <p:sp>
        <p:nvSpPr>
          <p:cNvPr id="331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2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Rolling Features</a:t>
            </a:r>
          </a:p>
        </p:txBody>
      </p:sp>
      <p:sp>
        <p:nvSpPr>
          <p:cNvPr id="333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For each of 14 sensors: compute rolling </a:t>
            </a:r>
            <a:r>
              <a:rPr b="1">
                <a:solidFill>
                  <a:srgbClr val="12294A"/>
                </a:solidFill>
              </a:rPr>
              <a:t>mean </a:t>
            </a:r>
            <a:r>
              <a:t>and rolling </a:t>
            </a:r>
            <a:r>
              <a:rPr b="1">
                <a:solidFill>
                  <a:srgbClr val="12294A"/>
                </a:solidFill>
              </a:rPr>
              <a:t>std</a:t>
            </a:r>
          </a:p>
        </p:txBody>
      </p:sp>
      <p:sp>
        <p:nvSpPr>
          <p:cNvPr id="334" name="Text 5"/>
          <p:cNvSpPr txBox="1"/>
          <p:nvPr/>
        </p:nvSpPr>
        <p:spPr>
          <a:xfrm>
            <a:off x="1562100" y="3541290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Window sizes: </a:t>
            </a:r>
            <a:r>
              <a:rPr b="1" dirty="0">
                <a:solidFill>
                  <a:srgbClr val="12294A"/>
                </a:solidFill>
              </a:rPr>
              <a:t>5 cycles </a:t>
            </a:r>
            <a:r>
              <a:rPr dirty="0"/>
              <a:t>and </a:t>
            </a:r>
            <a:r>
              <a:rPr b="1" dirty="0">
                <a:solidFill>
                  <a:srgbClr val="12294A"/>
                </a:solidFill>
              </a:rPr>
              <a:t>10 cycles</a:t>
            </a:r>
          </a:p>
        </p:txBody>
      </p:sp>
      <p:sp>
        <p:nvSpPr>
          <p:cNvPr id="335" name="Text 6"/>
          <p:cNvSpPr txBox="1"/>
          <p:nvPr/>
        </p:nvSpPr>
        <p:spPr>
          <a:xfrm>
            <a:off x="1562100" y="4177531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Result: 14 × 2 (mean/std) × 2 (windows) = </a:t>
            </a:r>
            <a:r>
              <a:rPr b="1">
                <a:solidFill>
                  <a:srgbClr val="12294A"/>
                </a:solidFill>
              </a:rPr>
              <a:t>56 rolling features</a:t>
            </a:r>
          </a:p>
        </p:txBody>
      </p:sp>
      <p:sp>
        <p:nvSpPr>
          <p:cNvPr id="336" name="Text 7"/>
          <p:cNvSpPr txBox="1"/>
          <p:nvPr/>
        </p:nvSpPr>
        <p:spPr>
          <a:xfrm>
            <a:off x="1562100" y="5240461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Sorted by (engine_id, cycle) first — prevents cross-engine contamination</a:t>
            </a:r>
          </a:p>
        </p:txBody>
      </p:sp>
      <p:sp>
        <p:nvSpPr>
          <p:cNvPr id="338" name="Shape 9"/>
          <p:cNvSpPr/>
          <p:nvPr/>
        </p:nvSpPr>
        <p:spPr>
          <a:xfrm>
            <a:off x="9391650" y="2478359"/>
            <a:ext cx="7753350" cy="4772026"/>
          </a:xfrm>
          <a:prstGeom prst="roundRect">
            <a:avLst>
              <a:gd name="adj" fmla="val 319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9" name="Text 10"/>
          <p:cNvSpPr txBox="1"/>
          <p:nvPr/>
        </p:nvSpPr>
        <p:spPr>
          <a:xfrm>
            <a:off x="9782175" y="2868884"/>
            <a:ext cx="718146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Shared Conventions</a:t>
            </a:r>
          </a:p>
        </p:txBody>
      </p:sp>
      <p:sp>
        <p:nvSpPr>
          <p:cNvPr id="340" name="Shape 11"/>
          <p:cNvSpPr/>
          <p:nvPr/>
        </p:nvSpPr>
        <p:spPr>
          <a:xfrm>
            <a:off x="9782175" y="3421334"/>
            <a:ext cx="3383980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1" name="Text 12"/>
          <p:cNvSpPr txBox="1"/>
          <p:nvPr/>
        </p:nvSpPr>
        <p:spPr>
          <a:xfrm>
            <a:off x="9991725" y="3573734"/>
            <a:ext cx="3066400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Setting</a:t>
            </a:r>
          </a:p>
        </p:txBody>
      </p:sp>
      <p:sp>
        <p:nvSpPr>
          <p:cNvPr id="342" name="Shape 13"/>
          <p:cNvSpPr/>
          <p:nvPr/>
        </p:nvSpPr>
        <p:spPr>
          <a:xfrm>
            <a:off x="13166154" y="3421334"/>
            <a:ext cx="3588322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3" name="Text 14"/>
          <p:cNvSpPr txBox="1"/>
          <p:nvPr/>
        </p:nvSpPr>
        <p:spPr>
          <a:xfrm>
            <a:off x="13375704" y="3573734"/>
            <a:ext cx="327687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Value</a:t>
            </a:r>
          </a:p>
        </p:txBody>
      </p:sp>
      <p:sp>
        <p:nvSpPr>
          <p:cNvPr id="344" name="Shape 15"/>
          <p:cNvSpPr/>
          <p:nvPr/>
        </p:nvSpPr>
        <p:spPr>
          <a:xfrm>
            <a:off x="9782175" y="4577035"/>
            <a:ext cx="338398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5" name="Text 16"/>
          <p:cNvSpPr txBox="1"/>
          <p:nvPr/>
        </p:nvSpPr>
        <p:spPr>
          <a:xfrm>
            <a:off x="9991725" y="4159522"/>
            <a:ext cx="3066400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RUL cap</a:t>
            </a:r>
          </a:p>
        </p:txBody>
      </p:sp>
      <p:sp>
        <p:nvSpPr>
          <p:cNvPr id="346" name="Shape 17"/>
          <p:cNvSpPr/>
          <p:nvPr/>
        </p:nvSpPr>
        <p:spPr>
          <a:xfrm>
            <a:off x="13166154" y="4577035"/>
            <a:ext cx="3588322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7" name="Text 18"/>
          <p:cNvSpPr txBox="1"/>
          <p:nvPr/>
        </p:nvSpPr>
        <p:spPr>
          <a:xfrm>
            <a:off x="13375704" y="4159522"/>
            <a:ext cx="3276871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125 cycles</a:t>
            </a:r>
          </a:p>
        </p:txBody>
      </p:sp>
      <p:sp>
        <p:nvSpPr>
          <p:cNvPr id="348" name="Shape 19"/>
          <p:cNvSpPr/>
          <p:nvPr/>
        </p:nvSpPr>
        <p:spPr>
          <a:xfrm>
            <a:off x="9782175" y="4588147"/>
            <a:ext cx="3383980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9" name="Shape 20"/>
          <p:cNvSpPr/>
          <p:nvPr/>
        </p:nvSpPr>
        <p:spPr>
          <a:xfrm>
            <a:off x="9782175" y="5143772"/>
            <a:ext cx="338398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0" name="Text 21"/>
          <p:cNvSpPr txBox="1"/>
          <p:nvPr/>
        </p:nvSpPr>
        <p:spPr>
          <a:xfrm>
            <a:off x="9991725" y="4721497"/>
            <a:ext cx="306640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Sequence window (DL)</a:t>
            </a:r>
          </a:p>
        </p:txBody>
      </p:sp>
      <p:sp>
        <p:nvSpPr>
          <p:cNvPr id="351" name="Shape 22"/>
          <p:cNvSpPr/>
          <p:nvPr/>
        </p:nvSpPr>
        <p:spPr>
          <a:xfrm>
            <a:off x="13166154" y="4588147"/>
            <a:ext cx="3588322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2" name="Shape 23"/>
          <p:cNvSpPr/>
          <p:nvPr/>
        </p:nvSpPr>
        <p:spPr>
          <a:xfrm>
            <a:off x="13166154" y="5143772"/>
            <a:ext cx="3588322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3" name="Text 24"/>
          <p:cNvSpPr txBox="1"/>
          <p:nvPr/>
        </p:nvSpPr>
        <p:spPr>
          <a:xfrm>
            <a:off x="13375704" y="4721497"/>
            <a:ext cx="3276871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30 cycles</a:t>
            </a:r>
          </a:p>
        </p:txBody>
      </p:sp>
      <p:sp>
        <p:nvSpPr>
          <p:cNvPr id="354" name="Shape 25"/>
          <p:cNvSpPr/>
          <p:nvPr/>
        </p:nvSpPr>
        <p:spPr>
          <a:xfrm>
            <a:off x="9782175" y="5710510"/>
            <a:ext cx="338398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5" name="Text 26"/>
          <p:cNvSpPr txBox="1"/>
          <p:nvPr/>
        </p:nvSpPr>
        <p:spPr>
          <a:xfrm>
            <a:off x="9991725" y="5288234"/>
            <a:ext cx="306640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Train/val split</a:t>
            </a:r>
          </a:p>
        </p:txBody>
      </p:sp>
      <p:sp>
        <p:nvSpPr>
          <p:cNvPr id="356" name="Shape 27"/>
          <p:cNvSpPr/>
          <p:nvPr/>
        </p:nvSpPr>
        <p:spPr>
          <a:xfrm>
            <a:off x="13166154" y="5710510"/>
            <a:ext cx="3588322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7" name="Text 28"/>
          <p:cNvSpPr txBox="1"/>
          <p:nvPr/>
        </p:nvSpPr>
        <p:spPr>
          <a:xfrm>
            <a:off x="13375704" y="5288234"/>
            <a:ext cx="3276871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80 / 20 by engine_id</a:t>
            </a:r>
          </a:p>
        </p:txBody>
      </p:sp>
      <p:sp>
        <p:nvSpPr>
          <p:cNvPr id="358" name="Shape 29"/>
          <p:cNvSpPr/>
          <p:nvPr/>
        </p:nvSpPr>
        <p:spPr>
          <a:xfrm>
            <a:off x="9782175" y="5721622"/>
            <a:ext cx="3383980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9" name="Shape 30"/>
          <p:cNvSpPr/>
          <p:nvPr/>
        </p:nvSpPr>
        <p:spPr>
          <a:xfrm>
            <a:off x="9782175" y="6277247"/>
            <a:ext cx="338398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0" name="Text 31"/>
          <p:cNvSpPr txBox="1"/>
          <p:nvPr/>
        </p:nvSpPr>
        <p:spPr>
          <a:xfrm>
            <a:off x="9991725" y="5854972"/>
            <a:ext cx="306640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Random seed</a:t>
            </a:r>
          </a:p>
        </p:txBody>
      </p:sp>
      <p:sp>
        <p:nvSpPr>
          <p:cNvPr id="361" name="Shape 32"/>
          <p:cNvSpPr/>
          <p:nvPr/>
        </p:nvSpPr>
        <p:spPr>
          <a:xfrm>
            <a:off x="13166154" y="5721622"/>
            <a:ext cx="3588322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2" name="Shape 33"/>
          <p:cNvSpPr/>
          <p:nvPr/>
        </p:nvSpPr>
        <p:spPr>
          <a:xfrm>
            <a:off x="13166154" y="6277247"/>
            <a:ext cx="3588322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3" name="Text 34"/>
          <p:cNvSpPr txBox="1"/>
          <p:nvPr/>
        </p:nvSpPr>
        <p:spPr>
          <a:xfrm>
            <a:off x="13375704" y="5854972"/>
            <a:ext cx="3276871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42</a:t>
            </a:r>
          </a:p>
        </p:txBody>
      </p:sp>
      <p:sp>
        <p:nvSpPr>
          <p:cNvPr id="364" name="Shape 35"/>
          <p:cNvSpPr/>
          <p:nvPr/>
        </p:nvSpPr>
        <p:spPr>
          <a:xfrm>
            <a:off x="9782175" y="6843985"/>
            <a:ext cx="338398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5" name="Text 36"/>
          <p:cNvSpPr txBox="1"/>
          <p:nvPr/>
        </p:nvSpPr>
        <p:spPr>
          <a:xfrm>
            <a:off x="9991725" y="6421709"/>
            <a:ext cx="306640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Rolling windows</a:t>
            </a:r>
          </a:p>
        </p:txBody>
      </p:sp>
      <p:sp>
        <p:nvSpPr>
          <p:cNvPr id="366" name="Shape 37"/>
          <p:cNvSpPr/>
          <p:nvPr/>
        </p:nvSpPr>
        <p:spPr>
          <a:xfrm>
            <a:off x="13166154" y="6843985"/>
            <a:ext cx="3588322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7" name="Text 38"/>
          <p:cNvSpPr txBox="1"/>
          <p:nvPr/>
        </p:nvSpPr>
        <p:spPr>
          <a:xfrm>
            <a:off x="13375704" y="6421709"/>
            <a:ext cx="3276871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5, 10 cycles (mean + std)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6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  <p:sp>
        <p:nvSpPr>
          <p:cNvPr id="1097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8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Evaluation Metrics</a:t>
            </a:r>
          </a:p>
        </p:txBody>
      </p:sp>
      <p:sp>
        <p:nvSpPr>
          <p:cNvPr id="1099" name="Shape 4"/>
          <p:cNvSpPr/>
          <p:nvPr/>
        </p:nvSpPr>
        <p:spPr>
          <a:xfrm>
            <a:off x="1143000" y="2478359"/>
            <a:ext cx="5079951" cy="3996632"/>
          </a:xfrm>
          <a:prstGeom prst="roundRect">
            <a:avLst>
              <a:gd name="adj" fmla="val 3813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0" name="Text 5"/>
          <p:cNvSpPr txBox="1"/>
          <p:nvPr/>
        </p:nvSpPr>
        <p:spPr>
          <a:xfrm>
            <a:off x="1469041" y="2868884"/>
            <a:ext cx="4427867" cy="709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77823">
              <a:defRPr sz="4320" b="1">
                <a:solidFill>
                  <a:srgbClr val="1F5FA6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RMSE</a:t>
            </a:r>
          </a:p>
        </p:txBody>
      </p:sp>
      <p:sp>
        <p:nvSpPr>
          <p:cNvPr id="1101" name="Shape 6"/>
          <p:cNvSpPr/>
          <p:nvPr/>
        </p:nvSpPr>
        <p:spPr>
          <a:xfrm>
            <a:off x="1533525" y="3692797"/>
            <a:ext cx="4298901" cy="814389"/>
          </a:xfrm>
          <a:prstGeom prst="roundRect">
            <a:avLst>
              <a:gd name="adj" fmla="val 14035"/>
            </a:avLst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2" name="Text 7"/>
          <p:cNvSpPr txBox="1"/>
          <p:nvPr/>
        </p:nvSpPr>
        <p:spPr>
          <a:xfrm>
            <a:off x="1850040" y="3959497"/>
            <a:ext cx="3665868" cy="319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1843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√(Σ(pred−true)²/n)</a:t>
            </a:r>
          </a:p>
        </p:txBody>
      </p:sp>
      <p:sp>
        <p:nvSpPr>
          <p:cNvPr id="1103" name="Text 8"/>
          <p:cNvSpPr txBox="1"/>
          <p:nvPr/>
        </p:nvSpPr>
        <p:spPr>
          <a:xfrm>
            <a:off x="1469041" y="4659584"/>
            <a:ext cx="4427867" cy="815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 algn="ctr">
              <a:lnSpc>
                <a:spcPct val="150000"/>
              </a:lnSpc>
              <a:defRPr sz="2000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Standard measure of prediction error in cycle units. Lower is better.</a:t>
            </a:r>
          </a:p>
        </p:txBody>
      </p:sp>
      <p:sp>
        <p:nvSpPr>
          <p:cNvPr id="1104" name="Shape 9"/>
          <p:cNvSpPr/>
          <p:nvPr/>
        </p:nvSpPr>
        <p:spPr>
          <a:xfrm>
            <a:off x="6603949" y="2478359"/>
            <a:ext cx="5080026" cy="3996632"/>
          </a:xfrm>
          <a:prstGeom prst="roundRect">
            <a:avLst>
              <a:gd name="adj" fmla="val 3813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5" name="Text 10"/>
          <p:cNvSpPr txBox="1"/>
          <p:nvPr/>
        </p:nvSpPr>
        <p:spPr>
          <a:xfrm>
            <a:off x="6929990" y="2868884"/>
            <a:ext cx="4427946" cy="709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77823">
              <a:defRPr sz="4320" b="1">
                <a:solidFill>
                  <a:srgbClr val="F0A50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NASA</a:t>
            </a:r>
          </a:p>
        </p:txBody>
      </p:sp>
      <p:sp>
        <p:nvSpPr>
          <p:cNvPr id="1106" name="Shape 11"/>
          <p:cNvSpPr/>
          <p:nvPr/>
        </p:nvSpPr>
        <p:spPr>
          <a:xfrm>
            <a:off x="6994474" y="3692797"/>
            <a:ext cx="4298976" cy="1081981"/>
          </a:xfrm>
          <a:prstGeom prst="roundRect">
            <a:avLst>
              <a:gd name="adj" fmla="val 7043"/>
            </a:avLst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7" name="Text 12"/>
          <p:cNvSpPr txBox="1"/>
          <p:nvPr/>
        </p:nvSpPr>
        <p:spPr>
          <a:xfrm>
            <a:off x="7082390" y="3845197"/>
            <a:ext cx="4123146" cy="81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>
              <a:lnSpc>
                <a:spcPct val="170000"/>
              </a:lnSpc>
              <a:defRPr>
                <a:solidFill>
                  <a:srgbClr val="FFFFFF"/>
                </a:solidFill>
                <a:latin typeface="monospace"/>
                <a:ea typeface="monospace"/>
                <a:cs typeface="monospace"/>
                <a:sym typeface="monospace"/>
              </a:defRPr>
            </a:lvl1pPr>
          </a:lstStyle>
          <a:p>
            <a:r>
              <a:t>late: e^(d/10)−1 early: e^(−d/13)−1</a:t>
            </a:r>
          </a:p>
        </p:txBody>
      </p:sp>
      <p:sp>
        <p:nvSpPr>
          <p:cNvPr id="1108" name="Text 13"/>
          <p:cNvSpPr txBox="1"/>
          <p:nvPr/>
        </p:nvSpPr>
        <p:spPr>
          <a:xfrm>
            <a:off x="6929990" y="4927177"/>
            <a:ext cx="4427946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algn="ctr" defTabSz="859536">
              <a:lnSpc>
                <a:spcPct val="150000"/>
              </a:lnSpc>
              <a:defRPr sz="1879" b="1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Asymmetric </a:t>
            </a:r>
            <a:r>
              <a:rPr b="0"/>
              <a:t>— late predictions penalised more than early. Reflects real safety cost of missing a failure.</a:t>
            </a:r>
          </a:p>
        </p:txBody>
      </p:sp>
      <p:sp>
        <p:nvSpPr>
          <p:cNvPr id="1109" name="Shape 14"/>
          <p:cNvSpPr/>
          <p:nvPr/>
        </p:nvSpPr>
        <p:spPr>
          <a:xfrm>
            <a:off x="12064975" y="2478359"/>
            <a:ext cx="5079951" cy="3996632"/>
          </a:xfrm>
          <a:prstGeom prst="roundRect">
            <a:avLst>
              <a:gd name="adj" fmla="val 3813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0" name="Text 15"/>
          <p:cNvSpPr txBox="1"/>
          <p:nvPr/>
        </p:nvSpPr>
        <p:spPr>
          <a:xfrm>
            <a:off x="12391017" y="2868884"/>
            <a:ext cx="4427868" cy="709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77823">
              <a:defRPr sz="4320" b="1">
                <a:solidFill>
                  <a:srgbClr val="27AE6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R²</a:t>
            </a:r>
          </a:p>
        </p:txBody>
      </p:sp>
      <p:sp>
        <p:nvSpPr>
          <p:cNvPr id="1111" name="Shape 16"/>
          <p:cNvSpPr/>
          <p:nvPr/>
        </p:nvSpPr>
        <p:spPr>
          <a:xfrm>
            <a:off x="12455500" y="3692797"/>
            <a:ext cx="4298901" cy="814389"/>
          </a:xfrm>
          <a:prstGeom prst="roundRect">
            <a:avLst>
              <a:gd name="adj" fmla="val 14035"/>
            </a:avLst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2" name="Text 17"/>
          <p:cNvSpPr txBox="1"/>
          <p:nvPr/>
        </p:nvSpPr>
        <p:spPr>
          <a:xfrm>
            <a:off x="12772017" y="3959497"/>
            <a:ext cx="3665868" cy="319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1843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1 − SS_res/SS_tot</a:t>
            </a:r>
          </a:p>
        </p:txBody>
      </p:sp>
      <p:sp>
        <p:nvSpPr>
          <p:cNvPr id="1113" name="Text 18"/>
          <p:cNvSpPr txBox="1"/>
          <p:nvPr/>
        </p:nvSpPr>
        <p:spPr>
          <a:xfrm>
            <a:off x="12391017" y="4659584"/>
            <a:ext cx="4427868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algn="ctr" defTabSz="859536">
              <a:lnSpc>
                <a:spcPct val="150000"/>
              </a:lnSpc>
              <a:defRPr sz="1879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Proportion of variance explained. 1.0 = perfect; &lt;0 = worse than predicting the mean.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Text 0"/>
          <p:cNvSpPr txBox="1"/>
          <p:nvPr/>
        </p:nvSpPr>
        <p:spPr>
          <a:xfrm>
            <a:off x="8613948" y="4156695"/>
            <a:ext cx="106002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algn="ctr" defTabSz="886968">
              <a:defRPr sz="1746" b="1" spc="291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PART </a:t>
            </a:r>
            <a:r>
              <a:rPr lang="en-IN" dirty="0" smtClean="0"/>
              <a:t>3</a:t>
            </a:r>
            <a:endParaRPr dirty="0"/>
          </a:p>
        </p:txBody>
      </p:sp>
      <p:sp>
        <p:nvSpPr>
          <p:cNvPr id="496" name="Text 1"/>
          <p:cNvSpPr txBox="1"/>
          <p:nvPr/>
        </p:nvSpPr>
        <p:spPr>
          <a:xfrm>
            <a:off x="5131020" y="4690095"/>
            <a:ext cx="8025884" cy="792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22959">
              <a:lnSpc>
                <a:spcPct val="110000"/>
              </a:lnSpc>
              <a:defRPr sz="486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Building the Health Index</a:t>
            </a:r>
          </a:p>
        </p:txBody>
      </p:sp>
      <p:sp>
        <p:nvSpPr>
          <p:cNvPr id="497" name="Text 2"/>
          <p:cNvSpPr txBox="1"/>
          <p:nvPr/>
        </p:nvSpPr>
        <p:spPr>
          <a:xfrm>
            <a:off x="5422660" y="5749230"/>
            <a:ext cx="744268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77823">
              <a:defRPr sz="2400">
                <a:solidFill>
                  <a:srgbClr val="FFFFFF">
                    <a:alpha val="64999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Compressing 14 sensors into one degradation signal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0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HEALTH INDEX</a:t>
            </a:r>
          </a:p>
        </p:txBody>
      </p:sp>
      <p:sp>
        <p:nvSpPr>
          <p:cNvPr id="501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2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Why We Need a Health Index</a:t>
            </a:r>
          </a:p>
        </p:txBody>
      </p:sp>
      <p:sp>
        <p:nvSpPr>
          <p:cNvPr id="503" name="Text 4"/>
          <p:cNvSpPr txBox="1"/>
          <p:nvPr/>
        </p:nvSpPr>
        <p:spPr>
          <a:xfrm>
            <a:off x="1562100" y="2478359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ARIMA is </a:t>
            </a:r>
            <a:r>
              <a:rPr b="1" dirty="0" smtClean="0">
                <a:solidFill>
                  <a:srgbClr val="12294A"/>
                </a:solidFill>
              </a:rPr>
              <a:t>univariate</a:t>
            </a:r>
            <a:endParaRPr dirty="0"/>
          </a:p>
        </p:txBody>
      </p:sp>
      <p:sp>
        <p:nvSpPr>
          <p:cNvPr id="504" name="Text 5"/>
          <p:cNvSpPr txBox="1"/>
          <p:nvPr/>
        </p:nvSpPr>
        <p:spPr>
          <a:xfrm>
            <a:off x="1562100" y="3287985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We have 14 sensor columns per </a:t>
            </a:r>
            <a:r>
              <a:rPr dirty="0" smtClean="0"/>
              <a:t>row</a:t>
            </a:r>
            <a:endParaRPr dirty="0"/>
          </a:p>
        </p:txBody>
      </p:sp>
      <p:sp>
        <p:nvSpPr>
          <p:cNvPr id="505" name="Text 6"/>
          <p:cNvSpPr txBox="1"/>
          <p:nvPr/>
        </p:nvSpPr>
        <p:spPr>
          <a:xfrm>
            <a:off x="1562100" y="4177531"/>
            <a:ext cx="7566850" cy="1318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Need one number that: starts near baseline when healthy, increases monotonically with degradation, and is comparable across all engines</a:t>
            </a:r>
          </a:p>
        </p:txBody>
      </p:sp>
      <p:sp>
        <p:nvSpPr>
          <p:cNvPr id="506" name="Text 7"/>
          <p:cNvSpPr txBox="1"/>
          <p:nvPr/>
        </p:nvSpPr>
        <p:spPr>
          <a:xfrm>
            <a:off x="1562100" y="566715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  <p:sp>
        <p:nvSpPr>
          <p:cNvPr id="507" name="Shape 8"/>
          <p:cNvSpPr/>
          <p:nvPr/>
        </p:nvSpPr>
        <p:spPr>
          <a:xfrm>
            <a:off x="9391650" y="2478359"/>
            <a:ext cx="7753350" cy="2490790"/>
          </a:xfrm>
          <a:prstGeom prst="roundRect">
            <a:avLst>
              <a:gd name="adj" fmla="val 6119"/>
            </a:avLst>
          </a:prstGeom>
          <a:solidFill>
            <a:srgbClr val="12294A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8" name="Text 9"/>
          <p:cNvSpPr txBox="1"/>
          <p:nvPr/>
        </p:nvSpPr>
        <p:spPr>
          <a:xfrm>
            <a:off x="9782175" y="2868884"/>
            <a:ext cx="718146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F0A50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The Goal</a:t>
            </a:r>
          </a:p>
        </p:txBody>
      </p:sp>
      <p:sp>
        <p:nvSpPr>
          <p:cNvPr id="509" name="Text 10"/>
          <p:cNvSpPr txBox="1"/>
          <p:nvPr/>
        </p:nvSpPr>
        <p:spPr>
          <a:xfrm>
            <a:off x="9782175" y="3421334"/>
            <a:ext cx="7181468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defTabSz="859536">
              <a:lnSpc>
                <a:spcPct val="150000"/>
              </a:lnSpc>
              <a:defRPr sz="1879">
                <a:solidFill>
                  <a:srgbClr val="FFFFFF">
                    <a:alpha val="75000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A single scalar that starts low (~−1) when healthy and rises monotonically toward ~3–4 at failure — for any engine, any operating condition</a:t>
            </a:r>
          </a:p>
        </p:txBody>
      </p:sp>
      <p:sp>
        <p:nvSpPr>
          <p:cNvPr id="510" name="Shape 11"/>
          <p:cNvSpPr/>
          <p:nvPr/>
        </p:nvSpPr>
        <p:spPr>
          <a:xfrm>
            <a:off x="9391650" y="5235847"/>
            <a:ext cx="7753350" cy="2490789"/>
          </a:xfrm>
          <a:prstGeom prst="roundRect">
            <a:avLst>
              <a:gd name="adj" fmla="val 6119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1" name="Text 12"/>
          <p:cNvSpPr txBox="1"/>
          <p:nvPr/>
        </p:nvSpPr>
        <p:spPr>
          <a:xfrm>
            <a:off x="9782175" y="5626372"/>
            <a:ext cx="718146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Why simple averaging fails</a:t>
            </a:r>
          </a:p>
        </p:txBody>
      </p:sp>
      <p:sp>
        <p:nvSpPr>
          <p:cNvPr id="512" name="Text 13"/>
          <p:cNvSpPr txBox="1"/>
          <p:nvPr/>
        </p:nvSpPr>
        <p:spPr>
          <a:xfrm>
            <a:off x="9782175" y="6178822"/>
            <a:ext cx="7181468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50000"/>
              </a:lnSpc>
              <a:defRPr sz="1879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Different sensors move in opposite directions — s3 rises, s7 falls. Averaging cancels the signal. Picking one sensor misses the second failure mode.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5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HEALTH INDEX</a:t>
            </a:r>
          </a:p>
        </p:txBody>
      </p:sp>
      <p:sp>
        <p:nvSpPr>
          <p:cNvPr id="516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7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PCA: The Right Tool</a:t>
            </a:r>
          </a:p>
        </p:txBody>
      </p:sp>
      <p:sp>
        <p:nvSpPr>
          <p:cNvPr id="518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PCA finds the direction in 14-dimensional sensor space where </a:t>
            </a:r>
            <a:r>
              <a:rPr b="1">
                <a:solidFill>
                  <a:srgbClr val="12294A"/>
                </a:solidFill>
              </a:rPr>
              <a:t>data varies the most</a:t>
            </a:r>
          </a:p>
        </p:txBody>
      </p:sp>
      <p:sp>
        <p:nvSpPr>
          <p:cNvPr id="519" name="Text 5"/>
          <p:cNvSpPr txBox="1"/>
          <p:nvPr/>
        </p:nvSpPr>
        <p:spPr>
          <a:xfrm>
            <a:off x="1562100" y="354129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Since degradation drives the dominant variation, </a:t>
            </a:r>
            <a:r>
              <a:rPr b="1">
                <a:solidFill>
                  <a:srgbClr val="12294A"/>
                </a:solidFill>
              </a:rPr>
              <a:t>PC1 captures degradation </a:t>
            </a:r>
            <a:r>
              <a:t>better than any single sensor</a:t>
            </a:r>
          </a:p>
        </p:txBody>
      </p:sp>
      <p:sp>
        <p:nvSpPr>
          <p:cNvPr id="520" name="Text 6"/>
          <p:cNvSpPr txBox="1"/>
          <p:nvPr/>
        </p:nvSpPr>
        <p:spPr>
          <a:xfrm>
            <a:off x="1562100" y="4604220"/>
            <a:ext cx="7566850" cy="1318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FD004 subtlety: operating condition switching causes large sensor jumps — PCA would capture </a:t>
            </a:r>
            <a:r>
              <a:rPr i="1"/>
              <a:t>condition </a:t>
            </a:r>
            <a:r>
              <a:t>, not degradation</a:t>
            </a:r>
          </a:p>
        </p:txBody>
      </p:sp>
      <p:sp>
        <p:nvSpPr>
          <p:cNvPr id="521" name="Text 7"/>
          <p:cNvSpPr txBox="1"/>
          <p:nvPr/>
        </p:nvSpPr>
        <p:spPr>
          <a:xfrm>
            <a:off x="1562100" y="6093841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Fix: </a:t>
            </a:r>
            <a:r>
              <a:rPr b="0">
                <a:solidFill>
                  <a:srgbClr val="1C3150"/>
                </a:solidFill>
              </a:rPr>
              <a:t>subtract per-cluster mean from each sensor </a:t>
            </a:r>
            <a:r>
              <a:rPr b="0" i="1">
                <a:solidFill>
                  <a:srgbClr val="1C3150"/>
                </a:solidFill>
              </a:rPr>
              <a:t>before </a:t>
            </a:r>
            <a:r>
              <a:rPr b="0">
                <a:solidFill>
                  <a:srgbClr val="1C3150"/>
                </a:solidFill>
              </a:rPr>
              <a:t>running PCA</a:t>
            </a:r>
          </a:p>
        </p:txBody>
      </p:sp>
      <p:sp>
        <p:nvSpPr>
          <p:cNvPr id="522" name="Shape 8"/>
          <p:cNvSpPr/>
          <p:nvPr/>
        </p:nvSpPr>
        <p:spPr>
          <a:xfrm>
            <a:off x="9391650" y="2478359"/>
            <a:ext cx="7753350" cy="2490790"/>
          </a:xfrm>
          <a:prstGeom prst="roundRect">
            <a:avLst>
              <a:gd name="adj" fmla="val 611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3" name="Shape 9"/>
          <p:cNvSpPr/>
          <p:nvPr/>
        </p:nvSpPr>
        <p:spPr>
          <a:xfrm>
            <a:off x="9391650" y="4958035"/>
            <a:ext cx="775335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4" name="Shape 10"/>
          <p:cNvSpPr/>
          <p:nvPr/>
        </p:nvSpPr>
        <p:spPr>
          <a:xfrm>
            <a:off x="9391650" y="2476772"/>
            <a:ext cx="775335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5" name="Shape 11"/>
          <p:cNvSpPr/>
          <p:nvPr/>
        </p:nvSpPr>
        <p:spPr>
          <a:xfrm>
            <a:off x="9391650" y="2478359"/>
            <a:ext cx="57150" cy="249079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6" name="Shape 12"/>
          <p:cNvSpPr/>
          <p:nvPr/>
        </p:nvSpPr>
        <p:spPr>
          <a:xfrm>
            <a:off x="17133887" y="2478359"/>
            <a:ext cx="12701" cy="2490790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7" name="Text 13"/>
          <p:cNvSpPr txBox="1"/>
          <p:nvPr/>
        </p:nvSpPr>
        <p:spPr>
          <a:xfrm>
            <a:off x="9829800" y="2868884"/>
            <a:ext cx="7132416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The Critical Step for FD004</a:t>
            </a:r>
          </a:p>
        </p:txBody>
      </p:sp>
      <p:sp>
        <p:nvSpPr>
          <p:cNvPr id="528" name="Text 14"/>
          <p:cNvSpPr txBox="1"/>
          <p:nvPr/>
        </p:nvSpPr>
        <p:spPr>
          <a:xfrm>
            <a:off x="9829800" y="3421334"/>
            <a:ext cx="7132416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50000"/>
              </a:lnSpc>
              <a:defRPr sz="1879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Subtract the per-cluster mean from each sensor before PCA. This removes the altitude/speed baseline. PCA then finds only the degradation direction in the residual.</a:t>
            </a:r>
          </a:p>
        </p:txBody>
      </p:sp>
      <p:sp>
        <p:nvSpPr>
          <p:cNvPr id="529" name="Shape 15"/>
          <p:cNvSpPr/>
          <p:nvPr/>
        </p:nvSpPr>
        <p:spPr>
          <a:xfrm>
            <a:off x="9391650" y="5197747"/>
            <a:ext cx="7753350" cy="1657351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0" name="Shape 16"/>
          <p:cNvSpPr/>
          <p:nvPr/>
        </p:nvSpPr>
        <p:spPr>
          <a:xfrm>
            <a:off x="9391650" y="5197747"/>
            <a:ext cx="57150" cy="1657351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1" name="Text 17"/>
          <p:cNvSpPr txBox="1"/>
          <p:nvPr/>
        </p:nvSpPr>
        <p:spPr>
          <a:xfrm>
            <a:off x="9753600" y="5426347"/>
            <a:ext cx="7319202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0391">
              <a:lnSpc>
                <a:spcPct val="150000"/>
              </a:lnSpc>
              <a:defRPr sz="1953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After detrending: a healthy engine deviates near </a:t>
            </a:r>
            <a:r>
              <a:rPr b="1"/>
              <a:t>zero </a:t>
            </a:r>
            <a:r>
              <a:t>from its cluster's mean — in any condition. Degradation = increasing deviation from this zero baseline.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4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HEALTH INDEX</a:t>
            </a:r>
          </a:p>
        </p:txBody>
      </p:sp>
      <p:sp>
        <p:nvSpPr>
          <p:cNvPr id="535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6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Health Index: Step-by-Step</a:t>
            </a:r>
          </a:p>
        </p:txBody>
      </p:sp>
      <p:sp>
        <p:nvSpPr>
          <p:cNvPr id="537" name="Shape 4"/>
          <p:cNvSpPr/>
          <p:nvPr/>
        </p:nvSpPr>
        <p:spPr>
          <a:xfrm>
            <a:off x="1143000" y="2478359"/>
            <a:ext cx="16002000" cy="1123951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8" name="Shape 5"/>
          <p:cNvSpPr/>
          <p:nvPr/>
        </p:nvSpPr>
        <p:spPr>
          <a:xfrm>
            <a:off x="1457325" y="2754584"/>
            <a:ext cx="571500" cy="5715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9" name="Text 6"/>
          <p:cNvSpPr txBox="1"/>
          <p:nvPr/>
        </p:nvSpPr>
        <p:spPr>
          <a:xfrm>
            <a:off x="1419225" y="2754584"/>
            <a:ext cx="6477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2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</a:t>
            </a:r>
          </a:p>
        </p:txBody>
      </p:sp>
      <p:sp>
        <p:nvSpPr>
          <p:cNvPr id="540" name="Text 7"/>
          <p:cNvSpPr txBox="1"/>
          <p:nvPr/>
        </p:nvSpPr>
        <p:spPr>
          <a:xfrm>
            <a:off x="2257425" y="2883173"/>
            <a:ext cx="14568428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868680">
              <a:defRPr sz="199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Rolling Mean Smoothing </a:t>
            </a:r>
            <a:r>
              <a:rPr b="0"/>
              <a:t>— replace each sensor with its 10-cycle rolling mean per engine (removes measurement noise)</a:t>
            </a:r>
          </a:p>
        </p:txBody>
      </p:sp>
      <p:sp>
        <p:nvSpPr>
          <p:cNvPr id="541" name="Shape 8"/>
          <p:cNvSpPr/>
          <p:nvPr/>
        </p:nvSpPr>
        <p:spPr>
          <a:xfrm>
            <a:off x="1143000" y="3735659"/>
            <a:ext cx="16002000" cy="1123951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2" name="Shape 9"/>
          <p:cNvSpPr/>
          <p:nvPr/>
        </p:nvSpPr>
        <p:spPr>
          <a:xfrm>
            <a:off x="1457325" y="4011884"/>
            <a:ext cx="571500" cy="5715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3" name="Text 10"/>
          <p:cNvSpPr txBox="1"/>
          <p:nvPr/>
        </p:nvSpPr>
        <p:spPr>
          <a:xfrm>
            <a:off x="1419225" y="4011884"/>
            <a:ext cx="6477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2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</a:t>
            </a:r>
          </a:p>
        </p:txBody>
      </p:sp>
      <p:sp>
        <p:nvSpPr>
          <p:cNvPr id="544" name="Text 11"/>
          <p:cNvSpPr txBox="1"/>
          <p:nvPr/>
        </p:nvSpPr>
        <p:spPr>
          <a:xfrm>
            <a:off x="2257424" y="4140472"/>
            <a:ext cx="13145641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868680">
              <a:defRPr sz="199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Per-Cluster Mean Detrending </a:t>
            </a:r>
            <a:r>
              <a:rPr b="0"/>
              <a:t>— subtract each cluster's sensor mean; removes operating condition baseline</a:t>
            </a:r>
          </a:p>
        </p:txBody>
      </p:sp>
      <p:sp>
        <p:nvSpPr>
          <p:cNvPr id="545" name="Shape 12"/>
          <p:cNvSpPr/>
          <p:nvPr/>
        </p:nvSpPr>
        <p:spPr>
          <a:xfrm>
            <a:off x="1143000" y="4992959"/>
            <a:ext cx="16002000" cy="1123951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6" name="Shape 13"/>
          <p:cNvSpPr/>
          <p:nvPr/>
        </p:nvSpPr>
        <p:spPr>
          <a:xfrm>
            <a:off x="1457325" y="5269184"/>
            <a:ext cx="571500" cy="5715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7" name="Text 14"/>
          <p:cNvSpPr txBox="1"/>
          <p:nvPr/>
        </p:nvSpPr>
        <p:spPr>
          <a:xfrm>
            <a:off x="1419225" y="5269184"/>
            <a:ext cx="6477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2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3</a:t>
            </a:r>
          </a:p>
        </p:txBody>
      </p:sp>
      <p:sp>
        <p:nvSpPr>
          <p:cNvPr id="548" name="Text 15"/>
          <p:cNvSpPr txBox="1"/>
          <p:nvPr/>
        </p:nvSpPr>
        <p:spPr>
          <a:xfrm>
            <a:off x="2257424" y="5397772"/>
            <a:ext cx="11850775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868680">
              <a:defRPr sz="199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Global PCA on Detrended Sensors </a:t>
            </a:r>
            <a:r>
              <a:rPr b="0"/>
              <a:t>— first principal component (PC1) is the degradation direction</a:t>
            </a:r>
          </a:p>
        </p:txBody>
      </p:sp>
      <p:sp>
        <p:nvSpPr>
          <p:cNvPr id="549" name="Shape 16"/>
          <p:cNvSpPr/>
          <p:nvPr/>
        </p:nvSpPr>
        <p:spPr>
          <a:xfrm>
            <a:off x="1143000" y="6250259"/>
            <a:ext cx="16002000" cy="1123951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0" name="Shape 17"/>
          <p:cNvSpPr/>
          <p:nvPr/>
        </p:nvSpPr>
        <p:spPr>
          <a:xfrm>
            <a:off x="1457325" y="6526485"/>
            <a:ext cx="571500" cy="5715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1" name="Text 18"/>
          <p:cNvSpPr txBox="1"/>
          <p:nvPr/>
        </p:nvSpPr>
        <p:spPr>
          <a:xfrm>
            <a:off x="1419225" y="6526485"/>
            <a:ext cx="6477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2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4</a:t>
            </a:r>
          </a:p>
        </p:txBody>
      </p:sp>
      <p:sp>
        <p:nvSpPr>
          <p:cNvPr id="552" name="Text 19"/>
          <p:cNvSpPr txBox="1"/>
          <p:nvPr/>
        </p:nvSpPr>
        <p:spPr>
          <a:xfrm>
            <a:off x="2257424" y="6655072"/>
            <a:ext cx="12505949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868680">
              <a:defRPr sz="199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Sign Flip </a:t>
            </a:r>
            <a:r>
              <a:rPr b="0"/>
              <a:t>— if PC1 is negatively correlated with −RUL, multiply by −1 so higher = more degraded. Always.</a:t>
            </a:r>
          </a:p>
        </p:txBody>
      </p:sp>
      <p:sp>
        <p:nvSpPr>
          <p:cNvPr id="553" name="Shape 20"/>
          <p:cNvSpPr/>
          <p:nvPr/>
        </p:nvSpPr>
        <p:spPr>
          <a:xfrm>
            <a:off x="1143000" y="7507560"/>
            <a:ext cx="16002000" cy="1123951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4" name="Shape 21"/>
          <p:cNvSpPr/>
          <p:nvPr/>
        </p:nvSpPr>
        <p:spPr>
          <a:xfrm>
            <a:off x="1457325" y="7783785"/>
            <a:ext cx="571500" cy="5715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5" name="Text 22"/>
          <p:cNvSpPr txBox="1"/>
          <p:nvPr/>
        </p:nvSpPr>
        <p:spPr>
          <a:xfrm>
            <a:off x="1419225" y="7783785"/>
            <a:ext cx="6477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2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5</a:t>
            </a:r>
          </a:p>
        </p:txBody>
      </p:sp>
      <p:sp>
        <p:nvSpPr>
          <p:cNvPr id="556" name="Text 23"/>
          <p:cNvSpPr txBox="1"/>
          <p:nvPr/>
        </p:nvSpPr>
        <p:spPr>
          <a:xfrm>
            <a:off x="2257425" y="7912372"/>
            <a:ext cx="12490695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868680">
              <a:defRPr sz="199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Standardisation </a:t>
            </a:r>
            <a:r>
              <a:rPr b="0"/>
              <a:t>— normalise using training mean/std only (no leakage); healthy ≈ −1, near failure ≈ 3–4</a:t>
            </a:r>
          </a:p>
        </p:txBody>
      </p:sp>
      <p:sp>
        <p:nvSpPr>
          <p:cNvPr id="557" name="Shape 24"/>
          <p:cNvSpPr/>
          <p:nvPr/>
        </p:nvSpPr>
        <p:spPr>
          <a:xfrm>
            <a:off x="1143000" y="8764860"/>
            <a:ext cx="16002000" cy="1123951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8" name="Shape 25"/>
          <p:cNvSpPr/>
          <p:nvPr/>
        </p:nvSpPr>
        <p:spPr>
          <a:xfrm>
            <a:off x="1457325" y="9041085"/>
            <a:ext cx="571500" cy="571501"/>
          </a:xfrm>
          <a:prstGeom prst="ellipse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9" name="Text 26"/>
          <p:cNvSpPr txBox="1"/>
          <p:nvPr/>
        </p:nvSpPr>
        <p:spPr>
          <a:xfrm>
            <a:off x="1419225" y="9041085"/>
            <a:ext cx="6477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2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6</a:t>
            </a:r>
          </a:p>
        </p:txBody>
      </p:sp>
      <p:sp>
        <p:nvSpPr>
          <p:cNvPr id="560" name="Text 27"/>
          <p:cNvSpPr txBox="1"/>
          <p:nvPr/>
        </p:nvSpPr>
        <p:spPr>
          <a:xfrm>
            <a:off x="2257425" y="9169672"/>
            <a:ext cx="12207486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868680">
              <a:defRPr sz="199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Isotonic Regression </a:t>
            </a:r>
            <a:r>
              <a:rPr b="0"/>
              <a:t>— enforce monotonic non-decrease (physical reality: engines do not self-repair)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3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HEALTH INDEX</a:t>
            </a:r>
          </a:p>
        </p:txBody>
      </p:sp>
      <p:sp>
        <p:nvSpPr>
          <p:cNvPr id="564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5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Health Index in Action — Three Engines</a:t>
            </a:r>
          </a:p>
        </p:txBody>
      </p:sp>
      <p:sp>
        <p:nvSpPr>
          <p:cNvPr id="566" name="Shape 4"/>
          <p:cNvSpPr/>
          <p:nvPr/>
        </p:nvSpPr>
        <p:spPr>
          <a:xfrm>
            <a:off x="952500" y="2114550"/>
            <a:ext cx="105537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7" name="Text 5"/>
          <p:cNvSpPr txBox="1"/>
          <p:nvPr/>
        </p:nvSpPr>
        <p:spPr>
          <a:xfrm>
            <a:off x="12420600" y="2909888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All engines start near </a:t>
            </a:r>
            <a:r>
              <a:rPr b="1">
                <a:solidFill>
                  <a:srgbClr val="12294A"/>
                </a:solidFill>
              </a:rPr>
              <a:t>−1.0 </a:t>
            </a:r>
            <a:r>
              <a:t>(healthy baseline)</a:t>
            </a:r>
          </a:p>
        </p:txBody>
      </p:sp>
      <p:sp>
        <p:nvSpPr>
          <p:cNvPr id="568" name="Text 6"/>
          <p:cNvSpPr txBox="1"/>
          <p:nvPr/>
        </p:nvSpPr>
        <p:spPr>
          <a:xfrm>
            <a:off x="12420600" y="3862387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All engines end at </a:t>
            </a:r>
            <a:r>
              <a:rPr b="1">
                <a:solidFill>
                  <a:srgbClr val="12294A"/>
                </a:solidFill>
              </a:rPr>
              <a:t>2.0–3.5 </a:t>
            </a:r>
            <a:r>
              <a:t>(severely degraded, near failure)</a:t>
            </a:r>
          </a:p>
        </p:txBody>
      </p:sp>
      <p:sp>
        <p:nvSpPr>
          <p:cNvPr id="569" name="Text 7"/>
          <p:cNvSpPr txBox="1"/>
          <p:nvPr/>
        </p:nvSpPr>
        <p:spPr>
          <a:xfrm>
            <a:off x="12420600" y="4814887"/>
            <a:ext cx="5074921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Shape: long flat healthy phase → steep acceleration near failure</a:t>
            </a:r>
          </a:p>
        </p:txBody>
      </p:sp>
      <p:sp>
        <p:nvSpPr>
          <p:cNvPr id="570" name="Text 8"/>
          <p:cNvSpPr txBox="1"/>
          <p:nvPr/>
        </p:nvSpPr>
        <p:spPr>
          <a:xfrm>
            <a:off x="12420600" y="5767387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Engine lifespans: 305–325 cycles — each engine is unique</a:t>
            </a:r>
          </a:p>
        </p:txBody>
      </p:sp>
      <p:sp>
        <p:nvSpPr>
          <p:cNvPr id="571" name="Text 9"/>
          <p:cNvSpPr txBox="1"/>
          <p:nvPr/>
        </p:nvSpPr>
        <p:spPr>
          <a:xfrm>
            <a:off x="12420600" y="6719888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Monotonic rise confirmed — isotonic regression worked correctly</a:t>
            </a:r>
          </a:p>
        </p:txBody>
      </p:sp>
      <p:sp>
        <p:nvSpPr>
          <p:cNvPr id="572" name="Shape 10"/>
          <p:cNvSpPr/>
          <p:nvPr/>
        </p:nvSpPr>
        <p:spPr>
          <a:xfrm>
            <a:off x="12001500" y="7748588"/>
            <a:ext cx="5334000" cy="1171576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3" name="Shape 11"/>
          <p:cNvSpPr/>
          <p:nvPr/>
        </p:nvSpPr>
        <p:spPr>
          <a:xfrm>
            <a:off x="12001500" y="7761288"/>
            <a:ext cx="57150" cy="1171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4" name="Text 12"/>
          <p:cNvSpPr txBox="1"/>
          <p:nvPr/>
        </p:nvSpPr>
        <p:spPr>
          <a:xfrm>
            <a:off x="12363450" y="7977188"/>
            <a:ext cx="4827271" cy="752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50000"/>
              </a:lnSpc>
              <a:defRPr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Health index range: [−1.597, 4.402] · Failure threshold = </a:t>
            </a:r>
            <a:r>
              <a:rPr b="1"/>
              <a:t>1.685</a:t>
            </a:r>
          </a:p>
        </p:txBody>
      </p:sp>
      <p:pic>
        <p:nvPicPr>
          <p:cNvPr id="575" name="pasted-movie.png" descr="pasted-movie.png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1065" y="2219325"/>
            <a:ext cx="10000896" cy="7391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8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HEALTH INDEX</a:t>
            </a:r>
          </a:p>
        </p:txBody>
      </p:sp>
      <p:sp>
        <p:nvSpPr>
          <p:cNvPr id="579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0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Failure Threshold Selection</a:t>
            </a:r>
          </a:p>
        </p:txBody>
      </p:sp>
      <p:sp>
        <p:nvSpPr>
          <p:cNvPr id="581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Threshold = value below which 95% of near-failure rows lie</a:t>
            </a:r>
          </a:p>
        </p:txBody>
      </p:sp>
      <p:sp>
        <p:nvSpPr>
          <p:cNvPr id="582" name="Text 5"/>
          <p:cNvSpPr txBox="1"/>
          <p:nvPr/>
        </p:nvSpPr>
        <p:spPr>
          <a:xfrm>
            <a:off x="1562100" y="3541290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Near-failure defined as </a:t>
            </a:r>
            <a:r>
              <a:rPr b="1">
                <a:solidFill>
                  <a:srgbClr val="12294A"/>
                </a:solidFill>
              </a:rPr>
              <a:t>RUL ≤ 5 cycles</a:t>
            </a:r>
          </a:p>
        </p:txBody>
      </p:sp>
      <p:sp>
        <p:nvSpPr>
          <p:cNvPr id="583" name="Text 6"/>
          <p:cNvSpPr txBox="1"/>
          <p:nvPr/>
        </p:nvSpPr>
        <p:spPr>
          <a:xfrm>
            <a:off x="1562100" y="4177531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Chosen threshold (q=0.05): </a:t>
            </a:r>
            <a:r>
              <a:rPr b="1">
                <a:solidFill>
                  <a:srgbClr val="12294A"/>
                </a:solidFill>
              </a:rPr>
              <a:t>1.685</a:t>
            </a:r>
          </a:p>
        </p:txBody>
      </p:sp>
      <p:sp>
        <p:nvSpPr>
          <p:cNvPr id="584" name="Text 7"/>
          <p:cNvSpPr txBox="1"/>
          <p:nvPr/>
        </p:nvSpPr>
        <p:spPr>
          <a:xfrm>
            <a:off x="1562100" y="481377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Only </a:t>
            </a:r>
            <a:r>
              <a:rPr b="1">
                <a:solidFill>
                  <a:srgbClr val="12294A"/>
                </a:solidFill>
              </a:rPr>
              <a:t>22 of 248 test engines </a:t>
            </a:r>
            <a:r>
              <a:t>(9%) ever reach it in observed history — most are truncated early</a:t>
            </a:r>
          </a:p>
        </p:txBody>
      </p:sp>
      <p:sp>
        <p:nvSpPr>
          <p:cNvPr id="585" name="Text 8"/>
          <p:cNvSpPr txBox="1"/>
          <p:nvPr/>
        </p:nvSpPr>
        <p:spPr>
          <a:xfrm>
            <a:off x="1562100" y="587670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This is why a </a:t>
            </a:r>
            <a:r>
              <a:rPr b="1">
                <a:solidFill>
                  <a:srgbClr val="12294A"/>
                </a:solidFill>
              </a:rPr>
              <a:t>fallback mechanism </a:t>
            </a:r>
            <a:r>
              <a:t>is required for 91% of engines</a:t>
            </a:r>
          </a:p>
        </p:txBody>
      </p:sp>
      <p:sp>
        <p:nvSpPr>
          <p:cNvPr id="586" name="Shape 9"/>
          <p:cNvSpPr/>
          <p:nvPr/>
        </p:nvSpPr>
        <p:spPr>
          <a:xfrm>
            <a:off x="9391650" y="2478359"/>
            <a:ext cx="1988567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7" name="Text 10"/>
          <p:cNvSpPr txBox="1"/>
          <p:nvPr/>
        </p:nvSpPr>
        <p:spPr>
          <a:xfrm>
            <a:off x="9601200" y="2630759"/>
            <a:ext cx="164566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Quantile</a:t>
            </a:r>
          </a:p>
        </p:txBody>
      </p:sp>
      <p:sp>
        <p:nvSpPr>
          <p:cNvPr id="588" name="Shape 11"/>
          <p:cNvSpPr/>
          <p:nvPr/>
        </p:nvSpPr>
        <p:spPr>
          <a:xfrm>
            <a:off x="11380216" y="2478359"/>
            <a:ext cx="2048993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9" name="Text 12"/>
          <p:cNvSpPr txBox="1"/>
          <p:nvPr/>
        </p:nvSpPr>
        <p:spPr>
          <a:xfrm>
            <a:off x="11589766" y="2630759"/>
            <a:ext cx="1706093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Threshold</a:t>
            </a:r>
          </a:p>
        </p:txBody>
      </p:sp>
      <p:sp>
        <p:nvSpPr>
          <p:cNvPr id="590" name="Shape 13"/>
          <p:cNvSpPr/>
          <p:nvPr/>
        </p:nvSpPr>
        <p:spPr>
          <a:xfrm>
            <a:off x="13429208" y="2478359"/>
            <a:ext cx="3715793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1" name="Text 14"/>
          <p:cNvSpPr txBox="1"/>
          <p:nvPr/>
        </p:nvSpPr>
        <p:spPr>
          <a:xfrm>
            <a:off x="13638758" y="2630759"/>
            <a:ext cx="340816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Test engines reached</a:t>
            </a:r>
          </a:p>
        </p:txBody>
      </p:sp>
      <p:sp>
        <p:nvSpPr>
          <p:cNvPr id="592" name="Shape 15"/>
          <p:cNvSpPr/>
          <p:nvPr/>
        </p:nvSpPr>
        <p:spPr>
          <a:xfrm>
            <a:off x="9391650" y="3634060"/>
            <a:ext cx="198856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3" name="Text 16"/>
          <p:cNvSpPr txBox="1"/>
          <p:nvPr/>
        </p:nvSpPr>
        <p:spPr>
          <a:xfrm>
            <a:off x="9601200" y="3216548"/>
            <a:ext cx="1645667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68680">
              <a:defRPr sz="1804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q=0.05 ✓</a:t>
            </a:r>
          </a:p>
        </p:txBody>
      </p:sp>
      <p:sp>
        <p:nvSpPr>
          <p:cNvPr id="594" name="Shape 17"/>
          <p:cNvSpPr/>
          <p:nvPr/>
        </p:nvSpPr>
        <p:spPr>
          <a:xfrm>
            <a:off x="11380216" y="3634060"/>
            <a:ext cx="204899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5" name="Text 18"/>
          <p:cNvSpPr txBox="1"/>
          <p:nvPr/>
        </p:nvSpPr>
        <p:spPr>
          <a:xfrm>
            <a:off x="11589766" y="3216548"/>
            <a:ext cx="1706093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1.685</a:t>
            </a:r>
          </a:p>
        </p:txBody>
      </p:sp>
      <p:sp>
        <p:nvSpPr>
          <p:cNvPr id="596" name="Shape 19"/>
          <p:cNvSpPr/>
          <p:nvPr/>
        </p:nvSpPr>
        <p:spPr>
          <a:xfrm>
            <a:off x="13429208" y="3634060"/>
            <a:ext cx="371579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7" name="Text 20"/>
          <p:cNvSpPr txBox="1"/>
          <p:nvPr/>
        </p:nvSpPr>
        <p:spPr>
          <a:xfrm>
            <a:off x="13638758" y="3216548"/>
            <a:ext cx="3408167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22 / 248 (9%)</a:t>
            </a:r>
          </a:p>
        </p:txBody>
      </p:sp>
      <p:sp>
        <p:nvSpPr>
          <p:cNvPr id="598" name="Shape 21"/>
          <p:cNvSpPr/>
          <p:nvPr/>
        </p:nvSpPr>
        <p:spPr>
          <a:xfrm>
            <a:off x="9391650" y="3645172"/>
            <a:ext cx="1988567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9" name="Shape 22"/>
          <p:cNvSpPr/>
          <p:nvPr/>
        </p:nvSpPr>
        <p:spPr>
          <a:xfrm>
            <a:off x="9391650" y="4200797"/>
            <a:ext cx="198856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0" name="Text 23"/>
          <p:cNvSpPr txBox="1"/>
          <p:nvPr/>
        </p:nvSpPr>
        <p:spPr>
          <a:xfrm>
            <a:off x="9601200" y="3778522"/>
            <a:ext cx="164566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q=0.10</a:t>
            </a:r>
          </a:p>
        </p:txBody>
      </p:sp>
      <p:sp>
        <p:nvSpPr>
          <p:cNvPr id="601" name="Shape 24"/>
          <p:cNvSpPr/>
          <p:nvPr/>
        </p:nvSpPr>
        <p:spPr>
          <a:xfrm>
            <a:off x="11380216" y="3645172"/>
            <a:ext cx="2048993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2" name="Shape 25"/>
          <p:cNvSpPr/>
          <p:nvPr/>
        </p:nvSpPr>
        <p:spPr>
          <a:xfrm>
            <a:off x="11380216" y="4200797"/>
            <a:ext cx="204899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3" name="Text 26"/>
          <p:cNvSpPr txBox="1"/>
          <p:nvPr/>
        </p:nvSpPr>
        <p:spPr>
          <a:xfrm>
            <a:off x="11589766" y="3778522"/>
            <a:ext cx="1706093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1.747</a:t>
            </a:r>
          </a:p>
        </p:txBody>
      </p:sp>
      <p:sp>
        <p:nvSpPr>
          <p:cNvPr id="604" name="Shape 27"/>
          <p:cNvSpPr/>
          <p:nvPr/>
        </p:nvSpPr>
        <p:spPr>
          <a:xfrm>
            <a:off x="13429208" y="3645172"/>
            <a:ext cx="3715793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5" name="Shape 28"/>
          <p:cNvSpPr/>
          <p:nvPr/>
        </p:nvSpPr>
        <p:spPr>
          <a:xfrm>
            <a:off x="13429208" y="4200797"/>
            <a:ext cx="371579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6" name="Text 29"/>
          <p:cNvSpPr txBox="1"/>
          <p:nvPr/>
        </p:nvSpPr>
        <p:spPr>
          <a:xfrm>
            <a:off x="13638758" y="3778522"/>
            <a:ext cx="340816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20 / 248 (8%)</a:t>
            </a:r>
          </a:p>
        </p:txBody>
      </p:sp>
      <p:sp>
        <p:nvSpPr>
          <p:cNvPr id="607" name="Shape 30"/>
          <p:cNvSpPr/>
          <p:nvPr/>
        </p:nvSpPr>
        <p:spPr>
          <a:xfrm>
            <a:off x="9391650" y="4767535"/>
            <a:ext cx="198856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8" name="Text 31"/>
          <p:cNvSpPr txBox="1"/>
          <p:nvPr/>
        </p:nvSpPr>
        <p:spPr>
          <a:xfrm>
            <a:off x="9601200" y="4345259"/>
            <a:ext cx="164566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q=0.20</a:t>
            </a:r>
          </a:p>
        </p:txBody>
      </p:sp>
      <p:sp>
        <p:nvSpPr>
          <p:cNvPr id="609" name="Shape 32"/>
          <p:cNvSpPr/>
          <p:nvPr/>
        </p:nvSpPr>
        <p:spPr>
          <a:xfrm>
            <a:off x="11380216" y="4767535"/>
            <a:ext cx="204899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0" name="Text 33"/>
          <p:cNvSpPr txBox="1"/>
          <p:nvPr/>
        </p:nvSpPr>
        <p:spPr>
          <a:xfrm>
            <a:off x="11589766" y="4345259"/>
            <a:ext cx="1706093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1.840</a:t>
            </a:r>
          </a:p>
        </p:txBody>
      </p:sp>
      <p:sp>
        <p:nvSpPr>
          <p:cNvPr id="611" name="Shape 34"/>
          <p:cNvSpPr/>
          <p:nvPr/>
        </p:nvSpPr>
        <p:spPr>
          <a:xfrm>
            <a:off x="13429208" y="4767535"/>
            <a:ext cx="371579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2" name="Text 35"/>
          <p:cNvSpPr txBox="1"/>
          <p:nvPr/>
        </p:nvSpPr>
        <p:spPr>
          <a:xfrm>
            <a:off x="13638758" y="4345259"/>
            <a:ext cx="340816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17 / 248 (7%)</a:t>
            </a:r>
          </a:p>
        </p:txBody>
      </p:sp>
      <p:sp>
        <p:nvSpPr>
          <p:cNvPr id="613" name="Shape 36"/>
          <p:cNvSpPr/>
          <p:nvPr/>
        </p:nvSpPr>
        <p:spPr>
          <a:xfrm>
            <a:off x="9391650" y="4778647"/>
            <a:ext cx="1988567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4" name="Shape 37"/>
          <p:cNvSpPr/>
          <p:nvPr/>
        </p:nvSpPr>
        <p:spPr>
          <a:xfrm>
            <a:off x="9391650" y="5334272"/>
            <a:ext cx="198856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5" name="Text 38"/>
          <p:cNvSpPr txBox="1"/>
          <p:nvPr/>
        </p:nvSpPr>
        <p:spPr>
          <a:xfrm>
            <a:off x="9601200" y="4911997"/>
            <a:ext cx="164566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q=0.50</a:t>
            </a:r>
          </a:p>
        </p:txBody>
      </p:sp>
      <p:sp>
        <p:nvSpPr>
          <p:cNvPr id="616" name="Shape 39"/>
          <p:cNvSpPr/>
          <p:nvPr/>
        </p:nvSpPr>
        <p:spPr>
          <a:xfrm>
            <a:off x="11380216" y="4778647"/>
            <a:ext cx="2048993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7" name="Shape 40"/>
          <p:cNvSpPr/>
          <p:nvPr/>
        </p:nvSpPr>
        <p:spPr>
          <a:xfrm>
            <a:off x="11380216" y="5334272"/>
            <a:ext cx="204899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8" name="Text 41"/>
          <p:cNvSpPr txBox="1"/>
          <p:nvPr/>
        </p:nvSpPr>
        <p:spPr>
          <a:xfrm>
            <a:off x="11589766" y="4911997"/>
            <a:ext cx="1706093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2.166</a:t>
            </a:r>
          </a:p>
        </p:txBody>
      </p:sp>
      <p:sp>
        <p:nvSpPr>
          <p:cNvPr id="619" name="Shape 42"/>
          <p:cNvSpPr/>
          <p:nvPr/>
        </p:nvSpPr>
        <p:spPr>
          <a:xfrm>
            <a:off x="13429208" y="4778647"/>
            <a:ext cx="3715793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0" name="Shape 43"/>
          <p:cNvSpPr/>
          <p:nvPr/>
        </p:nvSpPr>
        <p:spPr>
          <a:xfrm>
            <a:off x="13429208" y="5334272"/>
            <a:ext cx="371579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1" name="Text 44"/>
          <p:cNvSpPr txBox="1"/>
          <p:nvPr/>
        </p:nvSpPr>
        <p:spPr>
          <a:xfrm>
            <a:off x="13638758" y="4911997"/>
            <a:ext cx="340816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13 / 248 (5%)</a:t>
            </a:r>
          </a:p>
        </p:txBody>
      </p:sp>
      <p:sp>
        <p:nvSpPr>
          <p:cNvPr id="622" name="Shape 45"/>
          <p:cNvSpPr/>
          <p:nvPr/>
        </p:nvSpPr>
        <p:spPr>
          <a:xfrm>
            <a:off x="9391650" y="5901010"/>
            <a:ext cx="198856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3" name="Text 46"/>
          <p:cNvSpPr txBox="1"/>
          <p:nvPr/>
        </p:nvSpPr>
        <p:spPr>
          <a:xfrm>
            <a:off x="9601200" y="5478734"/>
            <a:ext cx="164566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q=0.70</a:t>
            </a:r>
          </a:p>
        </p:txBody>
      </p:sp>
      <p:sp>
        <p:nvSpPr>
          <p:cNvPr id="624" name="Shape 47"/>
          <p:cNvSpPr/>
          <p:nvPr/>
        </p:nvSpPr>
        <p:spPr>
          <a:xfrm>
            <a:off x="11380216" y="5901010"/>
            <a:ext cx="204899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5" name="Text 48"/>
          <p:cNvSpPr txBox="1"/>
          <p:nvPr/>
        </p:nvSpPr>
        <p:spPr>
          <a:xfrm>
            <a:off x="11589766" y="5478734"/>
            <a:ext cx="1706093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3.363</a:t>
            </a:r>
          </a:p>
        </p:txBody>
      </p:sp>
      <p:sp>
        <p:nvSpPr>
          <p:cNvPr id="626" name="Shape 49"/>
          <p:cNvSpPr/>
          <p:nvPr/>
        </p:nvSpPr>
        <p:spPr>
          <a:xfrm>
            <a:off x="13429208" y="5901010"/>
            <a:ext cx="3715793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7" name="Text 50"/>
          <p:cNvSpPr txBox="1"/>
          <p:nvPr/>
        </p:nvSpPr>
        <p:spPr>
          <a:xfrm>
            <a:off x="13638758" y="5478734"/>
            <a:ext cx="3408167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0 / 248 (0%)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Text 0"/>
          <p:cNvSpPr txBox="1"/>
          <p:nvPr/>
        </p:nvSpPr>
        <p:spPr>
          <a:xfrm>
            <a:off x="8610972" y="4156695"/>
            <a:ext cx="1066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1746" b="1" spc="291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PART </a:t>
            </a:r>
            <a:r>
              <a:rPr lang="en-IN" dirty="0" smtClean="0"/>
              <a:t>4</a:t>
            </a:r>
            <a:endParaRPr dirty="0"/>
          </a:p>
        </p:txBody>
      </p:sp>
      <p:sp>
        <p:nvSpPr>
          <p:cNvPr id="630" name="Text 1"/>
          <p:cNvSpPr txBox="1"/>
          <p:nvPr/>
        </p:nvSpPr>
        <p:spPr>
          <a:xfrm>
            <a:off x="4485809" y="4690095"/>
            <a:ext cx="9316382" cy="792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22959">
              <a:lnSpc>
                <a:spcPct val="110000"/>
              </a:lnSpc>
              <a:defRPr sz="486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Time Series Models</a:t>
            </a:r>
          </a:p>
        </p:txBody>
      </p:sp>
      <p:sp>
        <p:nvSpPr>
          <p:cNvPr id="631" name="Text 2"/>
          <p:cNvSpPr txBox="1"/>
          <p:nvPr/>
        </p:nvSpPr>
        <p:spPr>
          <a:xfrm>
            <a:off x="6342188" y="5749230"/>
            <a:ext cx="5603625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77823">
              <a:defRPr sz="2400">
                <a:solidFill>
                  <a:srgbClr val="FFFFFF">
                    <a:alpha val="64999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AR · ARMA · ARIMA on the Health Index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4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MODELS</a:t>
            </a:r>
          </a:p>
        </p:txBody>
      </p:sp>
      <p:sp>
        <p:nvSpPr>
          <p:cNvPr id="635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6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ARIMA Framework</a:t>
            </a:r>
          </a:p>
        </p:txBody>
      </p:sp>
      <p:sp>
        <p:nvSpPr>
          <p:cNvPr id="637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ARIMA doesn't predict RUL directly — it </a:t>
            </a:r>
            <a:r>
              <a:rPr b="1">
                <a:solidFill>
                  <a:srgbClr val="12294A"/>
                </a:solidFill>
              </a:rPr>
              <a:t>forecasts the Health Index </a:t>
            </a:r>
            <a:r>
              <a:t>forward</a:t>
            </a:r>
          </a:p>
        </p:txBody>
      </p:sp>
      <p:sp>
        <p:nvSpPr>
          <p:cNvPr id="638" name="Text 5"/>
          <p:cNvSpPr txBox="1"/>
          <p:nvPr/>
        </p:nvSpPr>
        <p:spPr>
          <a:xfrm>
            <a:off x="1562100" y="354129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140000"/>
              </a:lnSpc>
              <a:defRPr sz="228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RUL = number of forecast steps until Health Index ≥ 1.685</a:t>
            </a:r>
          </a:p>
        </p:txBody>
      </p:sp>
      <p:sp>
        <p:nvSpPr>
          <p:cNvPr id="639" name="Text 6"/>
          <p:cNvSpPr txBox="1"/>
          <p:nvPr/>
        </p:nvSpPr>
        <p:spPr>
          <a:xfrm>
            <a:off x="1562100" y="4604220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Three parameters define the model:</a:t>
            </a:r>
          </a:p>
        </p:txBody>
      </p:sp>
      <p:sp>
        <p:nvSpPr>
          <p:cNvPr id="640" name="Shape 7"/>
          <p:cNvSpPr/>
          <p:nvPr/>
        </p:nvSpPr>
        <p:spPr>
          <a:xfrm>
            <a:off x="1143000" y="5297611"/>
            <a:ext cx="7753350" cy="1181101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1" name="Shape 8"/>
          <p:cNvSpPr/>
          <p:nvPr/>
        </p:nvSpPr>
        <p:spPr>
          <a:xfrm>
            <a:off x="1457325" y="5602411"/>
            <a:ext cx="571500" cy="571501"/>
          </a:xfrm>
          <a:prstGeom prst="ellipse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2" name="Text 9"/>
          <p:cNvSpPr txBox="1"/>
          <p:nvPr/>
        </p:nvSpPr>
        <p:spPr>
          <a:xfrm>
            <a:off x="1419225" y="5602411"/>
            <a:ext cx="6477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2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</a:t>
            </a:r>
          </a:p>
        </p:txBody>
      </p:sp>
      <p:sp>
        <p:nvSpPr>
          <p:cNvPr id="643" name="Text 10"/>
          <p:cNvSpPr txBox="1"/>
          <p:nvPr/>
        </p:nvSpPr>
        <p:spPr>
          <a:xfrm>
            <a:off x="2257425" y="5573836"/>
            <a:ext cx="6514339" cy="666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86968">
              <a:defRPr sz="2037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AR order </a:t>
            </a:r>
            <a:r>
              <a:rPr b="0"/>
              <a:t>— how many past values to use for prediction</a:t>
            </a:r>
          </a:p>
        </p:txBody>
      </p:sp>
      <p:sp>
        <p:nvSpPr>
          <p:cNvPr id="644" name="Shape 11"/>
          <p:cNvSpPr/>
          <p:nvPr/>
        </p:nvSpPr>
        <p:spPr>
          <a:xfrm>
            <a:off x="1143000" y="6612062"/>
            <a:ext cx="7753350" cy="1181101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5" name="Shape 12"/>
          <p:cNvSpPr/>
          <p:nvPr/>
        </p:nvSpPr>
        <p:spPr>
          <a:xfrm>
            <a:off x="1457325" y="6916862"/>
            <a:ext cx="571500" cy="571501"/>
          </a:xfrm>
          <a:prstGeom prst="ellipse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6" name="Text 13"/>
          <p:cNvSpPr txBox="1"/>
          <p:nvPr/>
        </p:nvSpPr>
        <p:spPr>
          <a:xfrm>
            <a:off x="1419225" y="6916862"/>
            <a:ext cx="6477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2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</a:t>
            </a:r>
          </a:p>
        </p:txBody>
      </p:sp>
      <p:sp>
        <p:nvSpPr>
          <p:cNvPr id="647" name="Text 14"/>
          <p:cNvSpPr txBox="1"/>
          <p:nvPr/>
        </p:nvSpPr>
        <p:spPr>
          <a:xfrm>
            <a:off x="2257425" y="6888287"/>
            <a:ext cx="6514339" cy="666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68680">
              <a:defRPr sz="199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Integration order </a:t>
            </a:r>
            <a:r>
              <a:rPr b="0"/>
              <a:t>— how many times to difference for stationarity</a:t>
            </a:r>
          </a:p>
        </p:txBody>
      </p:sp>
      <p:sp>
        <p:nvSpPr>
          <p:cNvPr id="648" name="Shape 15"/>
          <p:cNvSpPr/>
          <p:nvPr/>
        </p:nvSpPr>
        <p:spPr>
          <a:xfrm>
            <a:off x="1143000" y="7926512"/>
            <a:ext cx="7753350" cy="1181101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9" name="Shape 16"/>
          <p:cNvSpPr/>
          <p:nvPr/>
        </p:nvSpPr>
        <p:spPr>
          <a:xfrm>
            <a:off x="1457325" y="8231312"/>
            <a:ext cx="571500" cy="571501"/>
          </a:xfrm>
          <a:prstGeom prst="ellipse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0" name="Text 17"/>
          <p:cNvSpPr txBox="1"/>
          <p:nvPr/>
        </p:nvSpPr>
        <p:spPr>
          <a:xfrm>
            <a:off x="1419225" y="8231312"/>
            <a:ext cx="6477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2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</a:t>
            </a:r>
          </a:p>
        </p:txBody>
      </p:sp>
      <p:sp>
        <p:nvSpPr>
          <p:cNvPr id="651" name="Text 18"/>
          <p:cNvSpPr txBox="1"/>
          <p:nvPr/>
        </p:nvSpPr>
        <p:spPr>
          <a:xfrm>
            <a:off x="2257425" y="8202737"/>
            <a:ext cx="6514339" cy="666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68680">
              <a:defRPr sz="199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MA order </a:t>
            </a:r>
            <a:r>
              <a:rPr b="0"/>
              <a:t>— how many past forecast errors to use for correction</a:t>
            </a:r>
          </a:p>
        </p:txBody>
      </p:sp>
      <p:sp>
        <p:nvSpPr>
          <p:cNvPr id="652" name="Shape 19"/>
          <p:cNvSpPr/>
          <p:nvPr/>
        </p:nvSpPr>
        <p:spPr>
          <a:xfrm>
            <a:off x="9391650" y="4080345"/>
            <a:ext cx="7753350" cy="3489879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3" name="Text 20"/>
          <p:cNvSpPr txBox="1"/>
          <p:nvPr/>
        </p:nvSpPr>
        <p:spPr>
          <a:xfrm>
            <a:off x="9782175" y="4302471"/>
            <a:ext cx="7181468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Forecast → RUL Conversion</a:t>
            </a:r>
          </a:p>
        </p:txBody>
      </p:sp>
      <p:sp>
        <p:nvSpPr>
          <p:cNvPr id="654" name="Text 21"/>
          <p:cNvSpPr txBox="1"/>
          <p:nvPr/>
        </p:nvSpPr>
        <p:spPr>
          <a:xfrm>
            <a:off x="9782175" y="4845396"/>
            <a:ext cx="7181468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85000" lnSpcReduction="10000"/>
          </a:bodyPr>
          <a:lstStyle>
            <a:lvl1pPr>
              <a:lnSpc>
                <a:spcPct val="160000"/>
              </a:lnSpc>
              <a:defRPr sz="1900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1. Observe health index up to cycle T</a:t>
            </a:r>
          </a:p>
        </p:txBody>
      </p:sp>
      <p:sp>
        <p:nvSpPr>
          <p:cNvPr id="655" name="Text 22"/>
          <p:cNvSpPr txBox="1"/>
          <p:nvPr/>
        </p:nvSpPr>
        <p:spPr>
          <a:xfrm>
            <a:off x="9782175" y="5355878"/>
            <a:ext cx="7181468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85000" lnSpcReduction="10000"/>
          </a:bodyPr>
          <a:lstStyle>
            <a:lvl1pPr>
              <a:lnSpc>
                <a:spcPct val="160000"/>
              </a:lnSpc>
              <a:defRPr sz="1900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2. Fit ARIMA(1,2,1) on observed series</a:t>
            </a:r>
          </a:p>
        </p:txBody>
      </p:sp>
      <p:sp>
        <p:nvSpPr>
          <p:cNvPr id="656" name="Text 23"/>
          <p:cNvSpPr txBox="1"/>
          <p:nvPr/>
        </p:nvSpPr>
        <p:spPr>
          <a:xfrm>
            <a:off x="9782175" y="5866357"/>
            <a:ext cx="7181468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85000" lnSpcReduction="10000"/>
          </a:bodyPr>
          <a:lstStyle>
            <a:lvl1pPr>
              <a:lnSpc>
                <a:spcPct val="160000"/>
              </a:lnSpc>
              <a:defRPr sz="1900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3. Forecast 150 steps forward</a:t>
            </a:r>
          </a:p>
        </p:txBody>
      </p:sp>
      <p:sp>
        <p:nvSpPr>
          <p:cNvPr id="657" name="Text 24"/>
          <p:cNvSpPr txBox="1"/>
          <p:nvPr/>
        </p:nvSpPr>
        <p:spPr>
          <a:xfrm>
            <a:off x="9782175" y="6376839"/>
            <a:ext cx="7181468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85000" lnSpcReduction="10000"/>
          </a:bodyPr>
          <a:lstStyle>
            <a:lvl1pPr>
              <a:lnSpc>
                <a:spcPct val="160000"/>
              </a:lnSpc>
              <a:defRPr sz="1900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4. Find first step where h.i. ≥ 1.685</a:t>
            </a:r>
          </a:p>
        </p:txBody>
      </p:sp>
      <p:sp>
        <p:nvSpPr>
          <p:cNvPr id="658" name="Text 25"/>
          <p:cNvSpPr txBox="1"/>
          <p:nvPr/>
        </p:nvSpPr>
        <p:spPr>
          <a:xfrm>
            <a:off x="9782175" y="6887319"/>
            <a:ext cx="7181468" cy="43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85000" lnSpcReduction="10000"/>
          </a:bodyPr>
          <a:lstStyle/>
          <a:p>
            <a:pPr>
              <a:lnSpc>
                <a:spcPct val="160000"/>
              </a:lnSpc>
              <a:defRPr sz="1900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5. That step number = </a:t>
            </a:r>
            <a:r>
              <a:rPr b="1"/>
              <a:t>predicted RUL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1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MODELS</a:t>
            </a:r>
          </a:p>
        </p:txBody>
      </p:sp>
      <p:sp>
        <p:nvSpPr>
          <p:cNvPr id="662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3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Finding d: ADF Stationarity Test</a:t>
            </a:r>
          </a:p>
        </p:txBody>
      </p:sp>
      <p:sp>
        <p:nvSpPr>
          <p:cNvPr id="664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ARIMA requires </a:t>
            </a:r>
            <a:r>
              <a:rPr b="1">
                <a:solidFill>
                  <a:srgbClr val="12294A"/>
                </a:solidFill>
              </a:rPr>
              <a:t>stationarity </a:t>
            </a:r>
            <a:r>
              <a:t>— constant mean and variance over time</a:t>
            </a:r>
          </a:p>
        </p:txBody>
      </p:sp>
      <p:sp>
        <p:nvSpPr>
          <p:cNvPr id="665" name="Text 5"/>
          <p:cNvSpPr txBox="1"/>
          <p:nvPr/>
        </p:nvSpPr>
        <p:spPr>
          <a:xfrm>
            <a:off x="1562100" y="354129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Health index clearly trends upward — non-stationary at level</a:t>
            </a:r>
          </a:p>
        </p:txBody>
      </p:sp>
      <p:sp>
        <p:nvSpPr>
          <p:cNvPr id="666" name="Text 6"/>
          <p:cNvSpPr txBox="1"/>
          <p:nvPr/>
        </p:nvSpPr>
        <p:spPr>
          <a:xfrm>
            <a:off x="1562100" y="460422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ADF test </a:t>
            </a:r>
            <a:r>
              <a:rPr b="0">
                <a:solidFill>
                  <a:srgbClr val="1C3150"/>
                </a:solidFill>
              </a:rPr>
              <a:t>(Augmented Dickey-Fuller): p &lt; 0.05 → stationary, stop differencing</a:t>
            </a:r>
          </a:p>
        </p:txBody>
      </p:sp>
      <p:sp>
        <p:nvSpPr>
          <p:cNvPr id="667" name="Text 7"/>
          <p:cNvSpPr txBox="1"/>
          <p:nvPr/>
        </p:nvSpPr>
        <p:spPr>
          <a:xfrm>
            <a:off x="1562100" y="566715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First difference removes linear trend (d=1); second difference removes acceleration (d=2)</a:t>
            </a:r>
          </a:p>
        </p:txBody>
      </p:sp>
      <p:sp>
        <p:nvSpPr>
          <p:cNvPr id="668" name="Text 8"/>
          <p:cNvSpPr txBox="1"/>
          <p:nvPr/>
        </p:nvSpPr>
        <p:spPr>
          <a:xfrm>
            <a:off x="1562100" y="673008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FD004: </a:t>
            </a:r>
            <a:r>
              <a:rPr b="1">
                <a:solidFill>
                  <a:srgbClr val="12294A"/>
                </a:solidFill>
              </a:rPr>
              <a:t>206/248 engines need d=2 </a:t>
            </a:r>
            <a:r>
              <a:t>— degradation accelerates</a:t>
            </a:r>
          </a:p>
        </p:txBody>
      </p:sp>
      <p:sp>
        <p:nvSpPr>
          <p:cNvPr id="669" name="Shape 9"/>
          <p:cNvSpPr/>
          <p:nvPr/>
        </p:nvSpPr>
        <p:spPr>
          <a:xfrm>
            <a:off x="9391650" y="2478359"/>
            <a:ext cx="7753350" cy="5105103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0" name="Text 10"/>
          <p:cNvSpPr txBox="1"/>
          <p:nvPr/>
        </p:nvSpPr>
        <p:spPr>
          <a:xfrm>
            <a:off x="9782175" y="2868884"/>
            <a:ext cx="718146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ADF Results — Engine 118 (543 cycles)</a:t>
            </a:r>
          </a:p>
        </p:txBody>
      </p:sp>
      <p:sp>
        <p:nvSpPr>
          <p:cNvPr id="671" name="Shape 11"/>
          <p:cNvSpPr/>
          <p:nvPr/>
        </p:nvSpPr>
        <p:spPr>
          <a:xfrm>
            <a:off x="9782175" y="3421334"/>
            <a:ext cx="1824260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2" name="Text 12"/>
          <p:cNvSpPr txBox="1"/>
          <p:nvPr/>
        </p:nvSpPr>
        <p:spPr>
          <a:xfrm>
            <a:off x="9991725" y="3573734"/>
            <a:ext cx="1481362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Level</a:t>
            </a:r>
          </a:p>
        </p:txBody>
      </p:sp>
      <p:sp>
        <p:nvSpPr>
          <p:cNvPr id="673" name="Shape 13"/>
          <p:cNvSpPr/>
          <p:nvPr/>
        </p:nvSpPr>
        <p:spPr>
          <a:xfrm>
            <a:off x="11606435" y="3421334"/>
            <a:ext cx="1996084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4" name="Text 14"/>
          <p:cNvSpPr txBox="1"/>
          <p:nvPr/>
        </p:nvSpPr>
        <p:spPr>
          <a:xfrm>
            <a:off x="11815985" y="3573734"/>
            <a:ext cx="1653184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ADF p-value</a:t>
            </a:r>
          </a:p>
        </p:txBody>
      </p:sp>
      <p:sp>
        <p:nvSpPr>
          <p:cNvPr id="675" name="Shape 15"/>
          <p:cNvSpPr/>
          <p:nvPr/>
        </p:nvSpPr>
        <p:spPr>
          <a:xfrm>
            <a:off x="13602518" y="3421334"/>
            <a:ext cx="3151957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6" name="Text 16"/>
          <p:cNvSpPr txBox="1"/>
          <p:nvPr/>
        </p:nvSpPr>
        <p:spPr>
          <a:xfrm>
            <a:off x="13812068" y="3573734"/>
            <a:ext cx="282741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Verdict</a:t>
            </a:r>
          </a:p>
        </p:txBody>
      </p:sp>
      <p:sp>
        <p:nvSpPr>
          <p:cNvPr id="677" name="Shape 17"/>
          <p:cNvSpPr/>
          <p:nvPr/>
        </p:nvSpPr>
        <p:spPr>
          <a:xfrm>
            <a:off x="9782175" y="4667522"/>
            <a:ext cx="182426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8" name="Text 18"/>
          <p:cNvSpPr txBox="1"/>
          <p:nvPr/>
        </p:nvSpPr>
        <p:spPr>
          <a:xfrm>
            <a:off x="9991725" y="4159522"/>
            <a:ext cx="1481362" cy="41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>
              <a:defRPr sz="1900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Raw (d=0)</a:t>
            </a:r>
          </a:p>
        </p:txBody>
      </p:sp>
      <p:sp>
        <p:nvSpPr>
          <p:cNvPr id="679" name="Shape 19"/>
          <p:cNvSpPr/>
          <p:nvPr/>
        </p:nvSpPr>
        <p:spPr>
          <a:xfrm>
            <a:off x="11606435" y="4667522"/>
            <a:ext cx="1996084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0" name="Text 20"/>
          <p:cNvSpPr txBox="1"/>
          <p:nvPr/>
        </p:nvSpPr>
        <p:spPr>
          <a:xfrm>
            <a:off x="11815985" y="4159522"/>
            <a:ext cx="1653184" cy="41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>
              <a:defRPr sz="1900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1.000</a:t>
            </a:r>
          </a:p>
        </p:txBody>
      </p:sp>
      <p:sp>
        <p:nvSpPr>
          <p:cNvPr id="681" name="Shape 21"/>
          <p:cNvSpPr/>
          <p:nvPr/>
        </p:nvSpPr>
        <p:spPr>
          <a:xfrm>
            <a:off x="13602518" y="4667522"/>
            <a:ext cx="315195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2" name="Shape 22"/>
          <p:cNvSpPr/>
          <p:nvPr/>
        </p:nvSpPr>
        <p:spPr>
          <a:xfrm>
            <a:off x="13812068" y="4159522"/>
            <a:ext cx="2527623" cy="381001"/>
          </a:xfrm>
          <a:prstGeom prst="roundRect">
            <a:avLst>
              <a:gd name="adj" fmla="val 50000"/>
            </a:avLst>
          </a:prstGeom>
          <a:solidFill>
            <a:srgbClr val="C0392B">
              <a:alpha val="12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3" name="Text 23"/>
          <p:cNvSpPr txBox="1"/>
          <p:nvPr/>
        </p:nvSpPr>
        <p:spPr>
          <a:xfrm>
            <a:off x="14002568" y="4216672"/>
            <a:ext cx="222282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>
                <a:solidFill>
                  <a:srgbClr val="C0392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NON-STATIONARY</a:t>
            </a:r>
          </a:p>
        </p:txBody>
      </p:sp>
      <p:sp>
        <p:nvSpPr>
          <p:cNvPr id="684" name="Shape 24"/>
          <p:cNvSpPr/>
          <p:nvPr/>
        </p:nvSpPr>
        <p:spPr>
          <a:xfrm>
            <a:off x="9782175" y="4678634"/>
            <a:ext cx="1824260" cy="657226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5" name="Shape 25"/>
          <p:cNvSpPr/>
          <p:nvPr/>
        </p:nvSpPr>
        <p:spPr>
          <a:xfrm>
            <a:off x="9782175" y="5324747"/>
            <a:ext cx="182426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6" name="Text 26"/>
          <p:cNvSpPr txBox="1"/>
          <p:nvPr/>
        </p:nvSpPr>
        <p:spPr>
          <a:xfrm>
            <a:off x="9991725" y="4811984"/>
            <a:ext cx="148136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>
              <a:defRPr sz="1900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Diff-1 (d=1)</a:t>
            </a:r>
          </a:p>
        </p:txBody>
      </p:sp>
      <p:sp>
        <p:nvSpPr>
          <p:cNvPr id="687" name="Shape 27"/>
          <p:cNvSpPr/>
          <p:nvPr/>
        </p:nvSpPr>
        <p:spPr>
          <a:xfrm>
            <a:off x="11606435" y="4678634"/>
            <a:ext cx="1996084" cy="657226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8" name="Shape 28"/>
          <p:cNvSpPr/>
          <p:nvPr/>
        </p:nvSpPr>
        <p:spPr>
          <a:xfrm>
            <a:off x="11606435" y="5324747"/>
            <a:ext cx="1996084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9" name="Text 29"/>
          <p:cNvSpPr txBox="1"/>
          <p:nvPr/>
        </p:nvSpPr>
        <p:spPr>
          <a:xfrm>
            <a:off x="11815985" y="4811984"/>
            <a:ext cx="1653184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>
              <a:defRPr sz="1900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0.974</a:t>
            </a:r>
          </a:p>
        </p:txBody>
      </p:sp>
      <p:sp>
        <p:nvSpPr>
          <p:cNvPr id="690" name="Shape 30"/>
          <p:cNvSpPr/>
          <p:nvPr/>
        </p:nvSpPr>
        <p:spPr>
          <a:xfrm>
            <a:off x="13602518" y="4678634"/>
            <a:ext cx="3151957" cy="657226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1" name="Shape 31"/>
          <p:cNvSpPr/>
          <p:nvPr/>
        </p:nvSpPr>
        <p:spPr>
          <a:xfrm>
            <a:off x="13602518" y="5324747"/>
            <a:ext cx="315195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2" name="Shape 32"/>
          <p:cNvSpPr/>
          <p:nvPr/>
        </p:nvSpPr>
        <p:spPr>
          <a:xfrm>
            <a:off x="13812068" y="4816747"/>
            <a:ext cx="2527623" cy="381001"/>
          </a:xfrm>
          <a:prstGeom prst="roundRect">
            <a:avLst>
              <a:gd name="adj" fmla="val 50000"/>
            </a:avLst>
          </a:prstGeom>
          <a:solidFill>
            <a:srgbClr val="C0392B">
              <a:alpha val="12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3" name="Text 33"/>
          <p:cNvSpPr txBox="1"/>
          <p:nvPr/>
        </p:nvSpPr>
        <p:spPr>
          <a:xfrm>
            <a:off x="14002568" y="4873897"/>
            <a:ext cx="222282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>
                <a:solidFill>
                  <a:srgbClr val="C0392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NON-STATIONARY</a:t>
            </a:r>
          </a:p>
        </p:txBody>
      </p:sp>
      <p:sp>
        <p:nvSpPr>
          <p:cNvPr id="694" name="Shape 34"/>
          <p:cNvSpPr/>
          <p:nvPr/>
        </p:nvSpPr>
        <p:spPr>
          <a:xfrm>
            <a:off x="9782175" y="5981972"/>
            <a:ext cx="182426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5" name="Text 35"/>
          <p:cNvSpPr txBox="1"/>
          <p:nvPr/>
        </p:nvSpPr>
        <p:spPr>
          <a:xfrm>
            <a:off x="9991725" y="5469209"/>
            <a:ext cx="148136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>
              <a:defRPr sz="1900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Diff-2 (d=2)</a:t>
            </a:r>
          </a:p>
        </p:txBody>
      </p:sp>
      <p:sp>
        <p:nvSpPr>
          <p:cNvPr id="696" name="Shape 36"/>
          <p:cNvSpPr/>
          <p:nvPr/>
        </p:nvSpPr>
        <p:spPr>
          <a:xfrm>
            <a:off x="11606435" y="5981972"/>
            <a:ext cx="1996084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7" name="Text 37"/>
          <p:cNvSpPr txBox="1"/>
          <p:nvPr/>
        </p:nvSpPr>
        <p:spPr>
          <a:xfrm>
            <a:off x="11815985" y="5469209"/>
            <a:ext cx="1653184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>
              <a:defRPr sz="1900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0.000</a:t>
            </a:r>
          </a:p>
        </p:txBody>
      </p:sp>
      <p:sp>
        <p:nvSpPr>
          <p:cNvPr id="698" name="Shape 38"/>
          <p:cNvSpPr/>
          <p:nvPr/>
        </p:nvSpPr>
        <p:spPr>
          <a:xfrm>
            <a:off x="13602518" y="5981972"/>
            <a:ext cx="315195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9" name="Shape 39"/>
          <p:cNvSpPr/>
          <p:nvPr/>
        </p:nvSpPr>
        <p:spPr>
          <a:xfrm>
            <a:off x="13812067" y="5507086"/>
            <a:ext cx="1758133" cy="328837"/>
          </a:xfrm>
          <a:prstGeom prst="roundRect">
            <a:avLst>
              <a:gd name="adj" fmla="val 50000"/>
            </a:avLst>
          </a:prstGeom>
          <a:solidFill>
            <a:srgbClr val="27AE60">
              <a:alpha val="12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0" name="Text 40"/>
          <p:cNvSpPr txBox="1"/>
          <p:nvPr/>
        </p:nvSpPr>
        <p:spPr>
          <a:xfrm>
            <a:off x="14002568" y="5531122"/>
            <a:ext cx="18512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defRPr sz="1656" b="1">
                <a:solidFill>
                  <a:srgbClr val="27AE6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STATIONARY </a:t>
            </a:r>
          </a:p>
        </p:txBody>
      </p:sp>
      <p:sp>
        <p:nvSpPr>
          <p:cNvPr id="701" name="Shape 41"/>
          <p:cNvSpPr/>
          <p:nvPr/>
        </p:nvSpPr>
        <p:spPr>
          <a:xfrm>
            <a:off x="9782175" y="6188347"/>
            <a:ext cx="6972300" cy="814389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2" name="Shape 42"/>
          <p:cNvSpPr/>
          <p:nvPr/>
        </p:nvSpPr>
        <p:spPr>
          <a:xfrm>
            <a:off x="9782175" y="6188347"/>
            <a:ext cx="57150" cy="814389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3" name="Text 43"/>
          <p:cNvSpPr txBox="1"/>
          <p:nvPr/>
        </p:nvSpPr>
        <p:spPr>
          <a:xfrm>
            <a:off x="10144125" y="6416947"/>
            <a:ext cx="6514718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50000"/>
              </a:lnSpc>
              <a:defRPr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→ Modal d = </a:t>
            </a:r>
            <a:r>
              <a:rPr b="1"/>
              <a:t>2 </a:t>
            </a:r>
            <a:r>
              <a:t>across 248 training engines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6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MODELS</a:t>
            </a:r>
          </a:p>
        </p:txBody>
      </p:sp>
      <p:sp>
        <p:nvSpPr>
          <p:cNvPr id="707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8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Raw vs. After First Differencing</a:t>
            </a:r>
          </a:p>
        </p:txBody>
      </p:sp>
      <p:sp>
        <p:nvSpPr>
          <p:cNvPr id="709" name="Shape 4"/>
          <p:cNvSpPr/>
          <p:nvPr/>
        </p:nvSpPr>
        <p:spPr>
          <a:xfrm>
            <a:off x="952500" y="2114550"/>
            <a:ext cx="105537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0" name="Text 5"/>
          <p:cNvSpPr txBox="1"/>
          <p:nvPr/>
        </p:nvSpPr>
        <p:spPr>
          <a:xfrm>
            <a:off x="12420600" y="2607468"/>
            <a:ext cx="507492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Left (d=0): </a:t>
            </a:r>
            <a:r>
              <a:rPr b="0">
                <a:solidFill>
                  <a:srgbClr val="1C3150"/>
                </a:solidFill>
              </a:rPr>
              <a:t>clear upward drift — non-stationary; ADF p=1.0</a:t>
            </a:r>
          </a:p>
        </p:txBody>
      </p:sp>
      <p:sp>
        <p:nvSpPr>
          <p:cNvPr id="711" name="Text 6"/>
          <p:cNvSpPr txBox="1"/>
          <p:nvPr/>
        </p:nvSpPr>
        <p:spPr>
          <a:xfrm>
            <a:off x="12420600" y="3559969"/>
            <a:ext cx="5074921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32104">
              <a:lnSpc>
                <a:spcPct val="140000"/>
              </a:lnSpc>
              <a:defRPr sz="2002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Right (d=1): </a:t>
            </a:r>
            <a:r>
              <a:rPr b="0">
                <a:solidFill>
                  <a:srgbClr val="1C3150"/>
                </a:solidFill>
              </a:rPr>
              <a:t>linear trend removed; but variance spreads at higher indices — still non-stationary; ADF p≈0.97</a:t>
            </a:r>
          </a:p>
        </p:txBody>
      </p:sp>
      <p:sp>
        <p:nvSpPr>
          <p:cNvPr id="712" name="Text 7"/>
          <p:cNvSpPr txBox="1"/>
          <p:nvPr/>
        </p:nvSpPr>
        <p:spPr>
          <a:xfrm>
            <a:off x="12420600" y="4950619"/>
            <a:ext cx="5074921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50391">
              <a:lnSpc>
                <a:spcPct val="140000"/>
              </a:lnSpc>
              <a:defRPr sz="204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FD004 degradation </a:t>
            </a:r>
            <a:r>
              <a:rPr i="1" dirty="0"/>
              <a:t>accelerates </a:t>
            </a:r>
            <a:r>
              <a:rPr dirty="0"/>
              <a:t>near failure — rate of change itself trends upward</a:t>
            </a:r>
          </a:p>
        </p:txBody>
      </p:sp>
      <p:sp>
        <p:nvSpPr>
          <p:cNvPr id="713" name="Text 8"/>
          <p:cNvSpPr txBox="1"/>
          <p:nvPr/>
        </p:nvSpPr>
        <p:spPr>
          <a:xfrm>
            <a:off x="12420600" y="6265069"/>
            <a:ext cx="5074921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40000"/>
              </a:lnSpc>
              <a:defRPr sz="2002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Second </a:t>
            </a:r>
            <a:r>
              <a:rPr dirty="0" smtClean="0"/>
              <a:t>difference</a:t>
            </a:r>
            <a:r>
              <a:rPr lang="en-IN" dirty="0" smtClean="0"/>
              <a:t> (</a:t>
            </a:r>
            <a:r>
              <a:rPr lang="en-IN" b="1" dirty="0" smtClean="0"/>
              <a:t>d=2</a:t>
            </a:r>
            <a:r>
              <a:rPr lang="en-IN" dirty="0" smtClean="0"/>
              <a:t>)</a:t>
            </a:r>
            <a:r>
              <a:rPr dirty="0" smtClean="0"/>
              <a:t> </a:t>
            </a:r>
            <a:r>
              <a:rPr dirty="0"/>
              <a:t>(acceleration of health index) becomes approximately constant → stationary</a:t>
            </a:r>
          </a:p>
        </p:txBody>
      </p:sp>
      <p:sp>
        <p:nvSpPr>
          <p:cNvPr id="716" name="Text 11"/>
          <p:cNvSpPr txBox="1"/>
          <p:nvPr/>
        </p:nvSpPr>
        <p:spPr>
          <a:xfrm>
            <a:off x="12363450" y="7922418"/>
            <a:ext cx="4827271" cy="110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86968">
              <a:lnSpc>
                <a:spcPct val="150000"/>
              </a:lnSpc>
              <a:defRPr sz="1746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dirty="0"/>
          </a:p>
        </p:txBody>
      </p:sp>
      <p:sp>
        <p:nvSpPr>
          <p:cNvPr id="2" name="AutoShape 2" descr="blob:https://web.whatsapp.com/e449ef24-5a2f-4e56-bb2d-a808c1ce4ddf"/>
          <p:cNvSpPr>
            <a:spLocks noChangeAspect="1" noChangeArrowheads="1"/>
          </p:cNvSpPr>
          <p:nvPr/>
        </p:nvSpPr>
        <p:spPr bwMode="auto">
          <a:xfrm>
            <a:off x="95250" y="-11281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985" y="2206625"/>
            <a:ext cx="9334730" cy="75088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0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MODELS</a:t>
            </a:r>
          </a:p>
        </p:txBody>
      </p:sp>
      <p:sp>
        <p:nvSpPr>
          <p:cNvPr id="721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2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Finding p and q: ACF / PACF (Twice-Differenced Series)</a:t>
            </a:r>
          </a:p>
        </p:txBody>
      </p:sp>
      <p:sp>
        <p:nvSpPr>
          <p:cNvPr id="723" name="Shape 4"/>
          <p:cNvSpPr/>
          <p:nvPr/>
        </p:nvSpPr>
        <p:spPr>
          <a:xfrm>
            <a:off x="952500" y="2114550"/>
            <a:ext cx="109347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2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6325" y="2238375"/>
            <a:ext cx="10687050" cy="7353300"/>
          </a:xfrm>
          <a:prstGeom prst="rect">
            <a:avLst/>
          </a:prstGeom>
          <a:ln w="12700">
            <a:miter lim="400000"/>
          </a:ln>
        </p:spPr>
      </p:pic>
      <p:sp>
        <p:nvSpPr>
          <p:cNvPr id="725" name="Text 5"/>
          <p:cNvSpPr txBox="1"/>
          <p:nvPr/>
        </p:nvSpPr>
        <p:spPr>
          <a:xfrm>
            <a:off x="12801600" y="1931193"/>
            <a:ext cx="4682491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77823">
              <a:lnSpc>
                <a:spcPct val="140000"/>
              </a:lnSpc>
              <a:defRPr sz="2112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ACF </a:t>
            </a:r>
            <a:r>
              <a:rPr b="0">
                <a:solidFill>
                  <a:srgbClr val="1C3150"/>
                </a:solidFill>
              </a:rPr>
              <a:t>: correlation at each lag → guides q (MA order). Cuts off → pure MA</a:t>
            </a:r>
          </a:p>
        </p:txBody>
      </p:sp>
      <p:sp>
        <p:nvSpPr>
          <p:cNvPr id="726" name="Text 6"/>
          <p:cNvSpPr txBox="1"/>
          <p:nvPr/>
        </p:nvSpPr>
        <p:spPr>
          <a:xfrm>
            <a:off x="12801600" y="3283744"/>
            <a:ext cx="4682491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41247">
              <a:lnSpc>
                <a:spcPct val="140000"/>
              </a:lnSpc>
              <a:defRPr sz="202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PACF </a:t>
            </a:r>
            <a:r>
              <a:rPr b="0">
                <a:solidFill>
                  <a:srgbClr val="1C3150"/>
                </a:solidFill>
              </a:rPr>
              <a:t>: removes indirect effects → guides p (AR order). Cuts off → pure AR</a:t>
            </a:r>
          </a:p>
        </p:txBody>
      </p:sp>
      <p:sp>
        <p:nvSpPr>
          <p:cNvPr id="727" name="Text 7"/>
          <p:cNvSpPr txBox="1"/>
          <p:nvPr/>
        </p:nvSpPr>
        <p:spPr>
          <a:xfrm>
            <a:off x="12801600" y="4636294"/>
            <a:ext cx="4682491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40000"/>
              </a:lnSpc>
              <a:defRPr sz="2002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Large spike at lag 1 in both ACF and PACF (~−0.5) — introduced by double-differencing</a:t>
            </a:r>
          </a:p>
        </p:txBody>
      </p:sp>
      <p:sp>
        <p:nvSpPr>
          <p:cNvPr id="728" name="Text 8"/>
          <p:cNvSpPr txBox="1"/>
          <p:nvPr/>
        </p:nvSpPr>
        <p:spPr>
          <a:xfrm>
            <a:off x="12801600" y="5988844"/>
            <a:ext cx="4682491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32104">
              <a:lnSpc>
                <a:spcPct val="140000"/>
              </a:lnSpc>
              <a:defRPr sz="2002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After lag 1: bars mostly inside confidence band → </a:t>
            </a:r>
            <a:r>
              <a:rPr b="1">
                <a:solidFill>
                  <a:srgbClr val="12294A"/>
                </a:solidFill>
              </a:rPr>
              <a:t>MA(1) dominant structure</a:t>
            </a:r>
          </a:p>
        </p:txBody>
      </p:sp>
      <p:sp>
        <p:nvSpPr>
          <p:cNvPr id="729" name="Text 9"/>
          <p:cNvSpPr txBox="1"/>
          <p:nvPr/>
        </p:nvSpPr>
        <p:spPr>
          <a:xfrm>
            <a:off x="12801600" y="7341393"/>
            <a:ext cx="4682491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Both tailing off → mixed ARMA → ARIMA(1, 2, 1)</a:t>
            </a:r>
          </a:p>
        </p:txBody>
      </p:sp>
      <p:sp>
        <p:nvSpPr>
          <p:cNvPr id="732" name="Text 12"/>
          <p:cNvSpPr txBox="1"/>
          <p:nvPr/>
        </p:nvSpPr>
        <p:spPr>
          <a:xfrm>
            <a:off x="12744450" y="8598693"/>
            <a:ext cx="4434841" cy="110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150000"/>
              </a:lnSpc>
              <a:defRPr sz="1746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5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MODELS</a:t>
            </a:r>
          </a:p>
        </p:txBody>
      </p:sp>
      <p:sp>
        <p:nvSpPr>
          <p:cNvPr id="736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7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AIC Grid Search — Final Model Orders</a:t>
            </a:r>
          </a:p>
        </p:txBody>
      </p:sp>
      <p:sp>
        <p:nvSpPr>
          <p:cNvPr id="738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b="0" dirty="0">
              <a:solidFill>
                <a:srgbClr val="1C3150"/>
              </a:solidFill>
            </a:endParaRPr>
          </a:p>
        </p:txBody>
      </p:sp>
      <p:sp>
        <p:nvSpPr>
          <p:cNvPr id="739" name="Text 5"/>
          <p:cNvSpPr txBox="1"/>
          <p:nvPr/>
        </p:nvSpPr>
        <p:spPr>
          <a:xfrm>
            <a:off x="1562100" y="2572987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Every (</a:t>
            </a:r>
            <a:r>
              <a:rPr dirty="0" err="1"/>
              <a:t>p,q</a:t>
            </a:r>
            <a:r>
              <a:rPr dirty="0"/>
              <a:t>) combination tested on 15 representative training engines</a:t>
            </a:r>
          </a:p>
        </p:txBody>
      </p:sp>
      <p:sp>
        <p:nvSpPr>
          <p:cNvPr id="740" name="Text 6"/>
          <p:cNvSpPr txBox="1"/>
          <p:nvPr/>
        </p:nvSpPr>
        <p:spPr>
          <a:xfrm>
            <a:off x="1562100" y="3874391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 defTabSz="905255">
              <a:lnSpc>
                <a:spcPct val="140000"/>
              </a:lnSpc>
              <a:defRPr sz="237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Modal winner across 15 engines is chosen as final order</a:t>
            </a:r>
          </a:p>
        </p:txBody>
      </p:sp>
      <p:sp>
        <p:nvSpPr>
          <p:cNvPr id="741" name="Text 7"/>
          <p:cNvSpPr txBox="1"/>
          <p:nvPr/>
        </p:nvSpPr>
        <p:spPr>
          <a:xfrm>
            <a:off x="1577150" y="4791697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AR: </a:t>
            </a:r>
            <a:r>
              <a:rPr b="0" dirty="0">
                <a:solidFill>
                  <a:srgbClr val="1C3150"/>
                </a:solidFill>
              </a:rPr>
              <a:t>p=10 </a:t>
            </a:r>
            <a:r>
              <a:rPr b="0" dirty="0" smtClean="0">
                <a:solidFill>
                  <a:srgbClr val="1C3150"/>
                </a:solidFill>
              </a:rPr>
              <a:t>wins— </a:t>
            </a:r>
            <a:r>
              <a:rPr b="0" dirty="0">
                <a:solidFill>
                  <a:srgbClr val="1C3150"/>
                </a:solidFill>
              </a:rPr>
              <a:t>10 past cycles carry predictive information</a:t>
            </a:r>
          </a:p>
        </p:txBody>
      </p:sp>
      <p:sp>
        <p:nvSpPr>
          <p:cNvPr id="742" name="Text 8"/>
          <p:cNvSpPr txBox="1"/>
          <p:nvPr/>
        </p:nvSpPr>
        <p:spPr>
          <a:xfrm>
            <a:off x="1562100" y="576103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ARIMA: </a:t>
            </a:r>
            <a:r>
              <a:rPr b="0" dirty="0">
                <a:solidFill>
                  <a:srgbClr val="1C3150"/>
                </a:solidFill>
              </a:rPr>
              <a:t>(p=1, q=1) wins </a:t>
            </a:r>
            <a:r>
              <a:rPr b="0" dirty="0" smtClean="0">
                <a:solidFill>
                  <a:srgbClr val="1C3150"/>
                </a:solidFill>
              </a:rPr>
              <a:t>— </a:t>
            </a:r>
            <a:r>
              <a:rPr b="0" dirty="0">
                <a:solidFill>
                  <a:srgbClr val="1C3150"/>
                </a:solidFill>
              </a:rPr>
              <a:t>MA error-correction is the dominant structure</a:t>
            </a:r>
          </a:p>
        </p:txBody>
      </p:sp>
      <p:sp>
        <p:nvSpPr>
          <p:cNvPr id="743" name="Shape 9"/>
          <p:cNvSpPr/>
          <p:nvPr/>
        </p:nvSpPr>
        <p:spPr>
          <a:xfrm>
            <a:off x="9391650" y="2478359"/>
            <a:ext cx="7753350" cy="3960541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4" name="Text 10"/>
          <p:cNvSpPr txBox="1"/>
          <p:nvPr/>
        </p:nvSpPr>
        <p:spPr>
          <a:xfrm>
            <a:off x="9782175" y="2868884"/>
            <a:ext cx="718146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Final Model Orders</a:t>
            </a:r>
          </a:p>
        </p:txBody>
      </p:sp>
      <p:sp>
        <p:nvSpPr>
          <p:cNvPr id="745" name="Shape 11"/>
          <p:cNvSpPr/>
          <p:nvPr/>
        </p:nvSpPr>
        <p:spPr>
          <a:xfrm>
            <a:off x="9782175" y="3421334"/>
            <a:ext cx="1298526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6" name="Text 12"/>
          <p:cNvSpPr txBox="1"/>
          <p:nvPr/>
        </p:nvSpPr>
        <p:spPr>
          <a:xfrm>
            <a:off x="9991725" y="3573734"/>
            <a:ext cx="95562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Model</a:t>
            </a:r>
          </a:p>
        </p:txBody>
      </p:sp>
      <p:sp>
        <p:nvSpPr>
          <p:cNvPr id="747" name="Shape 13"/>
          <p:cNvSpPr/>
          <p:nvPr/>
        </p:nvSpPr>
        <p:spPr>
          <a:xfrm>
            <a:off x="11080699" y="3421334"/>
            <a:ext cx="1503909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8" name="Text 14"/>
          <p:cNvSpPr txBox="1"/>
          <p:nvPr/>
        </p:nvSpPr>
        <p:spPr>
          <a:xfrm>
            <a:off x="11290249" y="3573734"/>
            <a:ext cx="1161009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Order</a:t>
            </a:r>
          </a:p>
        </p:txBody>
      </p:sp>
      <p:sp>
        <p:nvSpPr>
          <p:cNvPr id="749" name="Shape 15"/>
          <p:cNvSpPr/>
          <p:nvPr/>
        </p:nvSpPr>
        <p:spPr>
          <a:xfrm>
            <a:off x="12584609" y="3421334"/>
            <a:ext cx="4169867" cy="604839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0" name="Text 16"/>
          <p:cNvSpPr txBox="1"/>
          <p:nvPr/>
        </p:nvSpPr>
        <p:spPr>
          <a:xfrm>
            <a:off x="12794159" y="3573734"/>
            <a:ext cx="3875862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Interpretation</a:t>
            </a:r>
          </a:p>
        </p:txBody>
      </p:sp>
      <p:sp>
        <p:nvSpPr>
          <p:cNvPr id="751" name="Shape 17"/>
          <p:cNvSpPr/>
          <p:nvPr/>
        </p:nvSpPr>
        <p:spPr>
          <a:xfrm>
            <a:off x="9782175" y="4577035"/>
            <a:ext cx="1298526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2" name="Text 18"/>
          <p:cNvSpPr txBox="1"/>
          <p:nvPr/>
        </p:nvSpPr>
        <p:spPr>
          <a:xfrm>
            <a:off x="9991725" y="4159522"/>
            <a:ext cx="955626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AR</a:t>
            </a:r>
          </a:p>
        </p:txBody>
      </p:sp>
      <p:sp>
        <p:nvSpPr>
          <p:cNvPr id="753" name="Shape 19"/>
          <p:cNvSpPr/>
          <p:nvPr/>
        </p:nvSpPr>
        <p:spPr>
          <a:xfrm>
            <a:off x="11080699" y="4577035"/>
            <a:ext cx="1503909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4" name="Text 20"/>
          <p:cNvSpPr txBox="1"/>
          <p:nvPr/>
        </p:nvSpPr>
        <p:spPr>
          <a:xfrm>
            <a:off x="11290249" y="4159522"/>
            <a:ext cx="1161009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(10, 2, 0)</a:t>
            </a:r>
          </a:p>
        </p:txBody>
      </p:sp>
      <p:sp>
        <p:nvSpPr>
          <p:cNvPr id="755" name="Shape 21"/>
          <p:cNvSpPr/>
          <p:nvPr/>
        </p:nvSpPr>
        <p:spPr>
          <a:xfrm>
            <a:off x="12584609" y="4577035"/>
            <a:ext cx="416986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6" name="Text 22"/>
          <p:cNvSpPr txBox="1"/>
          <p:nvPr/>
        </p:nvSpPr>
        <p:spPr>
          <a:xfrm>
            <a:off x="12794159" y="4159522"/>
            <a:ext cx="3875862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10 lagged values, 2 differences</a:t>
            </a:r>
          </a:p>
        </p:txBody>
      </p:sp>
      <p:sp>
        <p:nvSpPr>
          <p:cNvPr id="757" name="Shape 23"/>
          <p:cNvSpPr/>
          <p:nvPr/>
        </p:nvSpPr>
        <p:spPr>
          <a:xfrm>
            <a:off x="9782175" y="4588147"/>
            <a:ext cx="1298526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8" name="Shape 24"/>
          <p:cNvSpPr/>
          <p:nvPr/>
        </p:nvSpPr>
        <p:spPr>
          <a:xfrm>
            <a:off x="9782175" y="5143772"/>
            <a:ext cx="1298526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9" name="Text 25"/>
          <p:cNvSpPr txBox="1"/>
          <p:nvPr/>
        </p:nvSpPr>
        <p:spPr>
          <a:xfrm>
            <a:off x="9991725" y="4721497"/>
            <a:ext cx="955626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ARMA</a:t>
            </a:r>
          </a:p>
        </p:txBody>
      </p:sp>
      <p:sp>
        <p:nvSpPr>
          <p:cNvPr id="760" name="Shape 26"/>
          <p:cNvSpPr/>
          <p:nvPr/>
        </p:nvSpPr>
        <p:spPr>
          <a:xfrm>
            <a:off x="11080699" y="4588147"/>
            <a:ext cx="1503909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1" name="Shape 27"/>
          <p:cNvSpPr/>
          <p:nvPr/>
        </p:nvSpPr>
        <p:spPr>
          <a:xfrm>
            <a:off x="11080699" y="5143772"/>
            <a:ext cx="1503909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2" name="Text 28"/>
          <p:cNvSpPr txBox="1"/>
          <p:nvPr/>
        </p:nvSpPr>
        <p:spPr>
          <a:xfrm>
            <a:off x="11290249" y="4721497"/>
            <a:ext cx="1161009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(1, 2, 1)</a:t>
            </a:r>
          </a:p>
        </p:txBody>
      </p:sp>
      <p:sp>
        <p:nvSpPr>
          <p:cNvPr id="763" name="Shape 29"/>
          <p:cNvSpPr/>
          <p:nvPr/>
        </p:nvSpPr>
        <p:spPr>
          <a:xfrm>
            <a:off x="12584609" y="4588147"/>
            <a:ext cx="4169867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4" name="Shape 30"/>
          <p:cNvSpPr/>
          <p:nvPr/>
        </p:nvSpPr>
        <p:spPr>
          <a:xfrm>
            <a:off x="12584609" y="5143772"/>
            <a:ext cx="416986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5" name="Text 31"/>
          <p:cNvSpPr txBox="1"/>
          <p:nvPr/>
        </p:nvSpPr>
        <p:spPr>
          <a:xfrm>
            <a:off x="12794159" y="4721497"/>
            <a:ext cx="3875862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 AR + 1 MA term, 2 differences</a:t>
            </a:r>
          </a:p>
        </p:txBody>
      </p:sp>
      <p:sp>
        <p:nvSpPr>
          <p:cNvPr id="766" name="Shape 32"/>
          <p:cNvSpPr/>
          <p:nvPr/>
        </p:nvSpPr>
        <p:spPr>
          <a:xfrm>
            <a:off x="9782175" y="5710510"/>
            <a:ext cx="1298526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7" name="Text 33"/>
          <p:cNvSpPr txBox="1"/>
          <p:nvPr/>
        </p:nvSpPr>
        <p:spPr>
          <a:xfrm>
            <a:off x="9991725" y="5288234"/>
            <a:ext cx="955626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ARIMA</a:t>
            </a:r>
          </a:p>
        </p:txBody>
      </p:sp>
      <p:sp>
        <p:nvSpPr>
          <p:cNvPr id="768" name="Shape 34"/>
          <p:cNvSpPr/>
          <p:nvPr/>
        </p:nvSpPr>
        <p:spPr>
          <a:xfrm>
            <a:off x="11080699" y="5710510"/>
            <a:ext cx="1503909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9" name="Text 35"/>
          <p:cNvSpPr txBox="1"/>
          <p:nvPr/>
        </p:nvSpPr>
        <p:spPr>
          <a:xfrm>
            <a:off x="11290249" y="5288234"/>
            <a:ext cx="1161009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(1, 2, 1)</a:t>
            </a:r>
          </a:p>
        </p:txBody>
      </p:sp>
      <p:sp>
        <p:nvSpPr>
          <p:cNvPr id="770" name="Shape 36"/>
          <p:cNvSpPr/>
          <p:nvPr/>
        </p:nvSpPr>
        <p:spPr>
          <a:xfrm>
            <a:off x="12584609" y="5710510"/>
            <a:ext cx="4169867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1" name="Text 37"/>
          <p:cNvSpPr txBox="1"/>
          <p:nvPr/>
        </p:nvSpPr>
        <p:spPr>
          <a:xfrm>
            <a:off x="12794159" y="5288234"/>
            <a:ext cx="3875862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MA error-correction dominant</a:t>
            </a:r>
          </a:p>
        </p:txBody>
      </p:sp>
      <p:sp>
        <p:nvSpPr>
          <p:cNvPr id="774" name="Text 40"/>
          <p:cNvSpPr txBox="1"/>
          <p:nvPr/>
        </p:nvSpPr>
        <p:spPr>
          <a:xfrm>
            <a:off x="10144125" y="6145484"/>
            <a:ext cx="6514718" cy="752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>
              <a:lnSpc>
                <a:spcPct val="150000"/>
              </a:lnSpc>
              <a:defRPr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b="0" dirty="0"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7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MODELS</a:t>
            </a:r>
          </a:p>
        </p:txBody>
      </p:sp>
      <p:sp>
        <p:nvSpPr>
          <p:cNvPr id="778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9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Residual Diagnostics — ARIMA(1,2,1)</a:t>
            </a:r>
          </a:p>
        </p:txBody>
      </p:sp>
      <p:sp>
        <p:nvSpPr>
          <p:cNvPr id="780" name="Shape 4"/>
          <p:cNvSpPr/>
          <p:nvPr/>
        </p:nvSpPr>
        <p:spPr>
          <a:xfrm>
            <a:off x="952500" y="2114550"/>
            <a:ext cx="107442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1" name="Text 5"/>
          <p:cNvSpPr txBox="1"/>
          <p:nvPr/>
        </p:nvSpPr>
        <p:spPr>
          <a:xfrm>
            <a:off x="12611100" y="3105150"/>
            <a:ext cx="487870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32104">
              <a:lnSpc>
                <a:spcPct val="140000"/>
              </a:lnSpc>
              <a:defRPr sz="2002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QQ Plot (left): </a:t>
            </a:r>
            <a:r>
              <a:rPr b="0" dirty="0">
                <a:solidFill>
                  <a:srgbClr val="1C3150"/>
                </a:solidFill>
              </a:rPr>
              <a:t>heavy tails — kurtosis = 7.95 vs 3 for normal. Occasional large errors expected</a:t>
            </a:r>
          </a:p>
        </p:txBody>
      </p:sp>
      <p:sp>
        <p:nvSpPr>
          <p:cNvPr id="782" name="Text 6"/>
          <p:cNvSpPr txBox="1"/>
          <p:nvPr/>
        </p:nvSpPr>
        <p:spPr>
          <a:xfrm>
            <a:off x="12611100" y="4457700"/>
            <a:ext cx="487870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32104">
              <a:lnSpc>
                <a:spcPct val="140000"/>
              </a:lnSpc>
              <a:defRPr sz="2002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Residuals over time (right): </a:t>
            </a:r>
            <a:r>
              <a:rPr b="0">
                <a:solidFill>
                  <a:srgbClr val="1C3150"/>
                </a:solidFill>
              </a:rPr>
              <a:t>fluctuate around zero; initial spike = model warm-up</a:t>
            </a:r>
          </a:p>
        </p:txBody>
      </p:sp>
      <p:sp>
        <p:nvSpPr>
          <p:cNvPr id="783" name="Text 7"/>
          <p:cNvSpPr txBox="1"/>
          <p:nvPr/>
        </p:nvSpPr>
        <p:spPr>
          <a:xfrm>
            <a:off x="12611100" y="5600700"/>
            <a:ext cx="4878705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 err="1"/>
              <a:t>Ljung</a:t>
            </a:r>
            <a:r>
              <a:rPr dirty="0"/>
              <a:t>-Box test: </a:t>
            </a:r>
            <a:r>
              <a:rPr b="0" dirty="0">
                <a:solidFill>
                  <a:srgbClr val="1C3150"/>
                </a:solidFill>
              </a:rPr>
              <a:t>all p-values near 0 — residual autocorrelation remains</a:t>
            </a:r>
          </a:p>
        </p:txBody>
      </p:sp>
      <p:sp>
        <p:nvSpPr>
          <p:cNvPr id="784" name="Shape 8"/>
          <p:cNvSpPr/>
          <p:nvPr/>
        </p:nvSpPr>
        <p:spPr>
          <a:xfrm>
            <a:off x="12192000" y="6838950"/>
            <a:ext cx="5143500" cy="1885950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5" name="Shape 9"/>
          <p:cNvSpPr/>
          <p:nvPr/>
        </p:nvSpPr>
        <p:spPr>
          <a:xfrm>
            <a:off x="12192000" y="6838950"/>
            <a:ext cx="57150" cy="188595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6" name="Text 10"/>
          <p:cNvSpPr txBox="1"/>
          <p:nvPr/>
        </p:nvSpPr>
        <p:spPr>
          <a:xfrm>
            <a:off x="12553950" y="7067550"/>
            <a:ext cx="4631055" cy="146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50000"/>
              </a:lnSpc>
              <a:defRPr sz="1746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Imperfect residuals are acceptable: our goal is </a:t>
            </a:r>
            <a:r>
              <a:rPr b="1" dirty="0"/>
              <a:t>long-horizon RUL estimation </a:t>
            </a:r>
            <a:r>
              <a:rPr dirty="0"/>
              <a:t>, not perfect one-step forecasting. Rolling RMSE of </a:t>
            </a:r>
            <a:r>
              <a:rPr b="1" dirty="0"/>
              <a:t>0.028 </a:t>
            </a:r>
            <a:r>
              <a:rPr dirty="0"/>
              <a:t>confirms practical usability.</a:t>
            </a:r>
          </a:p>
        </p:txBody>
      </p:sp>
      <p:pic>
        <p:nvPicPr>
          <p:cNvPr id="78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5819" y="2474650"/>
            <a:ext cx="10355962" cy="6880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0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MODELS</a:t>
            </a:r>
          </a:p>
        </p:txBody>
      </p:sp>
      <p:sp>
        <p:nvSpPr>
          <p:cNvPr id="791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2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Rolling Forecast Validation — Engine 118</a:t>
            </a:r>
          </a:p>
        </p:txBody>
      </p:sp>
      <p:sp>
        <p:nvSpPr>
          <p:cNvPr id="793" name="Shape 4"/>
          <p:cNvSpPr/>
          <p:nvPr/>
        </p:nvSpPr>
        <p:spPr>
          <a:xfrm>
            <a:off x="952500" y="2114550"/>
            <a:ext cx="107442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4" name="Text 5"/>
          <p:cNvSpPr txBox="1"/>
          <p:nvPr/>
        </p:nvSpPr>
        <p:spPr>
          <a:xfrm>
            <a:off x="12611100" y="2731293"/>
            <a:ext cx="4878705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Blue line: </a:t>
            </a:r>
            <a:r>
              <a:rPr b="0">
                <a:solidFill>
                  <a:srgbClr val="1C3150"/>
                </a:solidFill>
              </a:rPr>
              <a:t>observed health index (543 cycles)</a:t>
            </a:r>
          </a:p>
        </p:txBody>
      </p:sp>
      <p:sp>
        <p:nvSpPr>
          <p:cNvPr id="795" name="Text 6"/>
          <p:cNvSpPr txBox="1"/>
          <p:nvPr/>
        </p:nvSpPr>
        <p:spPr>
          <a:xfrm>
            <a:off x="12611100" y="3683794"/>
            <a:ext cx="4878705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Orange dashed: </a:t>
            </a:r>
            <a:r>
              <a:rPr b="0">
                <a:solidFill>
                  <a:srgbClr val="1C3150"/>
                </a:solidFill>
              </a:rPr>
              <a:t>AR(10) walk-forward rolling forecast (last 30%)</a:t>
            </a:r>
          </a:p>
        </p:txBody>
      </p:sp>
      <p:sp>
        <p:nvSpPr>
          <p:cNvPr id="796" name="Text 7"/>
          <p:cNvSpPr txBox="1"/>
          <p:nvPr/>
        </p:nvSpPr>
        <p:spPr>
          <a:xfrm>
            <a:off x="12611100" y="4636294"/>
            <a:ext cx="4878705" cy="438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/>
          <a:p>
            <a:pPr>
              <a:lnSpc>
                <a:spcPct val="140000"/>
              </a:lnSpc>
              <a:defRPr sz="22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Red dashed: </a:t>
            </a:r>
            <a:r>
              <a:rPr b="0">
                <a:solidFill>
                  <a:srgbClr val="1C3150"/>
                </a:solidFill>
              </a:rPr>
              <a:t>failure threshold = 1.685</a:t>
            </a:r>
          </a:p>
        </p:txBody>
      </p:sp>
      <p:sp>
        <p:nvSpPr>
          <p:cNvPr id="797" name="Text 8"/>
          <p:cNvSpPr txBox="1"/>
          <p:nvPr/>
        </p:nvSpPr>
        <p:spPr>
          <a:xfrm>
            <a:off x="12611100" y="5188744"/>
            <a:ext cx="4878705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Rolling RMSE = </a:t>
            </a:r>
            <a:r>
              <a:rPr b="1" dirty="0">
                <a:solidFill>
                  <a:srgbClr val="12294A"/>
                </a:solidFill>
              </a:rPr>
              <a:t>0.028 </a:t>
            </a:r>
            <a:r>
              <a:rPr dirty="0" smtClean="0"/>
              <a:t>—</a:t>
            </a:r>
            <a:r>
              <a:rPr lang="en-IN" dirty="0" smtClean="0"/>
              <a:t> </a:t>
            </a:r>
            <a:r>
              <a:rPr dirty="0" smtClean="0"/>
              <a:t>one-step-ahead </a:t>
            </a:r>
            <a:r>
              <a:rPr dirty="0"/>
              <a:t>accuracy</a:t>
            </a:r>
          </a:p>
        </p:txBody>
      </p:sp>
      <p:sp>
        <p:nvSpPr>
          <p:cNvPr id="798" name="Text 9"/>
          <p:cNvSpPr txBox="1"/>
          <p:nvPr/>
        </p:nvSpPr>
        <p:spPr>
          <a:xfrm>
            <a:off x="12611100" y="6141244"/>
            <a:ext cx="4878705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lnSpc>
                <a:spcPct val="140000"/>
              </a:lnSpc>
              <a:defRPr sz="2068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Forecast crosses threshold at cycle ~</a:t>
            </a:r>
            <a:r>
              <a:rPr dirty="0" smtClean="0"/>
              <a:t>480</a:t>
            </a:r>
            <a:endParaRPr dirty="0"/>
          </a:p>
        </p:txBody>
      </p:sp>
      <p:pic>
        <p:nvPicPr>
          <p:cNvPr id="802" name="pasted-movie.png" descr="pasted-movie.png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4058" y="2295525"/>
            <a:ext cx="10422034" cy="7493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5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MODELS</a:t>
            </a:r>
          </a:p>
        </p:txBody>
      </p:sp>
      <p:sp>
        <p:nvSpPr>
          <p:cNvPr id="806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7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The </a:t>
            </a:r>
            <a:r>
              <a:rPr lang="en-IN" dirty="0" smtClean="0"/>
              <a:t>Main</a:t>
            </a:r>
            <a:r>
              <a:rPr dirty="0" smtClean="0"/>
              <a:t> </a:t>
            </a:r>
            <a:r>
              <a:rPr dirty="0"/>
              <a:t>Mechanism</a:t>
            </a:r>
          </a:p>
        </p:txBody>
      </p:sp>
      <p:sp>
        <p:nvSpPr>
          <p:cNvPr id="808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  <p:sp>
        <p:nvSpPr>
          <p:cNvPr id="809" name="Text 5"/>
          <p:cNvSpPr txBox="1"/>
          <p:nvPr/>
        </p:nvSpPr>
        <p:spPr>
          <a:xfrm>
            <a:off x="1562100" y="354129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  <p:sp>
        <p:nvSpPr>
          <p:cNvPr id="810" name="Text 6"/>
          <p:cNvSpPr txBox="1"/>
          <p:nvPr/>
        </p:nvSpPr>
        <p:spPr>
          <a:xfrm>
            <a:off x="1716088" y="432834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b="0" dirty="0">
              <a:solidFill>
                <a:srgbClr val="1C3150"/>
              </a:solidFill>
            </a:endParaRPr>
          </a:p>
        </p:txBody>
      </p:sp>
      <p:sp>
        <p:nvSpPr>
          <p:cNvPr id="811" name="Text 7"/>
          <p:cNvSpPr txBox="1"/>
          <p:nvPr/>
        </p:nvSpPr>
        <p:spPr>
          <a:xfrm>
            <a:off x="1299400" y="2744091"/>
            <a:ext cx="7566850" cy="47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40000"/>
              </a:lnSpc>
              <a:defRPr sz="2400">
                <a:solidFill>
                  <a:srgbClr val="1C3150"/>
                </a:solidFill>
                <a:latin typeface="monospace"/>
                <a:ea typeface="monospace"/>
                <a:cs typeface="monospace"/>
                <a:sym typeface="monospace"/>
              </a:defRPr>
            </a:lvl1pPr>
          </a:lstStyle>
          <a:p>
            <a:r>
              <a:rPr dirty="0"/>
              <a:t>RUL = slope × </a:t>
            </a:r>
            <a:r>
              <a:rPr dirty="0" err="1"/>
              <a:t>health_index</a:t>
            </a:r>
            <a:r>
              <a:rPr dirty="0"/>
              <a:t> + intercept</a:t>
            </a:r>
          </a:p>
        </p:txBody>
      </p:sp>
      <p:sp>
        <p:nvSpPr>
          <p:cNvPr id="812" name="Text 8"/>
          <p:cNvSpPr txBox="1"/>
          <p:nvPr/>
        </p:nvSpPr>
        <p:spPr>
          <a:xfrm>
            <a:off x="1299400" y="3573287"/>
            <a:ext cx="1187050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59536">
              <a:lnSpc>
                <a:spcPct val="140000"/>
              </a:lnSpc>
              <a:defRPr sz="2256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Safety factor 0.88 </a:t>
            </a:r>
            <a:r>
              <a:rPr b="0" dirty="0">
                <a:solidFill>
                  <a:srgbClr val="1C3150"/>
                </a:solidFill>
              </a:rPr>
              <a:t>applied — makes all predictions slightly conservative</a:t>
            </a:r>
          </a:p>
        </p:txBody>
      </p:sp>
      <p:sp>
        <p:nvSpPr>
          <p:cNvPr id="813" name="Shape 9"/>
          <p:cNvSpPr/>
          <p:nvPr/>
        </p:nvSpPr>
        <p:spPr>
          <a:xfrm>
            <a:off x="1111250" y="5259658"/>
            <a:ext cx="7753350" cy="2490790"/>
          </a:xfrm>
          <a:prstGeom prst="roundRect">
            <a:avLst>
              <a:gd name="adj" fmla="val 611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4" name="Shape 10"/>
          <p:cNvSpPr/>
          <p:nvPr/>
        </p:nvSpPr>
        <p:spPr>
          <a:xfrm>
            <a:off x="1111250" y="7752035"/>
            <a:ext cx="775335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5" name="Shape 11"/>
          <p:cNvSpPr/>
          <p:nvPr/>
        </p:nvSpPr>
        <p:spPr>
          <a:xfrm>
            <a:off x="1111250" y="5270772"/>
            <a:ext cx="7753350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6" name="Shape 12"/>
          <p:cNvSpPr/>
          <p:nvPr/>
        </p:nvSpPr>
        <p:spPr>
          <a:xfrm>
            <a:off x="1111250" y="5272359"/>
            <a:ext cx="57150" cy="2490790"/>
          </a:xfrm>
          <a:prstGeom prst="rect">
            <a:avLst/>
          </a:prstGeom>
          <a:solidFill>
            <a:srgbClr val="F0A50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7" name="Shape 13"/>
          <p:cNvSpPr/>
          <p:nvPr/>
        </p:nvSpPr>
        <p:spPr>
          <a:xfrm>
            <a:off x="8853487" y="5272359"/>
            <a:ext cx="12701" cy="2490790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8" name="Text 14"/>
          <p:cNvSpPr txBox="1"/>
          <p:nvPr/>
        </p:nvSpPr>
        <p:spPr>
          <a:xfrm>
            <a:off x="1549400" y="5662884"/>
            <a:ext cx="7132416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Why the Safety Factor?</a:t>
            </a:r>
          </a:p>
        </p:txBody>
      </p:sp>
      <p:sp>
        <p:nvSpPr>
          <p:cNvPr id="819" name="Text 15"/>
          <p:cNvSpPr txBox="1"/>
          <p:nvPr/>
        </p:nvSpPr>
        <p:spPr>
          <a:xfrm>
            <a:off x="1549400" y="6215334"/>
            <a:ext cx="7132416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50000"/>
              </a:lnSpc>
              <a:defRPr sz="1879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NASA scoring penalises </a:t>
            </a:r>
            <a:r>
              <a:rPr b="1"/>
              <a:t>late </a:t>
            </a:r>
            <a:r>
              <a:t>predictions more than early ones. A 0.88 multiplier shifts all predictions slightly downward — accumulating fewer late-prediction penalties.</a:t>
            </a:r>
          </a:p>
        </p:txBody>
      </p:sp>
      <p:sp>
        <p:nvSpPr>
          <p:cNvPr id="826" name="Text 22"/>
          <p:cNvSpPr txBox="1"/>
          <p:nvPr/>
        </p:nvSpPr>
        <p:spPr>
          <a:xfrm>
            <a:off x="9829800" y="6140722"/>
            <a:ext cx="7132416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lnSpc>
                <a:spcPct val="150000"/>
              </a:lnSpc>
              <a:defRPr sz="1879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9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MODELS</a:t>
            </a:r>
          </a:p>
        </p:txBody>
      </p:sp>
      <p:sp>
        <p:nvSpPr>
          <p:cNvPr id="830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1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Classical Model Performance</a:t>
            </a:r>
          </a:p>
        </p:txBody>
      </p:sp>
      <p:sp>
        <p:nvSpPr>
          <p:cNvPr id="832" name="Shape 4"/>
          <p:cNvSpPr/>
          <p:nvPr/>
        </p:nvSpPr>
        <p:spPr>
          <a:xfrm>
            <a:off x="952500" y="2114550"/>
            <a:ext cx="10172700" cy="7600950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3" name="Shape 5"/>
          <p:cNvSpPr/>
          <p:nvPr/>
        </p:nvSpPr>
        <p:spPr>
          <a:xfrm>
            <a:off x="11620500" y="3555205"/>
            <a:ext cx="1920328" cy="904876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4" name="Text 6"/>
          <p:cNvSpPr txBox="1"/>
          <p:nvPr/>
        </p:nvSpPr>
        <p:spPr>
          <a:xfrm>
            <a:off x="11830050" y="3707605"/>
            <a:ext cx="1577430" cy="6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>
              <a:defRPr sz="20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Model</a:t>
            </a:r>
          </a:p>
        </p:txBody>
      </p:sp>
      <p:sp>
        <p:nvSpPr>
          <p:cNvPr id="835" name="Shape 7"/>
          <p:cNvSpPr/>
          <p:nvPr/>
        </p:nvSpPr>
        <p:spPr>
          <a:xfrm>
            <a:off x="13540829" y="3555205"/>
            <a:ext cx="1117328" cy="904876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6" name="Text 8"/>
          <p:cNvSpPr txBox="1"/>
          <p:nvPr/>
        </p:nvSpPr>
        <p:spPr>
          <a:xfrm>
            <a:off x="13750379" y="3707605"/>
            <a:ext cx="774428" cy="6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 defTabSz="896111">
              <a:defRPr sz="196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RMSE</a:t>
            </a:r>
          </a:p>
        </p:txBody>
      </p:sp>
      <p:sp>
        <p:nvSpPr>
          <p:cNvPr id="837" name="Shape 9"/>
          <p:cNvSpPr/>
          <p:nvPr/>
        </p:nvSpPr>
        <p:spPr>
          <a:xfrm>
            <a:off x="14658156" y="3555205"/>
            <a:ext cx="1547888" cy="904876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8" name="Text 10"/>
          <p:cNvSpPr txBox="1"/>
          <p:nvPr/>
        </p:nvSpPr>
        <p:spPr>
          <a:xfrm>
            <a:off x="14867706" y="3707605"/>
            <a:ext cx="1204988" cy="6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886968">
              <a:defRPr sz="194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NASA Score</a:t>
            </a:r>
          </a:p>
        </p:txBody>
      </p:sp>
      <p:sp>
        <p:nvSpPr>
          <p:cNvPr id="839" name="Shape 11"/>
          <p:cNvSpPr/>
          <p:nvPr/>
        </p:nvSpPr>
        <p:spPr>
          <a:xfrm>
            <a:off x="16206043" y="3555205"/>
            <a:ext cx="1129458" cy="904876"/>
          </a:xfrm>
          <a:prstGeom prst="rect">
            <a:avLst/>
          </a:prstGeom>
          <a:solidFill>
            <a:srgbClr val="1229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0" name="Text 12"/>
          <p:cNvSpPr txBox="1"/>
          <p:nvPr/>
        </p:nvSpPr>
        <p:spPr>
          <a:xfrm>
            <a:off x="16415593" y="3707605"/>
            <a:ext cx="786558" cy="6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/>
          </a:bodyPr>
          <a:lstStyle>
            <a:lvl1pPr>
              <a:defRPr sz="20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R²</a:t>
            </a:r>
          </a:p>
        </p:txBody>
      </p:sp>
      <p:sp>
        <p:nvSpPr>
          <p:cNvPr id="841" name="Shape 13"/>
          <p:cNvSpPr/>
          <p:nvPr/>
        </p:nvSpPr>
        <p:spPr>
          <a:xfrm>
            <a:off x="11620500" y="5010943"/>
            <a:ext cx="192032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2" name="Text 14"/>
          <p:cNvSpPr txBox="1"/>
          <p:nvPr/>
        </p:nvSpPr>
        <p:spPr>
          <a:xfrm>
            <a:off x="11830050" y="4593430"/>
            <a:ext cx="1577430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AR(10,2,0)</a:t>
            </a:r>
          </a:p>
        </p:txBody>
      </p:sp>
      <p:sp>
        <p:nvSpPr>
          <p:cNvPr id="843" name="Shape 15"/>
          <p:cNvSpPr/>
          <p:nvPr/>
        </p:nvSpPr>
        <p:spPr>
          <a:xfrm>
            <a:off x="13540829" y="5010943"/>
            <a:ext cx="111732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4" name="Text 16"/>
          <p:cNvSpPr txBox="1"/>
          <p:nvPr/>
        </p:nvSpPr>
        <p:spPr>
          <a:xfrm>
            <a:off x="13750379" y="4593430"/>
            <a:ext cx="774428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27.67</a:t>
            </a:r>
          </a:p>
        </p:txBody>
      </p:sp>
      <p:sp>
        <p:nvSpPr>
          <p:cNvPr id="845" name="Shape 17"/>
          <p:cNvSpPr/>
          <p:nvPr/>
        </p:nvSpPr>
        <p:spPr>
          <a:xfrm>
            <a:off x="14658156" y="5010943"/>
            <a:ext cx="154788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6" name="Text 18"/>
          <p:cNvSpPr txBox="1"/>
          <p:nvPr/>
        </p:nvSpPr>
        <p:spPr>
          <a:xfrm>
            <a:off x="14867706" y="4593430"/>
            <a:ext cx="1204988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25,742</a:t>
            </a:r>
          </a:p>
        </p:txBody>
      </p:sp>
      <p:sp>
        <p:nvSpPr>
          <p:cNvPr id="847" name="Shape 19"/>
          <p:cNvSpPr/>
          <p:nvPr/>
        </p:nvSpPr>
        <p:spPr>
          <a:xfrm>
            <a:off x="16206043" y="5010943"/>
            <a:ext cx="112945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8" name="Text 20"/>
          <p:cNvSpPr txBox="1"/>
          <p:nvPr/>
        </p:nvSpPr>
        <p:spPr>
          <a:xfrm>
            <a:off x="16415593" y="4593430"/>
            <a:ext cx="786558" cy="32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0.586</a:t>
            </a:r>
          </a:p>
        </p:txBody>
      </p:sp>
      <p:sp>
        <p:nvSpPr>
          <p:cNvPr id="849" name="Shape 21"/>
          <p:cNvSpPr/>
          <p:nvPr/>
        </p:nvSpPr>
        <p:spPr>
          <a:xfrm>
            <a:off x="11620500" y="5022055"/>
            <a:ext cx="1920328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0" name="Shape 22"/>
          <p:cNvSpPr/>
          <p:nvPr/>
        </p:nvSpPr>
        <p:spPr>
          <a:xfrm>
            <a:off x="11620500" y="5577681"/>
            <a:ext cx="192032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1" name="Text 23"/>
          <p:cNvSpPr txBox="1"/>
          <p:nvPr/>
        </p:nvSpPr>
        <p:spPr>
          <a:xfrm>
            <a:off x="11830050" y="5155405"/>
            <a:ext cx="157743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ARMA(1,2,1)</a:t>
            </a:r>
          </a:p>
        </p:txBody>
      </p:sp>
      <p:sp>
        <p:nvSpPr>
          <p:cNvPr id="852" name="Shape 24"/>
          <p:cNvSpPr/>
          <p:nvPr/>
        </p:nvSpPr>
        <p:spPr>
          <a:xfrm>
            <a:off x="13540829" y="5022055"/>
            <a:ext cx="1117328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3" name="Shape 25"/>
          <p:cNvSpPr/>
          <p:nvPr/>
        </p:nvSpPr>
        <p:spPr>
          <a:xfrm>
            <a:off x="13540829" y="5577681"/>
            <a:ext cx="111732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4" name="Text 26"/>
          <p:cNvSpPr txBox="1"/>
          <p:nvPr/>
        </p:nvSpPr>
        <p:spPr>
          <a:xfrm>
            <a:off x="13750379" y="5155405"/>
            <a:ext cx="77442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26.19</a:t>
            </a:r>
          </a:p>
        </p:txBody>
      </p:sp>
      <p:sp>
        <p:nvSpPr>
          <p:cNvPr id="855" name="Shape 27"/>
          <p:cNvSpPr/>
          <p:nvPr/>
        </p:nvSpPr>
        <p:spPr>
          <a:xfrm>
            <a:off x="14658156" y="5022055"/>
            <a:ext cx="1547888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6" name="Shape 28"/>
          <p:cNvSpPr/>
          <p:nvPr/>
        </p:nvSpPr>
        <p:spPr>
          <a:xfrm>
            <a:off x="14658156" y="5577681"/>
            <a:ext cx="154788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7" name="Text 29"/>
          <p:cNvSpPr txBox="1"/>
          <p:nvPr/>
        </p:nvSpPr>
        <p:spPr>
          <a:xfrm>
            <a:off x="14867706" y="5155405"/>
            <a:ext cx="120498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17,514</a:t>
            </a:r>
          </a:p>
        </p:txBody>
      </p:sp>
      <p:sp>
        <p:nvSpPr>
          <p:cNvPr id="858" name="Shape 30"/>
          <p:cNvSpPr/>
          <p:nvPr/>
        </p:nvSpPr>
        <p:spPr>
          <a:xfrm>
            <a:off x="16206043" y="5022055"/>
            <a:ext cx="1129458" cy="566739"/>
          </a:xfrm>
          <a:prstGeom prst="rect">
            <a:avLst/>
          </a:prstGeom>
          <a:solidFill>
            <a:srgbClr val="1F5FA6">
              <a:alpha val="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9" name="Shape 31"/>
          <p:cNvSpPr/>
          <p:nvPr/>
        </p:nvSpPr>
        <p:spPr>
          <a:xfrm>
            <a:off x="16206043" y="5577681"/>
            <a:ext cx="112945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0" name="Text 32"/>
          <p:cNvSpPr txBox="1"/>
          <p:nvPr/>
        </p:nvSpPr>
        <p:spPr>
          <a:xfrm>
            <a:off x="16415593" y="5155405"/>
            <a:ext cx="78655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0.629</a:t>
            </a:r>
          </a:p>
        </p:txBody>
      </p:sp>
      <p:sp>
        <p:nvSpPr>
          <p:cNvPr id="861" name="Shape 33"/>
          <p:cNvSpPr/>
          <p:nvPr/>
        </p:nvSpPr>
        <p:spPr>
          <a:xfrm>
            <a:off x="11620500" y="6144418"/>
            <a:ext cx="192032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2" name="Text 34"/>
          <p:cNvSpPr txBox="1"/>
          <p:nvPr/>
        </p:nvSpPr>
        <p:spPr>
          <a:xfrm>
            <a:off x="11830050" y="5722144"/>
            <a:ext cx="1577430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ARIMA(1,2,1)</a:t>
            </a:r>
          </a:p>
        </p:txBody>
      </p:sp>
      <p:sp>
        <p:nvSpPr>
          <p:cNvPr id="863" name="Shape 35"/>
          <p:cNvSpPr/>
          <p:nvPr/>
        </p:nvSpPr>
        <p:spPr>
          <a:xfrm>
            <a:off x="13540829" y="6144418"/>
            <a:ext cx="111732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4" name="Text 36"/>
          <p:cNvSpPr txBox="1"/>
          <p:nvPr/>
        </p:nvSpPr>
        <p:spPr>
          <a:xfrm>
            <a:off x="13750379" y="5722144"/>
            <a:ext cx="77442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24.76</a:t>
            </a:r>
          </a:p>
        </p:txBody>
      </p:sp>
      <p:sp>
        <p:nvSpPr>
          <p:cNvPr id="865" name="Shape 37"/>
          <p:cNvSpPr/>
          <p:nvPr/>
        </p:nvSpPr>
        <p:spPr>
          <a:xfrm>
            <a:off x="14658156" y="6144418"/>
            <a:ext cx="154788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6" name="Text 38"/>
          <p:cNvSpPr txBox="1"/>
          <p:nvPr/>
        </p:nvSpPr>
        <p:spPr>
          <a:xfrm>
            <a:off x="14867706" y="5722144"/>
            <a:ext cx="120498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13,791</a:t>
            </a:r>
          </a:p>
        </p:txBody>
      </p:sp>
      <p:sp>
        <p:nvSpPr>
          <p:cNvPr id="867" name="Shape 39"/>
          <p:cNvSpPr/>
          <p:nvPr/>
        </p:nvSpPr>
        <p:spPr>
          <a:xfrm>
            <a:off x="16206043" y="6144418"/>
            <a:ext cx="1129458" cy="12701"/>
          </a:xfrm>
          <a:prstGeom prst="rect">
            <a:avLst/>
          </a:prstGeom>
          <a:solidFill>
            <a:srgbClr val="D0DC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8" name="Text 40"/>
          <p:cNvSpPr txBox="1"/>
          <p:nvPr/>
        </p:nvSpPr>
        <p:spPr>
          <a:xfrm>
            <a:off x="16415593" y="5722144"/>
            <a:ext cx="786558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normAutofit lnSpcReduction="10000"/>
          </a:bodyPr>
          <a:lstStyle>
            <a:lvl1pPr defTabSz="905255">
              <a:defRPr sz="1881" b="1">
                <a:solidFill>
                  <a:srgbClr val="2A3F58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0.668</a:t>
            </a:r>
          </a:p>
        </p:txBody>
      </p:sp>
      <p:sp>
        <p:nvSpPr>
          <p:cNvPr id="869" name="Shape 41"/>
          <p:cNvSpPr/>
          <p:nvPr/>
        </p:nvSpPr>
        <p:spPr>
          <a:xfrm>
            <a:off x="11620500" y="6388894"/>
            <a:ext cx="5715000" cy="1885951"/>
          </a:xfrm>
          <a:prstGeom prst="rect">
            <a:avLst/>
          </a:prstGeom>
          <a:solidFill>
            <a:srgbClr val="1F5FA6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0" name="Shape 42"/>
          <p:cNvSpPr/>
          <p:nvPr/>
        </p:nvSpPr>
        <p:spPr>
          <a:xfrm>
            <a:off x="11620500" y="6388894"/>
            <a:ext cx="57150" cy="1885951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1" name="Text 43"/>
          <p:cNvSpPr txBox="1"/>
          <p:nvPr/>
        </p:nvSpPr>
        <p:spPr>
          <a:xfrm>
            <a:off x="11982450" y="6617493"/>
            <a:ext cx="5219700" cy="146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lnSpc>
                <a:spcPct val="150000"/>
              </a:lnSpc>
              <a:defRPr sz="1692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Adding the MA term (q=1) allows error-correction — ARIMA outperforms both AR and ARMA on all metrics.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48" y="2170509"/>
            <a:ext cx="9420225" cy="3714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48" y="6122812"/>
            <a:ext cx="9420225" cy="3582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67350" y="5941218"/>
            <a:ext cx="146685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1400" dirty="0" smtClean="0"/>
              <a:t>ARIMA(1,2,1)</a:t>
            </a: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Text 0"/>
          <p:cNvSpPr txBox="1"/>
          <p:nvPr/>
        </p:nvSpPr>
        <p:spPr>
          <a:xfrm>
            <a:off x="8609111" y="4156695"/>
            <a:ext cx="106977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1746" b="1" spc="291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PART 4</a:t>
            </a:r>
          </a:p>
        </p:txBody>
      </p:sp>
      <p:sp>
        <p:nvSpPr>
          <p:cNvPr id="875" name="Text 1"/>
          <p:cNvSpPr txBox="1"/>
          <p:nvPr/>
        </p:nvSpPr>
        <p:spPr>
          <a:xfrm>
            <a:off x="5554338" y="4690095"/>
            <a:ext cx="7179324" cy="792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22959">
              <a:lnSpc>
                <a:spcPct val="110000"/>
              </a:lnSpc>
              <a:defRPr sz="486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Deep Learning Models</a:t>
            </a:r>
          </a:p>
        </p:txBody>
      </p:sp>
      <p:sp>
        <p:nvSpPr>
          <p:cNvPr id="876" name="Text 2"/>
          <p:cNvSpPr txBox="1"/>
          <p:nvPr/>
        </p:nvSpPr>
        <p:spPr>
          <a:xfrm>
            <a:off x="6857789" y="5749230"/>
            <a:ext cx="457242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algn="ctr" defTabSz="868680">
              <a:defRPr sz="2375">
                <a:solidFill>
                  <a:srgbClr val="FFFFFF">
                    <a:alpha val="64999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RNN · LSTM · GRU · Transformer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9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DEEP LEARNING</a:t>
            </a:r>
          </a:p>
        </p:txBody>
      </p:sp>
      <p:sp>
        <p:nvSpPr>
          <p:cNvPr id="880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1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Why Deep Learning?</a:t>
            </a:r>
          </a:p>
        </p:txBody>
      </p:sp>
      <p:sp>
        <p:nvSpPr>
          <p:cNvPr id="882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Classical models are </a:t>
            </a:r>
            <a:r>
              <a:rPr b="1">
                <a:solidFill>
                  <a:srgbClr val="12294A"/>
                </a:solidFill>
              </a:rPr>
              <a:t>univariate &amp; linear </a:t>
            </a:r>
            <a:r>
              <a:t>— work on health index only</a:t>
            </a:r>
          </a:p>
        </p:txBody>
      </p:sp>
      <p:sp>
        <p:nvSpPr>
          <p:cNvPr id="883" name="Text 5"/>
          <p:cNvSpPr txBox="1"/>
          <p:nvPr/>
        </p:nvSpPr>
        <p:spPr>
          <a:xfrm>
            <a:off x="1562100" y="354129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Deep learning uses </a:t>
            </a:r>
            <a:r>
              <a:rPr b="1">
                <a:solidFill>
                  <a:srgbClr val="12294A"/>
                </a:solidFill>
              </a:rPr>
              <a:t>all 14 sensors </a:t>
            </a:r>
            <a:r>
              <a:t>simultaneously — no information compression</a:t>
            </a:r>
          </a:p>
        </p:txBody>
      </p:sp>
      <p:sp>
        <p:nvSpPr>
          <p:cNvPr id="884" name="Text 6"/>
          <p:cNvSpPr txBox="1"/>
          <p:nvPr/>
        </p:nvSpPr>
        <p:spPr>
          <a:xfrm>
            <a:off x="1562100" y="460422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Can learn complex, nonlinear mappings from sensor patterns to RUL</a:t>
            </a:r>
          </a:p>
        </p:txBody>
      </p:sp>
      <p:sp>
        <p:nvSpPr>
          <p:cNvPr id="885" name="Text 7"/>
          <p:cNvSpPr txBox="1"/>
          <p:nvPr/>
        </p:nvSpPr>
        <p:spPr>
          <a:xfrm>
            <a:off x="1562100" y="566715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Designed for sequential data — temporal dependencies propagated through time</a:t>
            </a:r>
          </a:p>
        </p:txBody>
      </p:sp>
      <p:sp>
        <p:nvSpPr>
          <p:cNvPr id="886" name="Text 8"/>
          <p:cNvSpPr txBox="1"/>
          <p:nvPr/>
        </p:nvSpPr>
        <p:spPr>
          <a:xfrm>
            <a:off x="1562100" y="673008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Trained on </a:t>
            </a:r>
            <a:r>
              <a:rPr b="1">
                <a:solidFill>
                  <a:srgbClr val="12294A"/>
                </a:solidFill>
              </a:rPr>
              <a:t>all 248 engines </a:t>
            </a:r>
            <a:r>
              <a:t>at once — learns a universal degradation model</a:t>
            </a:r>
          </a:p>
        </p:txBody>
      </p:sp>
      <p:sp>
        <p:nvSpPr>
          <p:cNvPr id="887" name="Shape 9"/>
          <p:cNvSpPr/>
          <p:nvPr/>
        </p:nvSpPr>
        <p:spPr>
          <a:xfrm>
            <a:off x="9391650" y="2478359"/>
            <a:ext cx="7753350" cy="5253634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8" name="Text 10"/>
          <p:cNvSpPr txBox="1"/>
          <p:nvPr/>
        </p:nvSpPr>
        <p:spPr>
          <a:xfrm>
            <a:off x="9782175" y="2868884"/>
            <a:ext cx="718146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Feature Engineering for DL</a:t>
            </a:r>
          </a:p>
        </p:txBody>
      </p:sp>
      <p:sp>
        <p:nvSpPr>
          <p:cNvPr id="889" name="Text 11"/>
          <p:cNvSpPr txBox="1"/>
          <p:nvPr/>
        </p:nvSpPr>
        <p:spPr>
          <a:xfrm>
            <a:off x="10201275" y="3726134"/>
            <a:ext cx="6762368" cy="78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68680">
              <a:lnSpc>
                <a:spcPct val="140000"/>
              </a:lnSpc>
              <a:defRPr sz="199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14 sensors × 3 rolling windows (5, 10, 20 cycles) = </a:t>
            </a:r>
            <a:r>
              <a:rPr b="1">
                <a:solidFill>
                  <a:srgbClr val="12294A"/>
                </a:solidFill>
              </a:rPr>
              <a:t>42 features </a:t>
            </a:r>
            <a:r>
              <a:t>per cycle</a:t>
            </a:r>
          </a:p>
        </p:txBody>
      </p:sp>
      <p:sp>
        <p:nvSpPr>
          <p:cNvPr id="890" name="Text 12"/>
          <p:cNvSpPr txBox="1"/>
          <p:nvPr/>
        </p:nvSpPr>
        <p:spPr>
          <a:xfrm>
            <a:off x="10201275" y="4682356"/>
            <a:ext cx="6762368" cy="78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defTabSz="868680">
              <a:lnSpc>
                <a:spcPct val="140000"/>
              </a:lnSpc>
              <a:defRPr sz="199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Rolling means embed multi-scale temporal context at each step</a:t>
            </a:r>
          </a:p>
        </p:txBody>
      </p:sp>
      <p:sp>
        <p:nvSpPr>
          <p:cNvPr id="891" name="Text 13"/>
          <p:cNvSpPr txBox="1"/>
          <p:nvPr/>
        </p:nvSpPr>
        <p:spPr>
          <a:xfrm>
            <a:off x="10201275" y="5638577"/>
            <a:ext cx="6762368" cy="78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868680">
              <a:lnSpc>
                <a:spcPct val="140000"/>
              </a:lnSpc>
              <a:defRPr sz="199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Sliding window of </a:t>
            </a:r>
            <a:r>
              <a:rPr b="1">
                <a:solidFill>
                  <a:srgbClr val="12294A"/>
                </a:solidFill>
              </a:rPr>
              <a:t>30 cycles </a:t>
            </a:r>
            <a:r>
              <a:t>→ one input sequence per sample</a:t>
            </a:r>
          </a:p>
        </p:txBody>
      </p:sp>
      <p:sp>
        <p:nvSpPr>
          <p:cNvPr id="892" name="Text 14"/>
          <p:cNvSpPr txBox="1"/>
          <p:nvPr/>
        </p:nvSpPr>
        <p:spPr>
          <a:xfrm>
            <a:off x="10201275" y="6594796"/>
            <a:ext cx="6762368" cy="78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68680">
              <a:lnSpc>
                <a:spcPct val="140000"/>
              </a:lnSpc>
              <a:defRPr sz="199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Train/val split: 80/20 by engine_id (not by row — prevents leakage)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5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DEEP LEARNING</a:t>
            </a:r>
          </a:p>
        </p:txBody>
      </p:sp>
      <p:sp>
        <p:nvSpPr>
          <p:cNvPr id="896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7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RNN (Recurrent Neural Network)</a:t>
            </a:r>
          </a:p>
        </p:txBody>
      </p:sp>
      <p:sp>
        <p:nvSpPr>
          <p:cNvPr id="898" name="Text 4"/>
          <p:cNvSpPr txBox="1"/>
          <p:nvPr/>
        </p:nvSpPr>
        <p:spPr>
          <a:xfrm>
            <a:off x="1371600" y="2114550"/>
            <a:ext cx="448627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lnSpc>
                <a:spcPct val="140000"/>
              </a:lnSpc>
              <a:defRPr sz="2112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Simplest sequential model — passes hidden state forward each cycle</a:t>
            </a:r>
          </a:p>
        </p:txBody>
      </p:sp>
      <p:sp>
        <p:nvSpPr>
          <p:cNvPr id="899" name="Text 5"/>
          <p:cNvSpPr txBox="1"/>
          <p:nvPr/>
        </p:nvSpPr>
        <p:spPr>
          <a:xfrm>
            <a:off x="1371600" y="3467100"/>
            <a:ext cx="448627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832104">
              <a:lnSpc>
                <a:spcPct val="140000"/>
              </a:lnSpc>
              <a:defRPr sz="2002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Suffers from </a:t>
            </a:r>
            <a:r>
              <a:rPr b="1">
                <a:solidFill>
                  <a:srgbClr val="12294A"/>
                </a:solidFill>
              </a:rPr>
              <a:t>vanishing gradient </a:t>
            </a:r>
            <a:r>
              <a:t>— struggles to retain long-range information</a:t>
            </a:r>
          </a:p>
        </p:txBody>
      </p:sp>
      <p:sp>
        <p:nvSpPr>
          <p:cNvPr id="900" name="Text 6"/>
          <p:cNvSpPr txBox="1"/>
          <p:nvPr/>
        </p:nvSpPr>
        <p:spPr>
          <a:xfrm>
            <a:off x="1371600" y="4819650"/>
            <a:ext cx="4486275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Fastest to train — good baseline for comparison</a:t>
            </a:r>
          </a:p>
        </p:txBody>
      </p:sp>
      <p:sp>
        <p:nvSpPr>
          <p:cNvPr id="901" name="Shape 7"/>
          <p:cNvSpPr/>
          <p:nvPr/>
        </p:nvSpPr>
        <p:spPr>
          <a:xfrm>
            <a:off x="6210300" y="6057900"/>
            <a:ext cx="11125200" cy="3657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0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0" y="6200774"/>
            <a:ext cx="10763250" cy="3406213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Shape 8"/>
          <p:cNvSpPr/>
          <p:nvPr/>
        </p:nvSpPr>
        <p:spPr>
          <a:xfrm>
            <a:off x="6210300" y="2114550"/>
            <a:ext cx="11125200" cy="381952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0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86500" y="2280213"/>
            <a:ext cx="10877550" cy="3565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7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DEEP LEARNING</a:t>
            </a:r>
          </a:p>
        </p:txBody>
      </p:sp>
      <p:sp>
        <p:nvSpPr>
          <p:cNvPr id="908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9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LSTM (Long Short-Term Memory)</a:t>
            </a:r>
          </a:p>
        </p:txBody>
      </p:sp>
      <p:sp>
        <p:nvSpPr>
          <p:cNvPr id="910" name="Text 4"/>
          <p:cNvSpPr txBox="1"/>
          <p:nvPr/>
        </p:nvSpPr>
        <p:spPr>
          <a:xfrm>
            <a:off x="1371600" y="2114550"/>
            <a:ext cx="448627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32104">
              <a:lnSpc>
                <a:spcPct val="140000"/>
              </a:lnSpc>
              <a:defRPr sz="2002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Introduces </a:t>
            </a:r>
            <a:r>
              <a:rPr b="1">
                <a:solidFill>
                  <a:srgbClr val="12294A"/>
                </a:solidFill>
              </a:rPr>
              <a:t>forget, input, and output gates </a:t>
            </a:r>
            <a:r>
              <a:t>— learns what to retain and discard</a:t>
            </a:r>
          </a:p>
        </p:txBody>
      </p:sp>
      <p:sp>
        <p:nvSpPr>
          <p:cNvPr id="911" name="Text 5"/>
          <p:cNvSpPr txBox="1"/>
          <p:nvPr/>
        </p:nvSpPr>
        <p:spPr>
          <a:xfrm>
            <a:off x="1371600" y="3467100"/>
            <a:ext cx="4486275" cy="16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lnSpc>
                <a:spcPct val="140000"/>
              </a:lnSpc>
              <a:defRPr sz="204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Solves the vanishing gradient problem — can remember dependencies over hundreds of cycles</a:t>
            </a:r>
          </a:p>
        </p:txBody>
      </p:sp>
      <p:sp>
        <p:nvSpPr>
          <p:cNvPr id="912" name="Text 6"/>
          <p:cNvSpPr txBox="1"/>
          <p:nvPr/>
        </p:nvSpPr>
        <p:spPr>
          <a:xfrm>
            <a:off x="1371600" y="5219700"/>
            <a:ext cx="4486275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Particularly well-suited for long engine degradation sequences</a:t>
            </a:r>
          </a:p>
        </p:txBody>
      </p:sp>
      <p:sp>
        <p:nvSpPr>
          <p:cNvPr id="913" name="Shape 7"/>
          <p:cNvSpPr/>
          <p:nvPr/>
        </p:nvSpPr>
        <p:spPr>
          <a:xfrm>
            <a:off x="6210300" y="6620478"/>
            <a:ext cx="11125200" cy="309502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1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96627" y="6763716"/>
            <a:ext cx="10878373" cy="2831698"/>
          </a:xfrm>
          <a:prstGeom prst="rect">
            <a:avLst/>
          </a:prstGeom>
          <a:ln w="12700">
            <a:miter lim="400000"/>
          </a:ln>
        </p:spPr>
      </p:pic>
      <p:sp>
        <p:nvSpPr>
          <p:cNvPr id="915" name="Shape 8"/>
          <p:cNvSpPr/>
          <p:nvPr/>
        </p:nvSpPr>
        <p:spPr>
          <a:xfrm>
            <a:off x="6210300" y="2114550"/>
            <a:ext cx="11125200" cy="4367273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627" y="2253205"/>
            <a:ext cx="10807098" cy="42286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9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DEEP LEARNING</a:t>
            </a:r>
          </a:p>
        </p:txBody>
      </p:sp>
      <p:sp>
        <p:nvSpPr>
          <p:cNvPr id="920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1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GRU (Gated Recurrent Unit)</a:t>
            </a:r>
          </a:p>
        </p:txBody>
      </p:sp>
      <p:sp>
        <p:nvSpPr>
          <p:cNvPr id="922" name="Text 4"/>
          <p:cNvSpPr txBox="1"/>
          <p:nvPr/>
        </p:nvSpPr>
        <p:spPr>
          <a:xfrm>
            <a:off x="1371600" y="2114550"/>
            <a:ext cx="448627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50391">
              <a:lnSpc>
                <a:spcPct val="140000"/>
              </a:lnSpc>
              <a:defRPr sz="204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Simplified LSTM — merges forget and input gates into a single </a:t>
            </a:r>
            <a:r>
              <a:rPr b="1">
                <a:solidFill>
                  <a:srgbClr val="12294A"/>
                </a:solidFill>
              </a:rPr>
              <a:t>update gate</a:t>
            </a:r>
          </a:p>
        </p:txBody>
      </p:sp>
      <p:sp>
        <p:nvSpPr>
          <p:cNvPr id="923" name="Text 5"/>
          <p:cNvSpPr txBox="1"/>
          <p:nvPr/>
        </p:nvSpPr>
        <p:spPr>
          <a:xfrm>
            <a:off x="1371600" y="3467100"/>
            <a:ext cx="448627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defTabSz="832104">
              <a:lnSpc>
                <a:spcPct val="140000"/>
              </a:lnSpc>
              <a:defRPr sz="2002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Fewer parameters → faster training, often comparable performance to LSTM</a:t>
            </a:r>
          </a:p>
        </p:txBody>
      </p:sp>
      <p:sp>
        <p:nvSpPr>
          <p:cNvPr id="924" name="Text 6"/>
          <p:cNvSpPr txBox="1"/>
          <p:nvPr/>
        </p:nvSpPr>
        <p:spPr>
          <a:xfrm>
            <a:off x="1371600" y="4819650"/>
            <a:ext cx="448627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140000"/>
              </a:lnSpc>
              <a:defRPr sz="21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Strong choice for shorter sequences or when training time is a constraint</a:t>
            </a:r>
          </a:p>
        </p:txBody>
      </p:sp>
      <p:sp>
        <p:nvSpPr>
          <p:cNvPr id="925" name="Shape 7"/>
          <p:cNvSpPr/>
          <p:nvPr/>
        </p:nvSpPr>
        <p:spPr>
          <a:xfrm>
            <a:off x="6210300" y="6748040"/>
            <a:ext cx="11125200" cy="2967459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2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91553" y="6841121"/>
            <a:ext cx="10162693" cy="2874379"/>
          </a:xfrm>
          <a:prstGeom prst="rect">
            <a:avLst/>
          </a:prstGeom>
          <a:ln w="12700">
            <a:miter lim="400000"/>
          </a:ln>
        </p:spPr>
      </p:pic>
      <p:sp>
        <p:nvSpPr>
          <p:cNvPr id="927" name="Shape 8"/>
          <p:cNvSpPr/>
          <p:nvPr/>
        </p:nvSpPr>
        <p:spPr>
          <a:xfrm>
            <a:off x="6210300" y="2114550"/>
            <a:ext cx="11125200" cy="4459871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2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34124" y="2280213"/>
            <a:ext cx="10877550" cy="41437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1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DEEP LEARNING</a:t>
            </a:r>
          </a:p>
        </p:txBody>
      </p:sp>
      <p:sp>
        <p:nvSpPr>
          <p:cNvPr id="932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3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Transformer</a:t>
            </a:r>
          </a:p>
        </p:txBody>
      </p:sp>
      <p:sp>
        <p:nvSpPr>
          <p:cNvPr id="934" name="Text 4"/>
          <p:cNvSpPr txBox="1"/>
          <p:nvPr/>
        </p:nvSpPr>
        <p:spPr>
          <a:xfrm>
            <a:off x="1371600" y="2114550"/>
            <a:ext cx="448627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32104">
              <a:lnSpc>
                <a:spcPct val="140000"/>
              </a:lnSpc>
              <a:defRPr sz="2002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Uses </a:t>
            </a:r>
            <a:r>
              <a:rPr b="1">
                <a:solidFill>
                  <a:srgbClr val="12294A"/>
                </a:solidFill>
              </a:rPr>
              <a:t>self-attention </a:t>
            </a:r>
            <a:r>
              <a:t>— each cycle can directly attend to any other cycle in the window</a:t>
            </a:r>
          </a:p>
        </p:txBody>
      </p:sp>
      <p:sp>
        <p:nvSpPr>
          <p:cNvPr id="935" name="Text 5"/>
          <p:cNvSpPr txBox="1"/>
          <p:nvPr/>
        </p:nvSpPr>
        <p:spPr>
          <a:xfrm>
            <a:off x="1371600" y="3467100"/>
            <a:ext cx="448627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lnSpc>
                <a:spcPct val="140000"/>
              </a:lnSpc>
              <a:defRPr sz="204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No recurrence — processes sequence in parallel; faster training on GPUs</a:t>
            </a:r>
          </a:p>
        </p:txBody>
      </p:sp>
      <p:sp>
        <p:nvSpPr>
          <p:cNvPr id="936" name="Text 6"/>
          <p:cNvSpPr txBox="1"/>
          <p:nvPr/>
        </p:nvSpPr>
        <p:spPr>
          <a:xfrm>
            <a:off x="1371600" y="4819650"/>
            <a:ext cx="4486275" cy="123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140000"/>
              </a:lnSpc>
              <a:defRPr sz="209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Best at capturing long-range dependencies without gradient issues</a:t>
            </a:r>
          </a:p>
        </p:txBody>
      </p:sp>
      <p:sp>
        <p:nvSpPr>
          <p:cNvPr id="937" name="Text 7"/>
          <p:cNvSpPr txBox="1"/>
          <p:nvPr/>
        </p:nvSpPr>
        <p:spPr>
          <a:xfrm>
            <a:off x="1371600" y="6172200"/>
            <a:ext cx="4486275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 defTabSz="886968">
              <a:lnSpc>
                <a:spcPct val="140000"/>
              </a:lnSpc>
              <a:defRPr sz="2134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/>
              <a:t>More parameters → needs more data to </a:t>
            </a:r>
            <a:r>
              <a:rPr dirty="0" err="1"/>
              <a:t>generalise</a:t>
            </a:r>
            <a:r>
              <a:rPr dirty="0"/>
              <a:t> well</a:t>
            </a:r>
          </a:p>
        </p:txBody>
      </p:sp>
      <p:sp>
        <p:nvSpPr>
          <p:cNvPr id="938" name="Shape 8"/>
          <p:cNvSpPr/>
          <p:nvPr/>
        </p:nvSpPr>
        <p:spPr>
          <a:xfrm>
            <a:off x="6238875" y="6701742"/>
            <a:ext cx="11125200" cy="3051857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3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12221" y="6783849"/>
            <a:ext cx="10804204" cy="2941173"/>
          </a:xfrm>
          <a:prstGeom prst="rect">
            <a:avLst/>
          </a:prstGeom>
          <a:ln w="12700">
            <a:miter lim="400000"/>
          </a:ln>
        </p:spPr>
      </p:pic>
      <p:sp>
        <p:nvSpPr>
          <p:cNvPr id="940" name="Shape 9"/>
          <p:cNvSpPr/>
          <p:nvPr/>
        </p:nvSpPr>
        <p:spPr>
          <a:xfrm>
            <a:off x="6238875" y="2038349"/>
            <a:ext cx="11125200" cy="4374027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4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12221" y="2077838"/>
            <a:ext cx="10877550" cy="43345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Text 0"/>
          <p:cNvSpPr txBox="1"/>
          <p:nvPr/>
        </p:nvSpPr>
        <p:spPr>
          <a:xfrm>
            <a:off x="8611641" y="4156695"/>
            <a:ext cx="106471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1746" b="1" spc="291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PART 5</a:t>
            </a:r>
          </a:p>
        </p:txBody>
      </p:sp>
      <p:sp>
        <p:nvSpPr>
          <p:cNvPr id="944" name="Text 1"/>
          <p:cNvSpPr txBox="1"/>
          <p:nvPr/>
        </p:nvSpPr>
        <p:spPr>
          <a:xfrm>
            <a:off x="4647227" y="4690095"/>
            <a:ext cx="8993546" cy="792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22959">
              <a:lnSpc>
                <a:spcPct val="110000"/>
              </a:lnSpc>
              <a:defRPr sz="486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Quantile Regression Models</a:t>
            </a:r>
          </a:p>
        </p:txBody>
      </p:sp>
      <p:sp>
        <p:nvSpPr>
          <p:cNvPr id="945" name="Text 2"/>
          <p:cNvSpPr txBox="1"/>
          <p:nvPr/>
        </p:nvSpPr>
        <p:spPr>
          <a:xfrm>
            <a:off x="5685021" y="5749230"/>
            <a:ext cx="691788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77823">
              <a:defRPr sz="2400">
                <a:solidFill>
                  <a:srgbClr val="FFFFFF">
                    <a:alpha val="64999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Probabilistic forecasting with uncertainty bounds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8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QUANTILE MODELS</a:t>
            </a:r>
          </a:p>
        </p:txBody>
      </p:sp>
      <p:sp>
        <p:nvSpPr>
          <p:cNvPr id="949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0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Quantile Regression: Beyond Point Estimates</a:t>
            </a:r>
          </a:p>
        </p:txBody>
      </p:sp>
      <p:sp>
        <p:nvSpPr>
          <p:cNvPr id="951" name="Text 4"/>
          <p:cNvSpPr txBox="1"/>
          <p:nvPr/>
        </p:nvSpPr>
        <p:spPr>
          <a:xfrm>
            <a:off x="1562100" y="2478359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Classical &amp; DL models give a </a:t>
            </a:r>
            <a:r>
              <a:rPr b="1">
                <a:solidFill>
                  <a:srgbClr val="12294A"/>
                </a:solidFill>
              </a:rPr>
              <a:t>single point estimate </a:t>
            </a:r>
            <a:r>
              <a:t>of RUL</a:t>
            </a:r>
          </a:p>
        </p:txBody>
      </p:sp>
      <p:sp>
        <p:nvSpPr>
          <p:cNvPr id="952" name="Text 5"/>
          <p:cNvSpPr txBox="1"/>
          <p:nvPr/>
        </p:nvSpPr>
        <p:spPr>
          <a:xfrm>
            <a:off x="1562100" y="354129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t>Quantile regression gives a </a:t>
            </a:r>
            <a:r>
              <a:rPr b="1">
                <a:solidFill>
                  <a:srgbClr val="12294A"/>
                </a:solidFill>
              </a:rPr>
              <a:t>distribution </a:t>
            </a:r>
            <a:r>
              <a:t>— lower bound, median, upper bound</a:t>
            </a:r>
          </a:p>
        </p:txBody>
      </p:sp>
      <p:sp>
        <p:nvSpPr>
          <p:cNvPr id="953" name="Text 6"/>
          <p:cNvSpPr txBox="1"/>
          <p:nvPr/>
        </p:nvSpPr>
        <p:spPr>
          <a:xfrm>
            <a:off x="1562100" y="4604220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Critical for safety: "We are 90% confident the engine will last at least X more cycles"</a:t>
            </a:r>
          </a:p>
        </p:txBody>
      </p:sp>
      <p:sp>
        <p:nvSpPr>
          <p:cNvPr id="954" name="Text 7"/>
          <p:cNvSpPr txBox="1"/>
          <p:nvPr/>
        </p:nvSpPr>
        <p:spPr>
          <a:xfrm>
            <a:off x="1562100" y="5667152"/>
            <a:ext cx="7566850" cy="89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40000"/>
              </a:lnSpc>
              <a:defRPr sz="2256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Conservative (lower quantile) predictions → schedule maintenance with a safety margin</a:t>
            </a:r>
          </a:p>
        </p:txBody>
      </p:sp>
      <p:sp>
        <p:nvSpPr>
          <p:cNvPr id="955" name="Text 8"/>
          <p:cNvSpPr txBox="1"/>
          <p:nvPr/>
        </p:nvSpPr>
        <p:spPr>
          <a:xfrm>
            <a:off x="1562100" y="6730082"/>
            <a:ext cx="75668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40000"/>
              </a:lnSpc>
              <a:defRPr sz="2400">
                <a:solidFill>
                  <a:srgbClr val="1C315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Enables risk-aware decision-making across the fleet</a:t>
            </a:r>
          </a:p>
        </p:txBody>
      </p:sp>
      <p:sp>
        <p:nvSpPr>
          <p:cNvPr id="956" name="Shape 9"/>
          <p:cNvSpPr/>
          <p:nvPr/>
        </p:nvSpPr>
        <p:spPr>
          <a:xfrm>
            <a:off x="9391650" y="2478359"/>
            <a:ext cx="7753350" cy="2490790"/>
          </a:xfrm>
          <a:prstGeom prst="roundRect">
            <a:avLst>
              <a:gd name="adj" fmla="val 6119"/>
            </a:avLst>
          </a:prstGeom>
          <a:solidFill>
            <a:srgbClr val="12294A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7" name="Text 10"/>
          <p:cNvSpPr txBox="1"/>
          <p:nvPr/>
        </p:nvSpPr>
        <p:spPr>
          <a:xfrm>
            <a:off x="9782175" y="2868884"/>
            <a:ext cx="718146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F0A500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Why Uncertainty Matters</a:t>
            </a:r>
          </a:p>
        </p:txBody>
      </p:sp>
      <p:sp>
        <p:nvSpPr>
          <p:cNvPr id="958" name="Text 11"/>
          <p:cNvSpPr txBox="1"/>
          <p:nvPr/>
        </p:nvSpPr>
        <p:spPr>
          <a:xfrm>
            <a:off x="9782175" y="3421334"/>
            <a:ext cx="7181468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50000"/>
              </a:lnSpc>
              <a:defRPr sz="1879">
                <a:solidFill>
                  <a:srgbClr val="FFFFFF">
                    <a:alpha val="75000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A prediction of "50 cycles" hides whether the true value could be 20 or 80. Quantile models expose this uncertainty so operators can act conservatively.</a:t>
            </a:r>
          </a:p>
        </p:txBody>
      </p:sp>
      <p:sp>
        <p:nvSpPr>
          <p:cNvPr id="959" name="Shape 12"/>
          <p:cNvSpPr/>
          <p:nvPr/>
        </p:nvSpPr>
        <p:spPr>
          <a:xfrm>
            <a:off x="9391650" y="5197747"/>
            <a:ext cx="7753350" cy="2490789"/>
          </a:xfrm>
          <a:prstGeom prst="roundRect">
            <a:avLst>
              <a:gd name="adj" fmla="val 6119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0" name="Text 13"/>
          <p:cNvSpPr txBox="1"/>
          <p:nvPr/>
        </p:nvSpPr>
        <p:spPr>
          <a:xfrm>
            <a:off x="9782175" y="5588272"/>
            <a:ext cx="718146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877823">
              <a:defRPr sz="2400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Pinball Loss</a:t>
            </a:r>
          </a:p>
        </p:txBody>
      </p:sp>
      <p:sp>
        <p:nvSpPr>
          <p:cNvPr id="961" name="Text 14"/>
          <p:cNvSpPr txBox="1"/>
          <p:nvPr/>
        </p:nvSpPr>
        <p:spPr>
          <a:xfrm>
            <a:off x="9782175" y="6140722"/>
            <a:ext cx="7181468" cy="11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50000"/>
              </a:lnSpc>
              <a:defRPr sz="1879">
                <a:solidFill>
                  <a:srgbClr val="344A63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Quantile models are trained with the pinball (quantile) loss — an asymmetric loss that penalises underprediction at upper quantiles and overprediction at lower quantiles.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4" name="Text 1"/>
          <p:cNvSpPr txBox="1"/>
          <p:nvPr/>
        </p:nvSpPr>
        <p:spPr>
          <a:xfrm>
            <a:off x="952500" y="685800"/>
            <a:ext cx="1687449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QUANTILE MODELS</a:t>
            </a:r>
          </a:p>
        </p:txBody>
      </p:sp>
      <p:sp>
        <p:nvSpPr>
          <p:cNvPr id="965" name="Shape 2"/>
          <p:cNvSpPr/>
          <p:nvPr/>
        </p:nvSpPr>
        <p:spPr>
          <a:xfrm>
            <a:off x="952500" y="1819275"/>
            <a:ext cx="16383000" cy="28575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6" name="Text 3"/>
          <p:cNvSpPr txBox="1"/>
          <p:nvPr/>
        </p:nvSpPr>
        <p:spPr>
          <a:xfrm>
            <a:off x="952500" y="1104900"/>
            <a:ext cx="16874490" cy="561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10000"/>
              </a:lnSpc>
              <a:defRPr sz="3293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Quantile Forecast Examples — Probabilistic RUL Bounds</a:t>
            </a:r>
          </a:p>
        </p:txBody>
      </p:sp>
      <p:sp>
        <p:nvSpPr>
          <p:cNvPr id="967" name="Shape 4"/>
          <p:cNvSpPr/>
          <p:nvPr/>
        </p:nvSpPr>
        <p:spPr>
          <a:xfrm>
            <a:off x="952500" y="2190750"/>
            <a:ext cx="8096250" cy="3667125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6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6325" y="2314575"/>
            <a:ext cx="7848600" cy="3419475"/>
          </a:xfrm>
          <a:prstGeom prst="rect">
            <a:avLst/>
          </a:prstGeom>
          <a:ln w="12700">
            <a:miter lim="400000"/>
          </a:ln>
        </p:spPr>
      </p:pic>
      <p:sp>
        <p:nvSpPr>
          <p:cNvPr id="969" name="Shape 5"/>
          <p:cNvSpPr/>
          <p:nvPr/>
        </p:nvSpPr>
        <p:spPr>
          <a:xfrm>
            <a:off x="9239250" y="2190750"/>
            <a:ext cx="8096250" cy="3667125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7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63075" y="2314575"/>
            <a:ext cx="7848600" cy="3419475"/>
          </a:xfrm>
          <a:prstGeom prst="rect">
            <a:avLst/>
          </a:prstGeom>
          <a:ln w="12700">
            <a:miter lim="400000"/>
          </a:ln>
        </p:spPr>
      </p:pic>
      <p:sp>
        <p:nvSpPr>
          <p:cNvPr id="971" name="Shape 6"/>
          <p:cNvSpPr/>
          <p:nvPr/>
        </p:nvSpPr>
        <p:spPr>
          <a:xfrm>
            <a:off x="952500" y="6048375"/>
            <a:ext cx="8096250" cy="3667125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7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76325" y="6172200"/>
            <a:ext cx="7848600" cy="3419475"/>
          </a:xfrm>
          <a:prstGeom prst="rect">
            <a:avLst/>
          </a:prstGeom>
          <a:ln w="12700">
            <a:miter lim="400000"/>
          </a:ln>
        </p:spPr>
      </p:pic>
      <p:sp>
        <p:nvSpPr>
          <p:cNvPr id="973" name="Shape 7"/>
          <p:cNvSpPr/>
          <p:nvPr/>
        </p:nvSpPr>
        <p:spPr>
          <a:xfrm>
            <a:off x="9239250" y="6048375"/>
            <a:ext cx="8096250" cy="3667125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>
            <a:solidFill>
              <a:srgbClr val="D0DCEA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74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63075" y="6172200"/>
            <a:ext cx="7848600" cy="34194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Text 0"/>
          <p:cNvSpPr txBox="1"/>
          <p:nvPr/>
        </p:nvSpPr>
        <p:spPr>
          <a:xfrm>
            <a:off x="8608515" y="4156695"/>
            <a:ext cx="107096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1746" b="1" spc="291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PART 6</a:t>
            </a:r>
          </a:p>
        </p:txBody>
      </p:sp>
      <p:sp>
        <p:nvSpPr>
          <p:cNvPr id="977" name="Text 1"/>
          <p:cNvSpPr txBox="1"/>
          <p:nvPr/>
        </p:nvSpPr>
        <p:spPr>
          <a:xfrm>
            <a:off x="5551963" y="4690095"/>
            <a:ext cx="7183999" cy="792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22959">
              <a:lnSpc>
                <a:spcPct val="110000"/>
              </a:lnSpc>
              <a:defRPr sz="4860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Results &amp; Conclusions</a:t>
            </a:r>
          </a:p>
        </p:txBody>
      </p:sp>
      <p:sp>
        <p:nvSpPr>
          <p:cNvPr id="978" name="Text 2"/>
          <p:cNvSpPr txBox="1"/>
          <p:nvPr/>
        </p:nvSpPr>
        <p:spPr>
          <a:xfrm>
            <a:off x="5276112" y="5749230"/>
            <a:ext cx="7735776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77823">
              <a:defRPr sz="2400">
                <a:solidFill>
                  <a:srgbClr val="FFFFFF">
                    <a:alpha val="64999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dirty="0" smtClean="0"/>
              <a:t>key findings</a:t>
            </a:r>
            <a:endParaRPr dirty="0"/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3" name="Text 1"/>
          <p:cNvSpPr txBox="1"/>
          <p:nvPr/>
        </p:nvSpPr>
        <p:spPr>
          <a:xfrm>
            <a:off x="1143000" y="838200"/>
            <a:ext cx="16482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b="1" spc="194">
                <a:solidFill>
                  <a:srgbClr val="3A87CB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RESULTS</a:t>
            </a:r>
          </a:p>
        </p:txBody>
      </p:sp>
      <p:sp>
        <p:nvSpPr>
          <p:cNvPr id="1084" name="Shape 2"/>
          <p:cNvSpPr/>
          <p:nvPr/>
        </p:nvSpPr>
        <p:spPr>
          <a:xfrm>
            <a:off x="1143000" y="2030684"/>
            <a:ext cx="16002000" cy="28576"/>
          </a:xfrm>
          <a:prstGeom prst="rect">
            <a:avLst/>
          </a:prstGeom>
          <a:solidFill>
            <a:srgbClr val="1F5FA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5" name="Text 3"/>
          <p:cNvSpPr txBox="1"/>
          <p:nvPr/>
        </p:nvSpPr>
        <p:spPr>
          <a:xfrm>
            <a:off x="1143000" y="1257300"/>
            <a:ext cx="16482061" cy="582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32104">
              <a:lnSpc>
                <a:spcPct val="110000"/>
              </a:lnSpc>
              <a:defRPr sz="3549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t>Key Findings</a:t>
            </a:r>
          </a:p>
        </p:txBody>
      </p:sp>
      <p:sp>
        <p:nvSpPr>
          <p:cNvPr id="1086" name="Text 4"/>
          <p:cNvSpPr txBox="1"/>
          <p:nvPr/>
        </p:nvSpPr>
        <p:spPr>
          <a:xfrm>
            <a:off x="1562100" y="2478359"/>
            <a:ext cx="15582900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ARIMA beats AR and ARMA </a:t>
            </a:r>
            <a:r>
              <a:rPr b="0" dirty="0">
                <a:solidFill>
                  <a:srgbClr val="1C3150"/>
                </a:solidFill>
              </a:rPr>
              <a:t>— the MA error-correction term is critical for FD004's accelerating degradation</a:t>
            </a:r>
          </a:p>
        </p:txBody>
      </p:sp>
      <p:sp>
        <p:nvSpPr>
          <p:cNvPr id="1087" name="Text 5"/>
          <p:cNvSpPr txBox="1"/>
          <p:nvPr/>
        </p:nvSpPr>
        <p:spPr>
          <a:xfrm>
            <a:off x="1562099" y="4722495"/>
            <a:ext cx="1606296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d=2 is essential </a:t>
            </a:r>
            <a:r>
              <a:rPr b="0" dirty="0">
                <a:solidFill>
                  <a:srgbClr val="1C3150"/>
                </a:solidFill>
              </a:rPr>
              <a:t>— FD004 degradation accelerates, not just trends — two differences required for stationarity</a:t>
            </a:r>
          </a:p>
        </p:txBody>
      </p:sp>
      <p:sp>
        <p:nvSpPr>
          <p:cNvPr id="1088" name="Text 6"/>
          <p:cNvSpPr txBox="1"/>
          <p:nvPr/>
        </p:nvSpPr>
        <p:spPr>
          <a:xfrm>
            <a:off x="1562098" y="5959109"/>
            <a:ext cx="15567850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41247">
              <a:lnSpc>
                <a:spcPct val="140000"/>
              </a:lnSpc>
              <a:defRPr sz="202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Per-cluster </a:t>
            </a:r>
            <a:r>
              <a:rPr dirty="0" err="1"/>
              <a:t>detrending</a:t>
            </a:r>
            <a:r>
              <a:rPr dirty="0"/>
              <a:t> </a:t>
            </a:r>
            <a:r>
              <a:rPr b="0" dirty="0">
                <a:solidFill>
                  <a:srgbClr val="1C3150"/>
                </a:solidFill>
              </a:rPr>
              <a:t>is the most important preprocessing step — without it, PCA captures operating conditions, not degradation</a:t>
            </a:r>
          </a:p>
        </p:txBody>
      </p:sp>
      <p:sp>
        <p:nvSpPr>
          <p:cNvPr id="1089" name="Text 7"/>
          <p:cNvSpPr txBox="1"/>
          <p:nvPr/>
        </p:nvSpPr>
        <p:spPr>
          <a:xfrm>
            <a:off x="1562100" y="5735909"/>
            <a:ext cx="7566850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905255">
              <a:lnSpc>
                <a:spcPct val="140000"/>
              </a:lnSpc>
              <a:defRPr sz="2178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b="0" dirty="0">
              <a:solidFill>
                <a:srgbClr val="1C3150"/>
              </a:solidFill>
            </a:endParaRPr>
          </a:p>
        </p:txBody>
      </p:sp>
      <p:sp>
        <p:nvSpPr>
          <p:cNvPr id="1090" name="Text 8"/>
          <p:cNvSpPr txBox="1"/>
          <p:nvPr/>
        </p:nvSpPr>
        <p:spPr>
          <a:xfrm>
            <a:off x="1562100" y="3545158"/>
            <a:ext cx="15582900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32104">
              <a:lnSpc>
                <a:spcPct val="140000"/>
              </a:lnSpc>
              <a:defRPr sz="2002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Conservative bias (safety factor 0.88) </a:t>
            </a:r>
            <a:r>
              <a:rPr b="0" dirty="0">
                <a:solidFill>
                  <a:srgbClr val="1C3150"/>
                </a:solidFill>
              </a:rPr>
              <a:t>aligns with NASA's asymmetric scoring — early predictions </a:t>
            </a:r>
            <a:r>
              <a:rPr b="0" dirty="0" err="1">
                <a:solidFill>
                  <a:srgbClr val="1C3150"/>
                </a:solidFill>
              </a:rPr>
              <a:t>penalised</a:t>
            </a:r>
            <a:r>
              <a:rPr b="0" dirty="0">
                <a:solidFill>
                  <a:srgbClr val="1C3150"/>
                </a:solidFill>
              </a:rPr>
              <a:t> less than late ones</a:t>
            </a:r>
          </a:p>
        </p:txBody>
      </p:sp>
      <p:sp>
        <p:nvSpPr>
          <p:cNvPr id="1091" name="Text 9"/>
          <p:cNvSpPr txBox="1"/>
          <p:nvPr/>
        </p:nvSpPr>
        <p:spPr>
          <a:xfrm>
            <a:off x="1562099" y="5931806"/>
            <a:ext cx="1558290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b="0" dirty="0">
              <a:solidFill>
                <a:srgbClr val="1C3150"/>
              </a:solidFill>
            </a:endParaRPr>
          </a:p>
        </p:txBody>
      </p:sp>
      <p:sp>
        <p:nvSpPr>
          <p:cNvPr id="1092" name="Text 10"/>
          <p:cNvSpPr txBox="1"/>
          <p:nvPr/>
        </p:nvSpPr>
        <p:spPr>
          <a:xfrm>
            <a:off x="9810750" y="4783409"/>
            <a:ext cx="7566850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b="0" dirty="0">
              <a:solidFill>
                <a:srgbClr val="1C3150"/>
              </a:solidFill>
            </a:endParaRPr>
          </a:p>
        </p:txBody>
      </p:sp>
      <p:sp>
        <p:nvSpPr>
          <p:cNvPr id="1093" name="Text 11"/>
          <p:cNvSpPr txBox="1"/>
          <p:nvPr/>
        </p:nvSpPr>
        <p:spPr>
          <a:xfrm>
            <a:off x="1547047" y="7107506"/>
            <a:ext cx="15582901" cy="846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86968">
              <a:lnSpc>
                <a:spcPct val="140000"/>
              </a:lnSpc>
              <a:defRPr sz="2134" b="1">
                <a:solidFill>
                  <a:srgbClr val="12294A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dirty="0"/>
              <a:t>Deep learning captures multi-sensor interactions </a:t>
            </a:r>
            <a:r>
              <a:rPr b="0" dirty="0">
                <a:solidFill>
                  <a:srgbClr val="1C3150"/>
                </a:solidFill>
              </a:rPr>
              <a:t>that classical univariate models fundamentally cannot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Text 0"/>
          <p:cNvSpPr txBox="1"/>
          <p:nvPr/>
        </p:nvSpPr>
        <p:spPr>
          <a:xfrm>
            <a:off x="6782595" y="4736051"/>
            <a:ext cx="4748209" cy="1054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96111">
              <a:defRPr sz="7056" b="1">
                <a:solidFill>
                  <a:srgbClr val="FFFFFF"/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r>
              <a:rPr lang="en-IN" sz="7200" dirty="0" smtClean="0"/>
              <a:t>Thank You</a:t>
            </a:r>
            <a:r>
              <a:rPr lang="en-IN" dirty="0" smtClean="0"/>
              <a:t> </a:t>
            </a:r>
            <a:endParaRPr dirty="0"/>
          </a:p>
        </p:txBody>
      </p:sp>
      <p:sp>
        <p:nvSpPr>
          <p:cNvPr id="1180" name="Text 1"/>
          <p:cNvSpPr txBox="1"/>
          <p:nvPr/>
        </p:nvSpPr>
        <p:spPr>
          <a:xfrm>
            <a:off x="4457427" y="5167312"/>
            <a:ext cx="9398546" cy="461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96111">
              <a:defRPr sz="2744">
                <a:solidFill>
                  <a:srgbClr val="FFFFFF">
                    <a:alpha val="50000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  <p:sp>
        <p:nvSpPr>
          <p:cNvPr id="1182" name="Text 3"/>
          <p:cNvSpPr txBox="1"/>
          <p:nvPr/>
        </p:nvSpPr>
        <p:spPr>
          <a:xfrm>
            <a:off x="2934891" y="6219825"/>
            <a:ext cx="157400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1746" b="1">
                <a:solidFill>
                  <a:srgbClr val="FFFFFF">
                    <a:alpha val="70000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  <p:sp>
        <p:nvSpPr>
          <p:cNvPr id="1184" name="Text 5"/>
          <p:cNvSpPr txBox="1"/>
          <p:nvPr/>
        </p:nvSpPr>
        <p:spPr>
          <a:xfrm>
            <a:off x="5139008" y="6219825"/>
            <a:ext cx="344297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ctr" defTabSz="886968">
              <a:defRPr sz="1746" b="1">
                <a:solidFill>
                  <a:srgbClr val="FFFFFF">
                    <a:alpha val="70000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  <p:sp>
        <p:nvSpPr>
          <p:cNvPr id="1186" name="Text 7"/>
          <p:cNvSpPr txBox="1"/>
          <p:nvPr/>
        </p:nvSpPr>
        <p:spPr>
          <a:xfrm>
            <a:off x="9203276" y="6187821"/>
            <a:ext cx="2840376" cy="368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86968">
              <a:defRPr sz="1746" b="1">
                <a:solidFill>
                  <a:srgbClr val="FFFFFF">
                    <a:alpha val="70000"/>
                  </a:srgbClr>
                </a:solidFill>
                <a:latin typeface="-apple-system"/>
                <a:ea typeface="-apple-system"/>
                <a:cs typeface="-apple-system"/>
                <a:sym typeface="-apple-system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3343</Words>
  <Application>Microsoft Office PowerPoint</Application>
  <PresentationFormat>Custom</PresentationFormat>
  <Paragraphs>485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-apple-system</vt:lpstr>
      <vt:lpstr>Arial</vt:lpstr>
      <vt:lpstr>Calibri</vt:lpstr>
      <vt:lpstr>Calibri Light</vt:lpstr>
      <vt:lpstr>Courier New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shrey</cp:lastModifiedBy>
  <cp:revision>24</cp:revision>
  <dcterms:modified xsi:type="dcterms:W3CDTF">2026-04-27T09:21:00Z</dcterms:modified>
</cp:coreProperties>
</file>